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91" r:id="rId4"/>
    <p:sldId id="258" r:id="rId5"/>
    <p:sldId id="259" r:id="rId6"/>
    <p:sldId id="275" r:id="rId7"/>
    <p:sldId id="276" r:id="rId8"/>
    <p:sldId id="308" r:id="rId9"/>
    <p:sldId id="326" r:id="rId10"/>
    <p:sldId id="327" r:id="rId11"/>
    <p:sldId id="328" r:id="rId12"/>
    <p:sldId id="333" r:id="rId13"/>
    <p:sldId id="334" r:id="rId14"/>
    <p:sldId id="340" r:id="rId15"/>
    <p:sldId id="336" r:id="rId16"/>
    <p:sldId id="265" r:id="rId17"/>
    <p:sldId id="271" r:id="rId18"/>
    <p:sldId id="266" r:id="rId19"/>
    <p:sldId id="272" r:id="rId20"/>
    <p:sldId id="273" r:id="rId21"/>
    <p:sldId id="267" r:id="rId22"/>
    <p:sldId id="268" r:id="rId23"/>
    <p:sldId id="277" r:id="rId24"/>
    <p:sldId id="278" r:id="rId25"/>
    <p:sldId id="292" r:id="rId26"/>
    <p:sldId id="293" r:id="rId27"/>
    <p:sldId id="345" r:id="rId28"/>
    <p:sldId id="34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39" autoAdjust="0"/>
  </p:normalViewPr>
  <p:slideViewPr>
    <p:cSldViewPr snapToGrid="0" snapToObjects="1">
      <p:cViewPr varScale="1">
        <p:scale>
          <a:sx n="66" d="100"/>
          <a:sy n="66" d="100"/>
        </p:scale>
        <p:origin x="1301" y="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0AF4D-E919-4641-90A0-43EEE2FF6B37}" type="datetimeFigureOut">
              <a:rPr lang="en-GB" smtClean="0"/>
              <a:t>02/10/2026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0B1DF-B1B4-4CEB-AB9B-23B27BA22275}" type="slidenum">
              <a:rPr lang="en-GB" smtClean="0"/>
              <a:t>‹#›</a:t>
            </a:fld>
            <a:endParaRPr lang="en-GB"/>
          </a:p>
        </p:txBody>
      </p:sp>
    </p:spTree>
    <p:extLst>
      <p:ext uri="{BB962C8B-B14F-4D97-AF65-F5344CB8AC3E}">
        <p14:creationId xmlns:p14="http://schemas.microsoft.com/office/powerpoint/2010/main" val="58539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our speech recognition analysis. Accuracy fell as acoustic conditions worsened: the quiet-room sample reached 100%, while machine noise and heavy traffic caused the largest errors, including dropped words. Sentence length also mattered. Our two long sentences, samples four and five, scored between 45% and 78%, generally below the short ones. Fast speech, pronunciation, microphone quality and missing punctuation also affected output. We now turn to speech synthesis.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synthesis, or text-to-speech, turns written text into spoken audio. The pipeline runs in five steps: text analysis, linguistic processing, phoneme generation, prosody modeling, and waveform output. We tested three free tools: gTTS from Google, edge-tts from Microsoft, and MMS-TTS from Meta. All three support English, Bangla and Hindi. gTTS and edge-tts run in the cloud, so they need an internet connection. MMS-TTS runs offline once the model is downloaded. Easy sentences score near 100% on most tools, so they would not separate one tool from another. We therefore chose 15 hard-to-pronounce sentences, five per language, to expose real quality differences.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verified each tool by round trip. The tool synthesizes a sentence, then faster-whisper, a free offline recognizer, transcribes the audio, and we score the transcript word by word against the original text. Bangla needed special handling. Generic Whisper identified the audio as Bangla with 96 to 100% confidence, but it wrote the transcript in Devanagari, the Hindi script. Scored against Bengali references, every Bangla file got 0%, even though the audio was correct. The cause is a known Whisper limitation, not a fault in the TTS tools. To fix it, we used bengaliAI tugstugi Whisper-medium, a model fine-tuned on Bengali, which outputs proper Bengali script. We re-transcribed all 15 Bangla files, which are 5 sentences times 3 tools. In total, all 45 audio files, input texts and transcriptions are saved in master_results.json, so any score can be re-checked.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 has 15 sentences, five per language, all chosen because they are hard to pronounce. English uses five classic tongue-twisters, such as She sells seashells by the seashore. Hindi has three well-known tongue-twisters, H1 to H3, and two constructed sentences, H4 and H5. Under each Hindi sentence you can see its romanized pronunciation, so the audience can follow it. For example, H1 is read: kachchā pāpaṛ pakkā pāpaṛ, where the ṛ is a retroflex flap, a sound that the tools later confused with an r. H2 is read: Chandū ke chāchā ne Chandū kī chāchī ko chāndī ke chammach se chaṭnī chaṭāī. Bangla has five constructed sentences with nasalized, retroflex and vocalic sounds, such as the rare vowel ঋ in B5. Difficulty was intentional, because easy sentences cannot separate the tools.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English. gTTS averaged 97.1%, edge-tts 76.1%, and MMS-TTS 57.4%, so the gap between tools is clear. All three scored 100% on E1, the seashells sentence. Differences appear on the harder ones. MMS-TTS scored 0% on E2, Peter Piper, where its output was unintelligible. E3, the sixth sheik's sixth sheep, was the hardest sentence overall, with a 61.9% average across the three tools. edge-tts scored only 42.9% on it, and its transcript came back with digits: The 6th 6-Sixth 6th Sheep Sick. On E5, edge-tts and MMS-TTS both scored 50%. The cloud tool gTTS handled English tongue-twisters best.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Hindi was harder for every tool. gTTS and edge-tts scored identically on all five sentences, averaging 57.6%, and MMS-TTS averaged 37.0%. The pronunciation column helps the audience follow each sentence. H1, kachchā pāpaṛ pakkā pāpaṛ, was the hardest: gTTS and edge-tts both scored 50% because they heard the retroflex ṛ as a plain r, writing papar, and MMS-TTS scored 0%. H4, Shyām Sharmā ke shahar meṃ shakkarpāre kī shāndār dukān hai, was the easiest, at 70% for the two cloud tools and 60% for MMS-TTS. H5, Guru ghaṇṭāl ghaṇṭī bajākar gadhoṃ ko ginne lagā, scored 62.5% for the cloud tools against 37.5% for MMS-TTS. The offline model was weakest in both English and Hindi.</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 shows a different pattern. All three tools landed between 72.8% and 73.3%, and MMS-TTS leads by half a point, which means nothing with only five sentences. These scores use the Bengali-specific recognizer, so they reflect real accuracy rather than the earlier script artifact that gave 0%. B2, শরৎকালে, was the hardest sentence, at 57.1% for every tool, because each engine rendered the letter ৎ, called khanda ta, differently: gTTS wrote শরত, edge-tts dropped the first syllable, and MMS-TTS produced a different word. B5, with the rare vowel ঋ, was the easiest: gTTS and MMS-TTS scored 100%, and edge-tts 83.3%.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pulls the errors and the overall comparison together. In English, E3 was hardest for every tool, and MMS-TTS scored 0% on Peter Piper. In Hindi, gTTS and edge-tts heard the retroflex ṛ in kachchā pāpaṛ as an r, and MMS-TTS scored 0% on that sentence. In Bangla, each engine rendered ৎ differently in শরৎকালে. In the comparison table, gTTS is the most accurate on English at 97.1%. gTTS and edge-tts tie on Hindi at 57.6% and on Bangla at 72.8%. MMS-TTS is the only offline option, at the cost of lower accuracy on English and Hindi. Five sentences per language is a small sample, so these results are indicative, not statistically conclusive. The Bengali recognizer is also a community fine-tune. Next: machine translation.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TextBox 1"/>
          <p:cNvSpPr txBox="1"/>
          <p:nvPr/>
        </p:nvSpPr>
        <p:spPr>
          <a:xfrm>
            <a:off x="909804" y="603849"/>
            <a:ext cx="10372391" cy="5386090"/>
          </a:xfrm>
          <a:prstGeom prst="rect">
            <a:avLst/>
          </a:prstGeom>
          <a:noFill/>
        </p:spPr>
        <p:txBody>
          <a:bodyPr wrap="none">
            <a:spAutoFit/>
          </a:bodyPr>
          <a:lstStyle/>
          <a:p>
            <a:pPr>
              <a:defRPr sz="3400" b="1">
                <a:solidFill>
                  <a:srgbClr val="FFFFFF"/>
                </a:solidFill>
              </a:defRPr>
            </a:pPr>
            <a:r>
              <a:rPr sz="4400" dirty="0">
                <a:solidFill>
                  <a:schemeClr val="bg1"/>
                </a:solidFill>
              </a:rPr>
              <a:t>Analysis Report on</a:t>
            </a:r>
            <a:br>
              <a:rPr sz="4400" dirty="0">
                <a:solidFill>
                  <a:schemeClr val="bg1"/>
                </a:solidFill>
              </a:rPr>
            </a:br>
            <a:r>
              <a:rPr sz="4400" dirty="0">
                <a:solidFill>
                  <a:schemeClr val="bg1"/>
                </a:solidFill>
              </a:rPr>
              <a:t>Natural Language Processing Tools</a:t>
            </a:r>
          </a:p>
          <a:p>
            <a:pPr>
              <a:defRPr sz="2000">
                <a:solidFill>
                  <a:srgbClr val="FFFFFF"/>
                </a:solidFill>
              </a:defRPr>
            </a:pPr>
            <a:r>
              <a:rPr sz="3200" dirty="0">
                <a:solidFill>
                  <a:schemeClr val="bg1"/>
                </a:solidFill>
              </a:rPr>
              <a:t>Practical Evaluation of Speech Recognition, Speech Synthesis,</a:t>
            </a:r>
            <a:br>
              <a:rPr sz="3200" dirty="0">
                <a:solidFill>
                  <a:schemeClr val="bg1"/>
                </a:solidFill>
              </a:rPr>
            </a:br>
            <a:r>
              <a:rPr sz="3200" dirty="0">
                <a:solidFill>
                  <a:schemeClr val="bg1"/>
                </a:solidFill>
              </a:rPr>
              <a:t>Machine Translation, and Question Answering Systems</a:t>
            </a:r>
          </a:p>
          <a:p>
            <a:pPr>
              <a:defRPr sz="1600">
                <a:solidFill>
                  <a:srgbClr val="DCE6F5"/>
                </a:solidFill>
              </a:defRPr>
            </a:pPr>
            <a:r>
              <a:rPr dirty="0">
                <a:solidFill>
                  <a:schemeClr val="bg1"/>
                </a:solidFill>
              </a:rPr>
              <a:t>CSE 6213 • MSCSE • United International University</a:t>
            </a:r>
            <a:endParaRPr lang="en-US" dirty="0">
              <a:solidFill>
                <a:schemeClr val="bg1"/>
              </a:solidFill>
            </a:endParaRPr>
          </a:p>
          <a:p>
            <a:pPr>
              <a:defRPr sz="1600">
                <a:solidFill>
                  <a:srgbClr val="DCE6F5"/>
                </a:solidFill>
              </a:defRPr>
            </a:pPr>
            <a:endParaRPr lang="en-US" dirty="0">
              <a:solidFill>
                <a:schemeClr val="bg1"/>
              </a:solidFill>
            </a:endParaRPr>
          </a:p>
          <a:p>
            <a:r>
              <a:rPr lang="en-US" sz="1600" dirty="0">
                <a:solidFill>
                  <a:schemeClr val="bg1"/>
                </a:solidFill>
              </a:rPr>
              <a:t>Supervisor’s name: 	Dr. Mohammad Nurul Huda</a:t>
            </a:r>
          </a:p>
          <a:p>
            <a:r>
              <a:rPr lang="en-US" sz="1600" dirty="0">
                <a:solidFill>
                  <a:schemeClr val="bg1"/>
                </a:solidFill>
              </a:rPr>
              <a:t>				Professor, Dept. of CSE, United International University</a:t>
            </a:r>
          </a:p>
          <a:p>
            <a:pPr>
              <a:defRPr sz="1600">
                <a:solidFill>
                  <a:srgbClr val="DCE6F5"/>
                </a:solidFill>
              </a:defRPr>
            </a:pPr>
            <a:endParaRPr lang="en-US" dirty="0">
              <a:solidFill>
                <a:schemeClr val="bg1"/>
              </a:solidFill>
            </a:endParaRPr>
          </a:p>
          <a:p>
            <a:pPr>
              <a:defRPr sz="1600">
                <a:solidFill>
                  <a:srgbClr val="DCE6F5"/>
                </a:solidFill>
              </a:defRPr>
            </a:pPr>
            <a:r>
              <a:rPr lang="en-US" dirty="0">
                <a:solidFill>
                  <a:schemeClr val="bg1"/>
                </a:solidFill>
              </a:rPr>
              <a:t>Student’s name:</a:t>
            </a:r>
            <a:endParaRPr dirty="0">
              <a:solidFill>
                <a:schemeClr val="bg1"/>
              </a:solidFill>
            </a:endParaRPr>
          </a:p>
          <a:p>
            <a:pPr>
              <a:defRPr sz="1600">
                <a:solidFill>
                  <a:srgbClr val="DCE6F5"/>
                </a:solidFill>
              </a:defRPr>
            </a:pPr>
            <a:r>
              <a:rPr dirty="0">
                <a:solidFill>
                  <a:schemeClr val="bg1"/>
                </a:solidFill>
              </a:rPr>
              <a:t>Parvez Sazzad | ID: 0122510008</a:t>
            </a:r>
            <a:r>
              <a:rPr lang="en-US" dirty="0">
                <a:solidFill>
                  <a:schemeClr val="bg1"/>
                </a:solidFill>
              </a:rPr>
              <a:t> | Section N</a:t>
            </a:r>
          </a:p>
          <a:p>
            <a:pPr>
              <a:defRPr sz="1600">
                <a:solidFill>
                  <a:srgbClr val="DCE6F5"/>
                </a:solidFill>
              </a:defRPr>
            </a:pPr>
            <a:r>
              <a:rPr lang="en-US" dirty="0">
                <a:solidFill>
                  <a:schemeClr val="bg1"/>
                </a:solidFill>
              </a:rPr>
              <a:t>Jannatul Ferdous | ID: 0122420032 | Section M</a:t>
            </a:r>
          </a:p>
          <a:p>
            <a:pPr>
              <a:defRPr sz="1600">
                <a:solidFill>
                  <a:srgbClr val="DCE6F5"/>
                </a:solidFill>
              </a:defRPr>
            </a:pPr>
            <a:r>
              <a:rPr lang="en-US" dirty="0">
                <a:solidFill>
                  <a:schemeClr val="bg1"/>
                </a:solidFill>
              </a:rPr>
              <a:t>Md. Ahsan Kabir | ID: 0122520016 | Section N</a:t>
            </a:r>
          </a:p>
          <a:p>
            <a:pPr>
              <a:defRPr sz="1600">
                <a:solidFill>
                  <a:srgbClr val="DCE6F5"/>
                </a:solidFill>
              </a:defRPr>
            </a:pPr>
            <a:r>
              <a:rPr lang="en-US" dirty="0">
                <a:solidFill>
                  <a:schemeClr val="bg1"/>
                </a:solidFill>
              </a:rPr>
              <a:t>Al Musabbir | ID: 0122510010 | Section M</a:t>
            </a:r>
          </a:p>
          <a:p>
            <a:pPr>
              <a:defRPr sz="1600">
                <a:solidFill>
                  <a:srgbClr val="DCE6F5"/>
                </a:solidFill>
              </a:defRPr>
            </a:pPr>
            <a:r>
              <a:rPr lang="en-US" dirty="0">
                <a:solidFill>
                  <a:schemeClr val="bg1"/>
                </a:solidFill>
              </a:rPr>
              <a:t>Abu Nayem Mohammad Ali Khan | ID: 0122330033 | Section M</a:t>
            </a:r>
          </a:p>
          <a:p>
            <a:pPr>
              <a:defRPr sz="1600">
                <a:solidFill>
                  <a:srgbClr val="DCE6F5"/>
                </a:solidFill>
              </a:defRPr>
            </a:pP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19" y="446593"/>
            <a:ext cx="2044470" cy="523220"/>
          </a:xfrm>
          <a:prstGeom prst="rect">
            <a:avLst/>
          </a:prstGeom>
          <a:noFill/>
        </p:spPr>
        <p:txBody>
          <a:bodyPr wrap="none">
            <a:spAutoFit/>
          </a:bodyPr>
          <a:lstStyle/>
          <a:p>
            <a:pPr>
              <a:defRPr sz="2800" b="1">
                <a:solidFill>
                  <a:srgbClr val="1F3864"/>
                </a:solidFill>
              </a:defRPr>
            </a:pPr>
            <a:r>
              <a:rPr dirty="0"/>
              <a:t>Introduction</a:t>
            </a:r>
          </a:p>
        </p:txBody>
      </p:sp>
      <p:sp>
        <p:nvSpPr>
          <p:cNvPr id="3" name="TextBox 2"/>
          <p:cNvSpPr txBox="1"/>
          <p:nvPr/>
        </p:nvSpPr>
        <p:spPr>
          <a:xfrm>
            <a:off x="502920" y="1035777"/>
            <a:ext cx="5414800" cy="5078313"/>
          </a:xfrm>
          <a:prstGeom prst="rect">
            <a:avLst/>
          </a:prstGeom>
          <a:noFill/>
        </p:spPr>
        <p:txBody>
          <a:bodyPr wrap="square">
            <a:spAutoFit/>
          </a:bodyPr>
          <a:lstStyle/>
          <a:p>
            <a:r>
              <a:rPr lang="en-US" b="1" dirty="0"/>
              <a:t>What is NLP?</a:t>
            </a:r>
            <a:endParaRPr lang="en-US" dirty="0"/>
          </a:p>
          <a:p>
            <a:pPr lvl="0"/>
            <a:r>
              <a:rPr lang="en-US" dirty="0"/>
              <a:t>NLP is a branch of Artificial Intelligence (AI) that helps computers understand and work with human language.</a:t>
            </a:r>
          </a:p>
          <a:p>
            <a:pPr lvl="0"/>
            <a:endParaRPr lang="en-US" dirty="0"/>
          </a:p>
          <a:p>
            <a:r>
              <a:rPr lang="en-US" b="1" dirty="0"/>
              <a:t>Why is NLP necessary?</a:t>
            </a:r>
            <a:endParaRPr lang="en-US" dirty="0"/>
          </a:p>
          <a:p>
            <a:pPr lvl="0"/>
            <a:r>
              <a:rPr lang="en-US" dirty="0"/>
              <a:t>People communicate mainly through text and speech.</a:t>
            </a:r>
          </a:p>
          <a:p>
            <a:pPr lvl="0"/>
            <a:r>
              <a:rPr lang="en-US" dirty="0"/>
              <a:t>NLP helps computers understand this communication and provide useful responses.</a:t>
            </a:r>
          </a:p>
          <a:p>
            <a:pPr lvl="0"/>
            <a:r>
              <a:rPr lang="en-US" dirty="0"/>
              <a:t>It is used in chatbots, voice assistants, translation, search engines, and AI applications.</a:t>
            </a:r>
          </a:p>
          <a:p>
            <a:pPr lvl="0"/>
            <a:endParaRPr lang="en-US" dirty="0"/>
          </a:p>
          <a:p>
            <a:r>
              <a:rPr lang="en-US" b="1" dirty="0"/>
              <a:t>Why did we conduct this experiment?</a:t>
            </a:r>
            <a:endParaRPr lang="en-US" dirty="0"/>
          </a:p>
          <a:p>
            <a:pPr lvl="0"/>
            <a:r>
              <a:rPr lang="en-US" dirty="0"/>
              <a:t>To understand how NLP technologies work in real-world situations.</a:t>
            </a:r>
          </a:p>
          <a:p>
            <a:pPr lvl="0"/>
            <a:r>
              <a:rPr lang="en-US" dirty="0"/>
              <a:t>To compare their accuracy, performance, and limitations.</a:t>
            </a:r>
          </a:p>
          <a:p>
            <a:pPr lvl="0"/>
            <a:r>
              <a:rPr lang="en-US" dirty="0"/>
              <a:t>To observe the effect of language, noise, and ambiguous meaning on NLP systems.</a:t>
            </a:r>
          </a:p>
        </p:txBody>
      </p:sp>
      <p:sp>
        <p:nvSpPr>
          <p:cNvPr id="4" name="Rectangle 3"/>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t>2</a:t>
            </a:r>
          </a:p>
        </p:txBody>
      </p:sp>
      <p:sp>
        <p:nvSpPr>
          <p:cNvPr id="6" name="TextBox 5">
            <a:extLst>
              <a:ext uri="{FF2B5EF4-FFF2-40B4-BE49-F238E27FC236}">
                <a16:creationId xmlns:a16="http://schemas.microsoft.com/office/drawing/2014/main" id="{28813C98-CB43-C3BF-2DDE-CE2FFA050D77}"/>
              </a:ext>
            </a:extLst>
          </p:cNvPr>
          <p:cNvSpPr txBox="1"/>
          <p:nvPr/>
        </p:nvSpPr>
        <p:spPr>
          <a:xfrm>
            <a:off x="7746521" y="1617937"/>
            <a:ext cx="2355012" cy="584775"/>
          </a:xfrm>
          <a:prstGeom prst="rect">
            <a:avLst/>
          </a:prstGeom>
          <a:noFill/>
          <a:ln>
            <a:solidFill>
              <a:schemeClr val="tx1"/>
            </a:solidFill>
          </a:ln>
        </p:spPr>
        <p:txBody>
          <a:bodyPr wrap="square" rtlCol="0">
            <a:spAutoFit/>
          </a:bodyPr>
          <a:lstStyle/>
          <a:p>
            <a:pPr algn="ctr"/>
            <a:r>
              <a:rPr lang="en-US" sz="1600" dirty="0"/>
              <a:t>HUMAN LANGUAGE </a:t>
            </a:r>
          </a:p>
          <a:p>
            <a:pPr algn="ctr"/>
            <a:r>
              <a:rPr lang="en-US" sz="1600" dirty="0"/>
              <a:t>Text / Speech</a:t>
            </a:r>
          </a:p>
        </p:txBody>
      </p:sp>
      <p:sp>
        <p:nvSpPr>
          <p:cNvPr id="8" name="TextBox 7">
            <a:extLst>
              <a:ext uri="{FF2B5EF4-FFF2-40B4-BE49-F238E27FC236}">
                <a16:creationId xmlns:a16="http://schemas.microsoft.com/office/drawing/2014/main" id="{5112F320-FC0A-7CF8-EDF7-65A52E6FB61E}"/>
              </a:ext>
            </a:extLst>
          </p:cNvPr>
          <p:cNvSpPr txBox="1"/>
          <p:nvPr/>
        </p:nvSpPr>
        <p:spPr>
          <a:xfrm>
            <a:off x="7746521" y="2694395"/>
            <a:ext cx="2355012" cy="338554"/>
          </a:xfrm>
          <a:prstGeom prst="rect">
            <a:avLst/>
          </a:prstGeom>
          <a:noFill/>
          <a:ln>
            <a:solidFill>
              <a:schemeClr val="tx1"/>
            </a:solidFill>
          </a:ln>
        </p:spPr>
        <p:txBody>
          <a:bodyPr wrap="square" rtlCol="0">
            <a:spAutoFit/>
          </a:bodyPr>
          <a:lstStyle/>
          <a:p>
            <a:pPr algn="ctr"/>
            <a:r>
              <a:rPr lang="en-US" sz="1600" dirty="0"/>
              <a:t>NPL + AI</a:t>
            </a:r>
          </a:p>
        </p:txBody>
      </p:sp>
      <p:sp>
        <p:nvSpPr>
          <p:cNvPr id="10" name="TextBox 9">
            <a:extLst>
              <a:ext uri="{FF2B5EF4-FFF2-40B4-BE49-F238E27FC236}">
                <a16:creationId xmlns:a16="http://schemas.microsoft.com/office/drawing/2014/main" id="{94934DC1-5F14-82A0-1B9B-45D80B41B041}"/>
              </a:ext>
            </a:extLst>
          </p:cNvPr>
          <p:cNvSpPr txBox="1"/>
          <p:nvPr/>
        </p:nvSpPr>
        <p:spPr>
          <a:xfrm>
            <a:off x="7746521" y="3574934"/>
            <a:ext cx="2355012" cy="338554"/>
          </a:xfrm>
          <a:prstGeom prst="rect">
            <a:avLst/>
          </a:prstGeom>
          <a:noFill/>
          <a:ln>
            <a:solidFill>
              <a:schemeClr val="bg1"/>
            </a:solidFill>
          </a:ln>
        </p:spPr>
        <p:txBody>
          <a:bodyPr wrap="square" rtlCol="0">
            <a:spAutoFit/>
          </a:bodyPr>
          <a:lstStyle/>
          <a:p>
            <a:pPr algn="ctr"/>
            <a:r>
              <a:rPr lang="en-US" sz="1600" dirty="0"/>
              <a:t>Computer understand</a:t>
            </a:r>
          </a:p>
        </p:txBody>
      </p:sp>
      <p:sp>
        <p:nvSpPr>
          <p:cNvPr id="12" name="TextBox 11">
            <a:extLst>
              <a:ext uri="{FF2B5EF4-FFF2-40B4-BE49-F238E27FC236}">
                <a16:creationId xmlns:a16="http://schemas.microsoft.com/office/drawing/2014/main" id="{C771DDE8-4786-6840-E10C-E3C616B7D179}"/>
              </a:ext>
            </a:extLst>
          </p:cNvPr>
          <p:cNvSpPr txBox="1"/>
          <p:nvPr/>
        </p:nvSpPr>
        <p:spPr>
          <a:xfrm>
            <a:off x="6213581" y="4736718"/>
            <a:ext cx="1369443" cy="584775"/>
          </a:xfrm>
          <a:prstGeom prst="rect">
            <a:avLst/>
          </a:prstGeom>
          <a:noFill/>
          <a:ln>
            <a:solidFill>
              <a:schemeClr val="tx1"/>
            </a:solidFill>
          </a:ln>
        </p:spPr>
        <p:txBody>
          <a:bodyPr wrap="square" rtlCol="0">
            <a:spAutoFit/>
          </a:bodyPr>
          <a:lstStyle/>
          <a:p>
            <a:pPr algn="ctr"/>
            <a:r>
              <a:rPr lang="en-US" sz="1600" dirty="0"/>
              <a:t>Speech Recognition</a:t>
            </a:r>
          </a:p>
        </p:txBody>
      </p:sp>
      <p:sp>
        <p:nvSpPr>
          <p:cNvPr id="14" name="TextBox 13">
            <a:extLst>
              <a:ext uri="{FF2B5EF4-FFF2-40B4-BE49-F238E27FC236}">
                <a16:creationId xmlns:a16="http://schemas.microsoft.com/office/drawing/2014/main" id="{BB16EDE7-5857-0083-CABF-78FFCD33C1A2}"/>
              </a:ext>
            </a:extLst>
          </p:cNvPr>
          <p:cNvSpPr txBox="1"/>
          <p:nvPr/>
        </p:nvSpPr>
        <p:spPr>
          <a:xfrm>
            <a:off x="9070811" y="4736718"/>
            <a:ext cx="1369443" cy="584775"/>
          </a:xfrm>
          <a:prstGeom prst="rect">
            <a:avLst/>
          </a:prstGeom>
          <a:noFill/>
          <a:ln>
            <a:solidFill>
              <a:schemeClr val="tx1"/>
            </a:solidFill>
          </a:ln>
        </p:spPr>
        <p:txBody>
          <a:bodyPr wrap="square" rtlCol="0">
            <a:spAutoFit/>
          </a:bodyPr>
          <a:lstStyle/>
          <a:p>
            <a:pPr algn="ctr"/>
            <a:r>
              <a:rPr lang="en-US" sz="1600" dirty="0"/>
              <a:t>Translation</a:t>
            </a:r>
          </a:p>
          <a:p>
            <a:pPr algn="ctr"/>
            <a:endParaRPr lang="en-US" sz="1600" dirty="0"/>
          </a:p>
        </p:txBody>
      </p:sp>
      <p:sp>
        <p:nvSpPr>
          <p:cNvPr id="16" name="TextBox 15">
            <a:extLst>
              <a:ext uri="{FF2B5EF4-FFF2-40B4-BE49-F238E27FC236}">
                <a16:creationId xmlns:a16="http://schemas.microsoft.com/office/drawing/2014/main" id="{9AE3726F-BB60-20AA-B2BC-DB30915F302B}"/>
              </a:ext>
            </a:extLst>
          </p:cNvPr>
          <p:cNvSpPr txBox="1"/>
          <p:nvPr/>
        </p:nvSpPr>
        <p:spPr>
          <a:xfrm>
            <a:off x="10499426" y="4727926"/>
            <a:ext cx="1369443" cy="584775"/>
          </a:xfrm>
          <a:prstGeom prst="rect">
            <a:avLst/>
          </a:prstGeom>
          <a:noFill/>
          <a:ln>
            <a:solidFill>
              <a:schemeClr val="tx1"/>
            </a:solidFill>
          </a:ln>
        </p:spPr>
        <p:txBody>
          <a:bodyPr wrap="square" rtlCol="0">
            <a:spAutoFit/>
          </a:bodyPr>
          <a:lstStyle/>
          <a:p>
            <a:pPr algn="ctr"/>
            <a:r>
              <a:rPr lang="en-US" sz="1600" dirty="0"/>
              <a:t>QA System</a:t>
            </a:r>
          </a:p>
          <a:p>
            <a:pPr algn="ctr"/>
            <a:endParaRPr lang="en-US" sz="1600" dirty="0"/>
          </a:p>
        </p:txBody>
      </p:sp>
      <p:sp>
        <p:nvSpPr>
          <p:cNvPr id="18" name="TextBox 17">
            <a:extLst>
              <a:ext uri="{FF2B5EF4-FFF2-40B4-BE49-F238E27FC236}">
                <a16:creationId xmlns:a16="http://schemas.microsoft.com/office/drawing/2014/main" id="{4103A663-60CE-9491-0B5E-98AA23C300F6}"/>
              </a:ext>
            </a:extLst>
          </p:cNvPr>
          <p:cNvSpPr txBox="1"/>
          <p:nvPr/>
        </p:nvSpPr>
        <p:spPr>
          <a:xfrm>
            <a:off x="7642196" y="4736718"/>
            <a:ext cx="1369443" cy="584775"/>
          </a:xfrm>
          <a:prstGeom prst="rect">
            <a:avLst/>
          </a:prstGeom>
          <a:noFill/>
          <a:ln>
            <a:solidFill>
              <a:schemeClr val="tx1"/>
            </a:solidFill>
          </a:ln>
        </p:spPr>
        <p:txBody>
          <a:bodyPr wrap="square" rtlCol="0">
            <a:spAutoFit/>
          </a:bodyPr>
          <a:lstStyle/>
          <a:p>
            <a:pPr algn="ctr"/>
            <a:r>
              <a:rPr lang="en-US" sz="1600" dirty="0"/>
              <a:t>Speech Synthesis</a:t>
            </a:r>
          </a:p>
        </p:txBody>
      </p:sp>
      <p:cxnSp>
        <p:nvCxnSpPr>
          <p:cNvPr id="20" name="Straight Arrow Connector 19">
            <a:extLst>
              <a:ext uri="{FF2B5EF4-FFF2-40B4-BE49-F238E27FC236}">
                <a16:creationId xmlns:a16="http://schemas.microsoft.com/office/drawing/2014/main" id="{15A922D0-C8FF-07D3-021A-DFB95CFDEA01}"/>
              </a:ext>
            </a:extLst>
          </p:cNvPr>
          <p:cNvCxnSpPr>
            <a:cxnSpLocks/>
          </p:cNvCxnSpPr>
          <p:nvPr/>
        </p:nvCxnSpPr>
        <p:spPr>
          <a:xfrm>
            <a:off x="8924027" y="2202712"/>
            <a:ext cx="0" cy="41702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41EDB8F-5BEE-1C6F-5305-AC8C029A3C95}"/>
              </a:ext>
            </a:extLst>
          </p:cNvPr>
          <p:cNvCxnSpPr>
            <a:cxnSpLocks/>
          </p:cNvCxnSpPr>
          <p:nvPr/>
        </p:nvCxnSpPr>
        <p:spPr>
          <a:xfrm>
            <a:off x="8925465" y="3032949"/>
            <a:ext cx="0" cy="41702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94A4711-0D0B-78E7-4477-E808817395BD}"/>
              </a:ext>
            </a:extLst>
          </p:cNvPr>
          <p:cNvCxnSpPr>
            <a:cxnSpLocks/>
          </p:cNvCxnSpPr>
          <p:nvPr/>
        </p:nvCxnSpPr>
        <p:spPr>
          <a:xfrm>
            <a:off x="8968597" y="3913488"/>
            <a:ext cx="0" cy="41702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F76614F-6A01-3244-FB99-32329FBF193D}"/>
              </a:ext>
            </a:extLst>
          </p:cNvPr>
          <p:cNvCxnSpPr/>
          <p:nvPr/>
        </p:nvCxnSpPr>
        <p:spPr>
          <a:xfrm>
            <a:off x="6898302" y="4433977"/>
            <a:ext cx="4212521"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69BD5C2-3F65-175E-E9CE-C7C68B6695B4}"/>
              </a:ext>
            </a:extLst>
          </p:cNvPr>
          <p:cNvCxnSpPr>
            <a:cxnSpLocks/>
          </p:cNvCxnSpPr>
          <p:nvPr/>
        </p:nvCxnSpPr>
        <p:spPr>
          <a:xfrm flipH="1">
            <a:off x="6898302" y="4433977"/>
            <a:ext cx="2397" cy="271373"/>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DDB4874-B377-40AA-369D-7B6010E23B70}"/>
              </a:ext>
            </a:extLst>
          </p:cNvPr>
          <p:cNvCxnSpPr>
            <a:cxnSpLocks/>
          </p:cNvCxnSpPr>
          <p:nvPr/>
        </p:nvCxnSpPr>
        <p:spPr>
          <a:xfrm flipH="1">
            <a:off x="8298477" y="4446486"/>
            <a:ext cx="2397" cy="271373"/>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A071862-60F0-0986-D4AA-91FE2CC4B3C7}"/>
              </a:ext>
            </a:extLst>
          </p:cNvPr>
          <p:cNvCxnSpPr>
            <a:cxnSpLocks/>
          </p:cNvCxnSpPr>
          <p:nvPr/>
        </p:nvCxnSpPr>
        <p:spPr>
          <a:xfrm flipH="1">
            <a:off x="11108426" y="4437344"/>
            <a:ext cx="2397" cy="271373"/>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CE1F08C8-A08C-D600-E1D0-C17EADE6708D}"/>
              </a:ext>
            </a:extLst>
          </p:cNvPr>
          <p:cNvCxnSpPr>
            <a:cxnSpLocks/>
          </p:cNvCxnSpPr>
          <p:nvPr/>
        </p:nvCxnSpPr>
        <p:spPr>
          <a:xfrm flipH="1">
            <a:off x="9753135" y="4443311"/>
            <a:ext cx="2397" cy="271373"/>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C97D9-2347-C746-60E9-55D4502A20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3B68B8-C068-55ED-CD45-FAD8D03F8665}"/>
              </a:ext>
            </a:extLst>
          </p:cNvPr>
          <p:cNvSpPr txBox="1"/>
          <p:nvPr/>
        </p:nvSpPr>
        <p:spPr>
          <a:xfrm>
            <a:off x="3332385" y="606044"/>
            <a:ext cx="5080173" cy="523220"/>
          </a:xfrm>
          <a:prstGeom prst="rect">
            <a:avLst/>
          </a:prstGeom>
          <a:noFill/>
        </p:spPr>
        <p:txBody>
          <a:bodyPr wrap="none">
            <a:spAutoFit/>
          </a:bodyPr>
          <a:lstStyle/>
          <a:p>
            <a:pPr>
              <a:defRPr sz="2800" b="1">
                <a:solidFill>
                  <a:srgbClr val="1F3864"/>
                </a:solidFill>
              </a:defRPr>
            </a:pPr>
            <a:r>
              <a:rPr lang="en-US" sz="2800" b="1" dirty="0"/>
              <a:t>Practical Experiments Conducted</a:t>
            </a:r>
            <a:endParaRPr dirty="0"/>
          </a:p>
        </p:txBody>
      </p:sp>
      <p:sp>
        <p:nvSpPr>
          <p:cNvPr id="4" name="Rectangle 3">
            <a:extLst>
              <a:ext uri="{FF2B5EF4-FFF2-40B4-BE49-F238E27FC236}">
                <a16:creationId xmlns:a16="http://schemas.microsoft.com/office/drawing/2014/main" id="{31C825B9-1B0B-858D-25F4-804A2398EA74}"/>
              </a:ext>
            </a:extLst>
          </p:cNvPr>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5" name="TextBox 4">
            <a:extLst>
              <a:ext uri="{FF2B5EF4-FFF2-40B4-BE49-F238E27FC236}">
                <a16:creationId xmlns:a16="http://schemas.microsoft.com/office/drawing/2014/main" id="{C33EAB8B-6DFB-A00A-70EA-DE54CFBD7384}"/>
              </a:ext>
            </a:extLst>
          </p:cNvPr>
          <p:cNvSpPr txBox="1"/>
          <p:nvPr/>
        </p:nvSpPr>
        <p:spPr>
          <a:xfrm>
            <a:off x="11271051" y="6400800"/>
            <a:ext cx="250389" cy="246221"/>
          </a:xfrm>
          <a:prstGeom prst="rect">
            <a:avLst/>
          </a:prstGeom>
          <a:noFill/>
        </p:spPr>
        <p:txBody>
          <a:bodyPr wrap="none">
            <a:spAutoFit/>
          </a:bodyPr>
          <a:lstStyle/>
          <a:p>
            <a:pPr algn="r">
              <a:defRPr sz="1000">
                <a:solidFill>
                  <a:srgbClr val="646464"/>
                </a:solidFill>
              </a:defRPr>
            </a:pPr>
            <a:r>
              <a:rPr lang="en-GB"/>
              <a:t>3</a:t>
            </a:r>
            <a:endParaRPr/>
          </a:p>
        </p:txBody>
      </p:sp>
      <p:graphicFrame>
        <p:nvGraphicFramePr>
          <p:cNvPr id="11" name="Table 10">
            <a:extLst>
              <a:ext uri="{FF2B5EF4-FFF2-40B4-BE49-F238E27FC236}">
                <a16:creationId xmlns:a16="http://schemas.microsoft.com/office/drawing/2014/main" id="{09D6261E-FF86-54CD-A81A-4CE5A718F9AE}"/>
              </a:ext>
            </a:extLst>
          </p:cNvPr>
          <p:cNvGraphicFramePr>
            <a:graphicFrameLocks noGrp="1"/>
          </p:cNvGraphicFramePr>
          <p:nvPr>
            <p:extLst>
              <p:ext uri="{D42A27DB-BD31-4B8C-83A1-F6EECF244321}">
                <p14:modId xmlns:p14="http://schemas.microsoft.com/office/powerpoint/2010/main" val="2607443996"/>
              </p:ext>
            </p:extLst>
          </p:nvPr>
        </p:nvGraphicFramePr>
        <p:xfrm>
          <a:off x="1981200" y="1282158"/>
          <a:ext cx="8229600" cy="36576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1430777925"/>
                    </a:ext>
                  </a:extLst>
                </a:gridCol>
                <a:gridCol w="4114800">
                  <a:extLst>
                    <a:ext uri="{9D8B030D-6E8A-4147-A177-3AD203B41FA5}">
                      <a16:colId xmlns:a16="http://schemas.microsoft.com/office/drawing/2014/main" val="2690792905"/>
                    </a:ext>
                  </a:extLst>
                </a:gridCol>
              </a:tblGrid>
              <a:tr h="0">
                <a:tc>
                  <a:txBody>
                    <a:bodyPr/>
                    <a:lstStyle/>
                    <a:p>
                      <a:pPr>
                        <a:buNone/>
                      </a:pPr>
                      <a:r>
                        <a:rPr lang="en-US" b="1" dirty="0"/>
                        <a:t>NLP Topic</a:t>
                      </a:r>
                    </a:p>
                  </a:txBody>
                  <a:tcPr anchor="ctr"/>
                </a:tc>
                <a:tc>
                  <a:txBody>
                    <a:bodyPr/>
                    <a:lstStyle/>
                    <a:p>
                      <a:pPr>
                        <a:buNone/>
                      </a:pPr>
                      <a:r>
                        <a:rPr lang="en-US" b="1" dirty="0"/>
                        <a:t>Practical Experiment</a:t>
                      </a:r>
                    </a:p>
                  </a:txBody>
                  <a:tcPr anchor="ctr"/>
                </a:tc>
                <a:extLst>
                  <a:ext uri="{0D108BD9-81ED-4DB2-BD59-A6C34878D82A}">
                    <a16:rowId xmlns:a16="http://schemas.microsoft.com/office/drawing/2014/main" val="1057051175"/>
                  </a:ext>
                </a:extLst>
              </a:tr>
            </a:tbl>
          </a:graphicData>
        </a:graphic>
      </p:graphicFrame>
      <p:graphicFrame>
        <p:nvGraphicFramePr>
          <p:cNvPr id="12" name="Table 11">
            <a:extLst>
              <a:ext uri="{FF2B5EF4-FFF2-40B4-BE49-F238E27FC236}">
                <a16:creationId xmlns:a16="http://schemas.microsoft.com/office/drawing/2014/main" id="{469B23B0-4A38-775D-ECB0-318A6CD274BA}"/>
              </a:ext>
            </a:extLst>
          </p:cNvPr>
          <p:cNvGraphicFramePr>
            <a:graphicFrameLocks noGrp="1"/>
          </p:cNvGraphicFramePr>
          <p:nvPr>
            <p:extLst>
              <p:ext uri="{D42A27DB-BD31-4B8C-83A1-F6EECF244321}">
                <p14:modId xmlns:p14="http://schemas.microsoft.com/office/powerpoint/2010/main" val="3180872267"/>
              </p:ext>
            </p:extLst>
          </p:nvPr>
        </p:nvGraphicFramePr>
        <p:xfrm>
          <a:off x="1981200" y="1766776"/>
          <a:ext cx="8229600" cy="118872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4081647583"/>
                    </a:ext>
                  </a:extLst>
                </a:gridCol>
                <a:gridCol w="4114800">
                  <a:extLst>
                    <a:ext uri="{9D8B030D-6E8A-4147-A177-3AD203B41FA5}">
                      <a16:colId xmlns:a16="http://schemas.microsoft.com/office/drawing/2014/main" val="1129402684"/>
                    </a:ext>
                  </a:extLst>
                </a:gridCol>
              </a:tblGrid>
              <a:tr h="987407">
                <a:tc>
                  <a:txBody>
                    <a:bodyPr/>
                    <a:lstStyle/>
                    <a:p>
                      <a:pPr>
                        <a:buNone/>
                      </a:pPr>
                      <a:r>
                        <a:rPr lang="en-US"/>
                        <a:t>Speech Recognition (Speech-to-Text)</a:t>
                      </a:r>
                    </a:p>
                  </a:txBody>
                  <a:tcPr anchor="ctr"/>
                </a:tc>
                <a:tc>
                  <a:txBody>
                    <a:bodyPr/>
                    <a:lstStyle/>
                    <a:p>
                      <a:pPr>
                        <a:buNone/>
                      </a:pPr>
                      <a:r>
                        <a:rPr lang="en-US" dirty="0"/>
                        <a:t>Tested how accurately different tools convert spoken language into written text under different languages and noise conditions.</a:t>
                      </a:r>
                    </a:p>
                  </a:txBody>
                  <a:tcPr anchor="ctr"/>
                </a:tc>
                <a:extLst>
                  <a:ext uri="{0D108BD9-81ED-4DB2-BD59-A6C34878D82A}">
                    <a16:rowId xmlns:a16="http://schemas.microsoft.com/office/drawing/2014/main" val="1774621826"/>
                  </a:ext>
                </a:extLst>
              </a:tr>
            </a:tbl>
          </a:graphicData>
        </a:graphic>
      </p:graphicFrame>
      <p:graphicFrame>
        <p:nvGraphicFramePr>
          <p:cNvPr id="13" name="Table 12">
            <a:extLst>
              <a:ext uri="{FF2B5EF4-FFF2-40B4-BE49-F238E27FC236}">
                <a16:creationId xmlns:a16="http://schemas.microsoft.com/office/drawing/2014/main" id="{BBF394FE-B9D1-07C8-57D5-074090CD8CCF}"/>
              </a:ext>
            </a:extLst>
          </p:cNvPr>
          <p:cNvGraphicFramePr>
            <a:graphicFrameLocks noGrp="1"/>
          </p:cNvGraphicFramePr>
          <p:nvPr>
            <p:extLst>
              <p:ext uri="{D42A27DB-BD31-4B8C-83A1-F6EECF244321}">
                <p14:modId xmlns:p14="http://schemas.microsoft.com/office/powerpoint/2010/main" val="3223275290"/>
              </p:ext>
            </p:extLst>
          </p:nvPr>
        </p:nvGraphicFramePr>
        <p:xfrm>
          <a:off x="1981200" y="3082291"/>
          <a:ext cx="8229600" cy="91440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879470757"/>
                    </a:ext>
                  </a:extLst>
                </a:gridCol>
                <a:gridCol w="4114800">
                  <a:extLst>
                    <a:ext uri="{9D8B030D-6E8A-4147-A177-3AD203B41FA5}">
                      <a16:colId xmlns:a16="http://schemas.microsoft.com/office/drawing/2014/main" val="2792059428"/>
                    </a:ext>
                  </a:extLst>
                </a:gridCol>
              </a:tblGrid>
              <a:tr h="0">
                <a:tc>
                  <a:txBody>
                    <a:bodyPr/>
                    <a:lstStyle/>
                    <a:p>
                      <a:pPr>
                        <a:buNone/>
                      </a:pPr>
                      <a:r>
                        <a:rPr lang="en-US" dirty="0"/>
                        <a:t>Speech Synthesis (Text-to-Speech)</a:t>
                      </a:r>
                    </a:p>
                  </a:txBody>
                  <a:tcPr anchor="ctr"/>
                </a:tc>
                <a:tc>
                  <a:txBody>
                    <a:bodyPr/>
                    <a:lstStyle/>
                    <a:p>
                      <a:pPr>
                        <a:buNone/>
                      </a:pPr>
                      <a:r>
                        <a:rPr lang="en-US" dirty="0"/>
                        <a:t>Tested how different tools convert written text into spoken audio and evaluated pronunciation, clarity, and naturalness.</a:t>
                      </a:r>
                    </a:p>
                  </a:txBody>
                  <a:tcPr anchor="ctr"/>
                </a:tc>
                <a:extLst>
                  <a:ext uri="{0D108BD9-81ED-4DB2-BD59-A6C34878D82A}">
                    <a16:rowId xmlns:a16="http://schemas.microsoft.com/office/drawing/2014/main" val="4219888623"/>
                  </a:ext>
                </a:extLst>
              </a:tr>
            </a:tbl>
          </a:graphicData>
        </a:graphic>
      </p:graphicFrame>
      <p:graphicFrame>
        <p:nvGraphicFramePr>
          <p:cNvPr id="14" name="Table 13">
            <a:extLst>
              <a:ext uri="{FF2B5EF4-FFF2-40B4-BE49-F238E27FC236}">
                <a16:creationId xmlns:a16="http://schemas.microsoft.com/office/drawing/2014/main" id="{288042A0-C4B4-1498-18E8-F3AC22FF13B9}"/>
              </a:ext>
            </a:extLst>
          </p:cNvPr>
          <p:cNvGraphicFramePr>
            <a:graphicFrameLocks noGrp="1"/>
          </p:cNvGraphicFramePr>
          <p:nvPr>
            <p:extLst>
              <p:ext uri="{D42A27DB-BD31-4B8C-83A1-F6EECF244321}">
                <p14:modId xmlns:p14="http://schemas.microsoft.com/office/powerpoint/2010/main" val="939069471"/>
              </p:ext>
            </p:extLst>
          </p:nvPr>
        </p:nvGraphicFramePr>
        <p:xfrm>
          <a:off x="1981200" y="4146937"/>
          <a:ext cx="8229600" cy="91440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1736942321"/>
                    </a:ext>
                  </a:extLst>
                </a:gridCol>
                <a:gridCol w="4114800">
                  <a:extLst>
                    <a:ext uri="{9D8B030D-6E8A-4147-A177-3AD203B41FA5}">
                      <a16:colId xmlns:a16="http://schemas.microsoft.com/office/drawing/2014/main" val="1267718405"/>
                    </a:ext>
                  </a:extLst>
                </a:gridCol>
              </a:tblGrid>
              <a:tr h="0">
                <a:tc>
                  <a:txBody>
                    <a:bodyPr/>
                    <a:lstStyle/>
                    <a:p>
                      <a:pPr>
                        <a:buNone/>
                      </a:pPr>
                      <a:r>
                        <a:rPr lang="en-US" dirty="0"/>
                        <a:t>Machine Translation (MT)</a:t>
                      </a:r>
                    </a:p>
                  </a:txBody>
                  <a:tcPr anchor="ctr"/>
                </a:tc>
                <a:tc>
                  <a:txBody>
                    <a:bodyPr/>
                    <a:lstStyle/>
                    <a:p>
                      <a:pPr>
                        <a:buNone/>
                      </a:pPr>
                      <a:r>
                        <a:rPr lang="en-US" dirty="0"/>
                        <a:t>Tested how different translation tools handle idioms, ambiguous words, and context-based meanings.</a:t>
                      </a:r>
                    </a:p>
                  </a:txBody>
                  <a:tcPr anchor="ctr"/>
                </a:tc>
                <a:extLst>
                  <a:ext uri="{0D108BD9-81ED-4DB2-BD59-A6C34878D82A}">
                    <a16:rowId xmlns:a16="http://schemas.microsoft.com/office/drawing/2014/main" val="1033153171"/>
                  </a:ext>
                </a:extLst>
              </a:tr>
            </a:tbl>
          </a:graphicData>
        </a:graphic>
      </p:graphicFrame>
      <p:graphicFrame>
        <p:nvGraphicFramePr>
          <p:cNvPr id="15" name="Table 14">
            <a:extLst>
              <a:ext uri="{FF2B5EF4-FFF2-40B4-BE49-F238E27FC236}">
                <a16:creationId xmlns:a16="http://schemas.microsoft.com/office/drawing/2014/main" id="{2180954B-0A20-8740-FA8B-C331FD37E3CE}"/>
              </a:ext>
            </a:extLst>
          </p:cNvPr>
          <p:cNvGraphicFramePr>
            <a:graphicFrameLocks noGrp="1"/>
          </p:cNvGraphicFramePr>
          <p:nvPr>
            <p:extLst>
              <p:ext uri="{D42A27DB-BD31-4B8C-83A1-F6EECF244321}">
                <p14:modId xmlns:p14="http://schemas.microsoft.com/office/powerpoint/2010/main" val="4121946873"/>
              </p:ext>
            </p:extLst>
          </p:nvPr>
        </p:nvGraphicFramePr>
        <p:xfrm>
          <a:off x="1981200" y="5214231"/>
          <a:ext cx="8229600" cy="91440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4074533371"/>
                    </a:ext>
                  </a:extLst>
                </a:gridCol>
                <a:gridCol w="4114800">
                  <a:extLst>
                    <a:ext uri="{9D8B030D-6E8A-4147-A177-3AD203B41FA5}">
                      <a16:colId xmlns:a16="http://schemas.microsoft.com/office/drawing/2014/main" val="666964910"/>
                    </a:ext>
                  </a:extLst>
                </a:gridCol>
              </a:tblGrid>
              <a:tr h="212460">
                <a:tc>
                  <a:txBody>
                    <a:bodyPr/>
                    <a:lstStyle/>
                    <a:p>
                      <a:pPr>
                        <a:buNone/>
                      </a:pPr>
                      <a:r>
                        <a:rPr lang="en-US" dirty="0"/>
                        <a:t>Question Answering System (QAS)</a:t>
                      </a:r>
                    </a:p>
                  </a:txBody>
                  <a:tcPr anchor="ctr"/>
                </a:tc>
                <a:tc>
                  <a:txBody>
                    <a:bodyPr/>
                    <a:lstStyle/>
                    <a:p>
                      <a:pPr>
                        <a:buNone/>
                      </a:pPr>
                      <a:r>
                        <a:rPr lang="en-US" dirty="0"/>
                        <a:t>Tested how different AI systems answer factual, ambiguous, and opinion-based questions.</a:t>
                      </a:r>
                    </a:p>
                  </a:txBody>
                  <a:tcPr anchor="ctr"/>
                </a:tc>
                <a:extLst>
                  <a:ext uri="{0D108BD9-81ED-4DB2-BD59-A6C34878D82A}">
                    <a16:rowId xmlns:a16="http://schemas.microsoft.com/office/drawing/2014/main" val="1599199020"/>
                  </a:ext>
                </a:extLst>
              </a:tr>
            </a:tbl>
          </a:graphicData>
        </a:graphic>
      </p:graphicFrame>
    </p:spTree>
    <p:extLst>
      <p:ext uri="{BB962C8B-B14F-4D97-AF65-F5344CB8AC3E}">
        <p14:creationId xmlns:p14="http://schemas.microsoft.com/office/powerpoint/2010/main" val="359093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pPr>
              <a:defRPr sz="2800" b="1">
                <a:solidFill>
                  <a:srgbClr val="1F3864"/>
                </a:solidFill>
              </a:defRPr>
            </a:pPr>
            <a:r>
              <a:t>2. Speech Recognition (Speech-to-Text)</a:t>
            </a:r>
          </a:p>
        </p:txBody>
      </p:sp>
      <p:sp>
        <p:nvSpPr>
          <p:cNvPr id="3" name="TextBox 2"/>
          <p:cNvSpPr txBox="1"/>
          <p:nvPr/>
        </p:nvSpPr>
        <p:spPr>
          <a:xfrm>
            <a:off x="731520" y="1234440"/>
            <a:ext cx="10789920" cy="2698175"/>
          </a:xfrm>
          <a:prstGeom prst="rect">
            <a:avLst/>
          </a:prstGeom>
          <a:noFill/>
        </p:spPr>
        <p:txBody>
          <a:bodyPr wrap="square">
            <a:spAutoFit/>
          </a:bodyPr>
          <a:lstStyle/>
          <a:p>
            <a:pPr>
              <a:spcAft>
                <a:spcPts val="1000"/>
              </a:spcAft>
              <a:defRPr sz="2000">
                <a:solidFill>
                  <a:srgbClr val="232323"/>
                </a:solidFill>
              </a:defRPr>
            </a:pPr>
            <a:r>
              <a:rPr dirty="0"/>
              <a:t>• Speech Recognition converts spoken language into written text.</a:t>
            </a:r>
          </a:p>
          <a:p>
            <a:pPr>
              <a:spcAft>
                <a:spcPts val="1000"/>
              </a:spcAft>
              <a:defRPr sz="2000">
                <a:solidFill>
                  <a:srgbClr val="232323"/>
                </a:solidFill>
              </a:defRPr>
            </a:pPr>
            <a:r>
              <a:rPr dirty="0"/>
              <a:t>• Workflow: </a:t>
            </a:r>
            <a:endParaRPr lang="en-US" dirty="0"/>
          </a:p>
          <a:p>
            <a:pPr>
              <a:spcAft>
                <a:spcPts val="1000"/>
              </a:spcAft>
              <a:defRPr sz="2000">
                <a:solidFill>
                  <a:srgbClr val="232323"/>
                </a:solidFill>
              </a:defRPr>
            </a:pPr>
            <a:r>
              <a:rPr sz="2800" b="1" dirty="0"/>
              <a:t>Voice Input → Microphone Capture → Noise Reduction → Feature Extraction → Acoustic Model → Language Model → Text.</a:t>
            </a:r>
          </a:p>
          <a:p>
            <a:pPr>
              <a:spcAft>
                <a:spcPts val="1000"/>
              </a:spcAft>
              <a:defRPr sz="2000">
                <a:solidFill>
                  <a:srgbClr val="232323"/>
                </a:solidFill>
              </a:defRPr>
            </a:pPr>
            <a:r>
              <a:rPr dirty="0"/>
              <a:t>• Benefits: hands-free interaction, accessibility, faster information entry, and smart assistants.</a:t>
            </a:r>
          </a:p>
          <a:p>
            <a:pPr>
              <a:spcAft>
                <a:spcPts val="1000"/>
              </a:spcAft>
              <a:defRPr sz="2000">
                <a:solidFill>
                  <a:srgbClr val="232323"/>
                </a:solidFill>
              </a:defRPr>
            </a:pPr>
            <a:r>
              <a:rPr dirty="0"/>
              <a:t>• Limitations: environmental noise, accent dependency, multilingual performance, and audio quality.</a:t>
            </a:r>
          </a:p>
        </p:txBody>
      </p:sp>
      <p:sp>
        <p:nvSpPr>
          <p:cNvPr id="4" name="Rectangle 3"/>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pPr>
              <a:defRPr sz="2800" b="1">
                <a:solidFill>
                  <a:srgbClr val="1F3864"/>
                </a:solidFill>
              </a:defRPr>
            </a:pPr>
            <a:r>
              <a:t>STT Practical Experiment</a:t>
            </a:r>
          </a:p>
        </p:txBody>
      </p:sp>
      <p:graphicFrame>
        <p:nvGraphicFramePr>
          <p:cNvPr id="3" name="Table 2"/>
          <p:cNvGraphicFramePr>
            <a:graphicFrameLocks noGrp="1"/>
          </p:cNvGraphicFramePr>
          <p:nvPr>
            <p:extLst>
              <p:ext uri="{D42A27DB-BD31-4B8C-83A1-F6EECF244321}">
                <p14:modId xmlns:p14="http://schemas.microsoft.com/office/powerpoint/2010/main" val="2263411576"/>
              </p:ext>
            </p:extLst>
          </p:nvPr>
        </p:nvGraphicFramePr>
        <p:xfrm>
          <a:off x="411480" y="1234440"/>
          <a:ext cx="11338560" cy="5238206"/>
        </p:xfrm>
        <a:graphic>
          <a:graphicData uri="http://schemas.openxmlformats.org/drawingml/2006/table">
            <a:tbl>
              <a:tblPr firstRow="1" bandRow="1">
                <a:tableStyleId>{5C22544A-7EE6-4342-B048-85BDC9FD1C3A}</a:tableStyleId>
              </a:tblPr>
              <a:tblGrid>
                <a:gridCol w="4146452">
                  <a:extLst>
                    <a:ext uri="{9D8B030D-6E8A-4147-A177-3AD203B41FA5}">
                      <a16:colId xmlns:a16="http://schemas.microsoft.com/office/drawing/2014/main" val="20000"/>
                    </a:ext>
                  </a:extLst>
                </a:gridCol>
                <a:gridCol w="7192108">
                  <a:extLst>
                    <a:ext uri="{9D8B030D-6E8A-4147-A177-3AD203B41FA5}">
                      <a16:colId xmlns:a16="http://schemas.microsoft.com/office/drawing/2014/main" val="20001"/>
                    </a:ext>
                  </a:extLst>
                </a:gridCol>
              </a:tblGrid>
              <a:tr h="718457">
                <a:tc>
                  <a:txBody>
                    <a:bodyPr/>
                    <a:lstStyle/>
                    <a:p>
                      <a:pPr>
                        <a:defRPr sz="1600" b="1">
                          <a:solidFill>
                            <a:srgbClr val="FFFFFF"/>
                          </a:solidFill>
                        </a:defRPr>
                      </a:pPr>
                      <a:r>
                        <a:rPr sz="2400" dirty="0"/>
                        <a:t>Parameter</a:t>
                      </a:r>
                    </a:p>
                  </a:txBody>
                  <a:tcPr>
                    <a:solidFill>
                      <a:srgbClr val="1F3864"/>
                    </a:solidFill>
                  </a:tcPr>
                </a:tc>
                <a:tc>
                  <a:txBody>
                    <a:bodyPr/>
                    <a:lstStyle/>
                    <a:p>
                      <a:pPr>
                        <a:defRPr sz="1600" b="1">
                          <a:solidFill>
                            <a:srgbClr val="FFFFFF"/>
                          </a:solidFill>
                        </a:defRPr>
                      </a:pPr>
                      <a:r>
                        <a:rPr sz="2400"/>
                        <a:t>Details</a:t>
                      </a:r>
                    </a:p>
                  </a:txBody>
                  <a:tcPr>
                    <a:solidFill>
                      <a:srgbClr val="1F3864"/>
                    </a:solidFill>
                  </a:tcPr>
                </a:tc>
                <a:extLst>
                  <a:ext uri="{0D108BD9-81ED-4DB2-BD59-A6C34878D82A}">
                    <a16:rowId xmlns:a16="http://schemas.microsoft.com/office/drawing/2014/main" val="10000"/>
                  </a:ext>
                </a:extLst>
              </a:tr>
              <a:tr h="718457">
                <a:tc>
                  <a:txBody>
                    <a:bodyPr/>
                    <a:lstStyle/>
                    <a:p>
                      <a:pPr>
                        <a:defRPr sz="1600">
                          <a:solidFill>
                            <a:srgbClr val="232323"/>
                          </a:solidFill>
                        </a:defRPr>
                      </a:pPr>
                      <a:r>
                        <a:rPr sz="2400" dirty="0"/>
                        <a:t>Tools</a:t>
                      </a:r>
                    </a:p>
                  </a:txBody>
                  <a:tcPr/>
                </a:tc>
                <a:tc>
                  <a:txBody>
                    <a:bodyPr/>
                    <a:lstStyle/>
                    <a:p>
                      <a:pPr>
                        <a:defRPr sz="1600">
                          <a:solidFill>
                            <a:srgbClr val="232323"/>
                          </a:solidFill>
                        </a:defRPr>
                      </a:pPr>
                      <a:r>
                        <a:rPr sz="2400" dirty="0"/>
                        <a:t>Google Voice Typing; Microsoft Voice Typing; Apple Dictation</a:t>
                      </a:r>
                    </a:p>
                  </a:txBody>
                  <a:tcPr/>
                </a:tc>
                <a:extLst>
                  <a:ext uri="{0D108BD9-81ED-4DB2-BD59-A6C34878D82A}">
                    <a16:rowId xmlns:a16="http://schemas.microsoft.com/office/drawing/2014/main" val="10001"/>
                  </a:ext>
                </a:extLst>
              </a:tr>
              <a:tr h="718457">
                <a:tc>
                  <a:txBody>
                    <a:bodyPr/>
                    <a:lstStyle/>
                    <a:p>
                      <a:pPr>
                        <a:defRPr sz="1600">
                          <a:solidFill>
                            <a:srgbClr val="232323"/>
                          </a:solidFill>
                        </a:defRPr>
                      </a:pPr>
                      <a:r>
                        <a:rPr sz="2400"/>
                        <a:t>Voice Samples</a:t>
                      </a:r>
                    </a:p>
                  </a:txBody>
                  <a:tcPr>
                    <a:solidFill>
                      <a:srgbClr val="F2F6FC"/>
                    </a:solidFill>
                  </a:tcPr>
                </a:tc>
                <a:tc>
                  <a:txBody>
                    <a:bodyPr/>
                    <a:lstStyle/>
                    <a:p>
                      <a:pPr>
                        <a:defRPr sz="1600">
                          <a:solidFill>
                            <a:srgbClr val="232323"/>
                          </a:solidFill>
                        </a:defRPr>
                      </a:pPr>
                      <a:r>
                        <a:rPr sz="2400" dirty="0"/>
                        <a:t>5 total: 3 short and 2 long</a:t>
                      </a:r>
                    </a:p>
                  </a:txBody>
                  <a:tcPr>
                    <a:solidFill>
                      <a:srgbClr val="F2F6FC"/>
                    </a:solidFill>
                  </a:tcPr>
                </a:tc>
                <a:extLst>
                  <a:ext uri="{0D108BD9-81ED-4DB2-BD59-A6C34878D82A}">
                    <a16:rowId xmlns:a16="http://schemas.microsoft.com/office/drawing/2014/main" val="10002"/>
                  </a:ext>
                </a:extLst>
              </a:tr>
              <a:tr h="718457">
                <a:tc>
                  <a:txBody>
                    <a:bodyPr/>
                    <a:lstStyle/>
                    <a:p>
                      <a:pPr>
                        <a:defRPr sz="1600">
                          <a:solidFill>
                            <a:srgbClr val="232323"/>
                          </a:solidFill>
                        </a:defRPr>
                      </a:pPr>
                      <a:r>
                        <a:rPr sz="2400" dirty="0"/>
                        <a:t>Languages</a:t>
                      </a:r>
                    </a:p>
                  </a:txBody>
                  <a:tcPr/>
                </a:tc>
                <a:tc>
                  <a:txBody>
                    <a:bodyPr/>
                    <a:lstStyle/>
                    <a:p>
                      <a:pPr>
                        <a:defRPr sz="1600">
                          <a:solidFill>
                            <a:srgbClr val="232323"/>
                          </a:solidFill>
                        </a:defRPr>
                      </a:pPr>
                      <a:r>
                        <a:rPr sz="2400" dirty="0"/>
                        <a:t>English, Bangla, Hindi</a:t>
                      </a:r>
                    </a:p>
                  </a:txBody>
                  <a:tcPr/>
                </a:tc>
                <a:extLst>
                  <a:ext uri="{0D108BD9-81ED-4DB2-BD59-A6C34878D82A}">
                    <a16:rowId xmlns:a16="http://schemas.microsoft.com/office/drawing/2014/main" val="10003"/>
                  </a:ext>
                </a:extLst>
              </a:tr>
              <a:tr h="718457">
                <a:tc>
                  <a:txBody>
                    <a:bodyPr/>
                    <a:lstStyle/>
                    <a:p>
                      <a:pPr>
                        <a:defRPr sz="1600">
                          <a:solidFill>
                            <a:srgbClr val="232323"/>
                          </a:solidFill>
                        </a:defRPr>
                      </a:pPr>
                      <a:r>
                        <a:rPr sz="2400"/>
                        <a:t>Noise</a:t>
                      </a:r>
                    </a:p>
                  </a:txBody>
                  <a:tcPr>
                    <a:solidFill>
                      <a:srgbClr val="F2F6FC"/>
                    </a:solidFill>
                  </a:tcPr>
                </a:tc>
                <a:tc>
                  <a:txBody>
                    <a:bodyPr/>
                    <a:lstStyle/>
                    <a:p>
                      <a:pPr>
                        <a:defRPr sz="1600">
                          <a:solidFill>
                            <a:srgbClr val="232323"/>
                          </a:solidFill>
                        </a:defRPr>
                      </a:pPr>
                      <a:r>
                        <a:rPr sz="2400" dirty="0"/>
                        <a:t>Quiet room, machine noise, conversation noise, vehicle movement, heavy traffic</a:t>
                      </a:r>
                    </a:p>
                  </a:txBody>
                  <a:tcPr>
                    <a:solidFill>
                      <a:srgbClr val="F2F6FC"/>
                    </a:solidFill>
                  </a:tcPr>
                </a:tc>
                <a:extLst>
                  <a:ext uri="{0D108BD9-81ED-4DB2-BD59-A6C34878D82A}">
                    <a16:rowId xmlns:a16="http://schemas.microsoft.com/office/drawing/2014/main" val="10004"/>
                  </a:ext>
                </a:extLst>
              </a:tr>
              <a:tr h="718457">
                <a:tc>
                  <a:txBody>
                    <a:bodyPr/>
                    <a:lstStyle/>
                    <a:p>
                      <a:pPr>
                        <a:defRPr sz="1600">
                          <a:solidFill>
                            <a:srgbClr val="232323"/>
                          </a:solidFill>
                        </a:defRPr>
                      </a:pPr>
                      <a:r>
                        <a:rPr sz="2400"/>
                        <a:t>Microphone</a:t>
                      </a:r>
                    </a:p>
                  </a:txBody>
                  <a:tcPr/>
                </a:tc>
                <a:tc>
                  <a:txBody>
                    <a:bodyPr/>
                    <a:lstStyle/>
                    <a:p>
                      <a:pPr>
                        <a:defRPr sz="1600">
                          <a:solidFill>
                            <a:srgbClr val="232323"/>
                          </a:solidFill>
                        </a:defRPr>
                      </a:pPr>
                      <a:r>
                        <a:rPr sz="2400" dirty="0"/>
                        <a:t>Laptop built-in</a:t>
                      </a:r>
                    </a:p>
                  </a:txBody>
                  <a:tcPr/>
                </a:tc>
                <a:extLst>
                  <a:ext uri="{0D108BD9-81ED-4DB2-BD59-A6C34878D82A}">
                    <a16:rowId xmlns:a16="http://schemas.microsoft.com/office/drawing/2014/main" val="10005"/>
                  </a:ext>
                </a:extLst>
              </a:tr>
              <a:tr h="718458">
                <a:tc>
                  <a:txBody>
                    <a:bodyPr/>
                    <a:lstStyle/>
                    <a:p>
                      <a:pPr>
                        <a:defRPr sz="1600">
                          <a:solidFill>
                            <a:srgbClr val="232323"/>
                          </a:solidFill>
                        </a:defRPr>
                      </a:pPr>
                      <a:r>
                        <a:rPr sz="2400"/>
                        <a:t>Internet</a:t>
                      </a:r>
                    </a:p>
                  </a:txBody>
                  <a:tcPr>
                    <a:solidFill>
                      <a:srgbClr val="F2F6FC"/>
                    </a:solidFill>
                  </a:tcPr>
                </a:tc>
                <a:tc>
                  <a:txBody>
                    <a:bodyPr/>
                    <a:lstStyle/>
                    <a:p>
                      <a:pPr>
                        <a:defRPr sz="1600">
                          <a:solidFill>
                            <a:srgbClr val="232323"/>
                          </a:solidFill>
                        </a:defRPr>
                      </a:pPr>
                      <a:r>
                        <a:rPr sz="2400" dirty="0"/>
                        <a:t>Wi-Fi</a:t>
                      </a:r>
                    </a:p>
                  </a:txBody>
                  <a:tcPr>
                    <a:solidFill>
                      <a:srgbClr val="F2F6FC"/>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04827" y="599569"/>
          <a:ext cx="11763396" cy="6203730"/>
        </p:xfrm>
        <a:graphic>
          <a:graphicData uri="http://schemas.openxmlformats.org/drawingml/2006/table">
            <a:tbl>
              <a:tblPr firstRow="1" bandRow="1">
                <a:tableStyleId>{5C22544A-7EE6-4342-B048-85BDC9FD1C3A}</a:tableStyleId>
              </a:tblPr>
              <a:tblGrid>
                <a:gridCol w="1099824">
                  <a:extLst>
                    <a:ext uri="{9D8B030D-6E8A-4147-A177-3AD203B41FA5}">
                      <a16:colId xmlns:a16="http://schemas.microsoft.com/office/drawing/2014/main" val="20000"/>
                    </a:ext>
                  </a:extLst>
                </a:gridCol>
                <a:gridCol w="1259800">
                  <a:extLst>
                    <a:ext uri="{9D8B030D-6E8A-4147-A177-3AD203B41FA5}">
                      <a16:colId xmlns:a16="http://schemas.microsoft.com/office/drawing/2014/main" val="20001"/>
                    </a:ext>
                  </a:extLst>
                </a:gridCol>
                <a:gridCol w="3145725">
                  <a:extLst>
                    <a:ext uri="{9D8B030D-6E8A-4147-A177-3AD203B41FA5}">
                      <a16:colId xmlns:a16="http://schemas.microsoft.com/office/drawing/2014/main" val="20002"/>
                    </a:ext>
                  </a:extLst>
                </a:gridCol>
                <a:gridCol w="2113437">
                  <a:extLst>
                    <a:ext uri="{9D8B030D-6E8A-4147-A177-3AD203B41FA5}">
                      <a16:colId xmlns:a16="http://schemas.microsoft.com/office/drawing/2014/main" val="20003"/>
                    </a:ext>
                  </a:extLst>
                </a:gridCol>
                <a:gridCol w="2649578">
                  <a:extLst>
                    <a:ext uri="{9D8B030D-6E8A-4147-A177-3AD203B41FA5}">
                      <a16:colId xmlns:a16="http://schemas.microsoft.com/office/drawing/2014/main" val="20004"/>
                    </a:ext>
                  </a:extLst>
                </a:gridCol>
                <a:gridCol w="1495032">
                  <a:extLst>
                    <a:ext uri="{9D8B030D-6E8A-4147-A177-3AD203B41FA5}">
                      <a16:colId xmlns:a16="http://schemas.microsoft.com/office/drawing/2014/main" val="20005"/>
                    </a:ext>
                  </a:extLst>
                </a:gridCol>
              </a:tblGrid>
              <a:tr h="634237">
                <a:tc>
                  <a:txBody>
                    <a:bodyPr/>
                    <a:lstStyle/>
                    <a:p>
                      <a:r>
                        <a:rPr lang="en-US" sz="1600" dirty="0"/>
                        <a:t>Sample no.</a:t>
                      </a:r>
                    </a:p>
                  </a:txBody>
                  <a:tcPr/>
                </a:tc>
                <a:tc>
                  <a:txBody>
                    <a:bodyPr/>
                    <a:lstStyle/>
                    <a:p>
                      <a:r>
                        <a:rPr lang="en-US" dirty="0"/>
                        <a:t>Noise condition</a:t>
                      </a:r>
                    </a:p>
                  </a:txBody>
                  <a:tcPr/>
                </a:tc>
                <a:tc>
                  <a:txBody>
                    <a:bodyPr/>
                    <a:lstStyle/>
                    <a:p>
                      <a:r>
                        <a:rPr lang="en-US" dirty="0"/>
                        <a:t>Input Sentence</a:t>
                      </a:r>
                      <a:r>
                        <a:rPr lang="en-US" baseline="0" dirty="0"/>
                        <a:t> and Language</a:t>
                      </a:r>
                      <a:endParaRPr lang="en-US" dirty="0"/>
                    </a:p>
                  </a:txBody>
                  <a:tcPr/>
                </a:tc>
                <a:tc>
                  <a:txBody>
                    <a:bodyPr/>
                    <a:lstStyle/>
                    <a:p>
                      <a:r>
                        <a:rPr lang="en-US" dirty="0"/>
                        <a:t>Tools Name</a:t>
                      </a:r>
                    </a:p>
                  </a:txBody>
                  <a:tcPr/>
                </a:tc>
                <a:tc>
                  <a:txBody>
                    <a:bodyPr/>
                    <a:lstStyle/>
                    <a:p>
                      <a:r>
                        <a:rPr lang="en-US" dirty="0"/>
                        <a:t>Output Sentence and Accuracy</a:t>
                      </a:r>
                    </a:p>
                  </a:txBody>
                  <a:tcPr/>
                </a:tc>
                <a:tc>
                  <a:txBody>
                    <a:bodyPr/>
                    <a:lstStyle/>
                    <a:p>
                      <a:r>
                        <a:rPr lang="en-US" dirty="0"/>
                        <a:t>Result</a:t>
                      </a:r>
                    </a:p>
                  </a:txBody>
                  <a:tcPr/>
                </a:tc>
                <a:extLst>
                  <a:ext uri="{0D108BD9-81ED-4DB2-BD59-A6C34878D82A}">
                    <a16:rowId xmlns:a16="http://schemas.microsoft.com/office/drawing/2014/main" val="10000"/>
                  </a:ext>
                </a:extLst>
              </a:tr>
              <a:tr h="513430">
                <a:tc rowSpan="3">
                  <a:txBody>
                    <a:bodyPr/>
                    <a:lstStyle/>
                    <a:p>
                      <a:r>
                        <a:rPr lang="en-US" sz="1400" b="1" dirty="0"/>
                        <a:t>1.</a:t>
                      </a:r>
                    </a:p>
                  </a:txBody>
                  <a:tcPr/>
                </a:tc>
                <a:tc rowSpan="3">
                  <a:txBody>
                    <a:bodyPr/>
                    <a:lstStyle/>
                    <a:p>
                      <a:r>
                        <a:rPr lang="en-US" sz="1400" b="1" dirty="0"/>
                        <a:t>Quiet Room</a:t>
                      </a:r>
                    </a:p>
                  </a:txBody>
                  <a:tcPr/>
                </a:tc>
                <a:tc rowSpan="3">
                  <a:txBody>
                    <a:bodyPr/>
                    <a:lstStyle/>
                    <a:p>
                      <a:r>
                        <a:rPr lang="en-US" sz="1400" b="1" kern="1200" dirty="0">
                          <a:solidFill>
                            <a:schemeClr val="dk1"/>
                          </a:solidFill>
                          <a:latin typeface="+mn-lt"/>
                          <a:ea typeface="+mn-ea"/>
                          <a:cs typeface="+mn-cs"/>
                        </a:rPr>
                        <a:t>Good morning everyone.(English)</a:t>
                      </a:r>
                      <a:endParaRPr lang="en-US" sz="1400" b="1"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Google</a:t>
                      </a:r>
                      <a:r>
                        <a:rPr lang="en-US" sz="1400" b="1" baseline="0" dirty="0"/>
                        <a:t> Voice</a:t>
                      </a:r>
                      <a:endParaRPr lang="en-US" sz="1400" b="1" dirty="0"/>
                    </a:p>
                    <a:p>
                      <a:endParaRPr lang="en-US" sz="1400" b="1" dirty="0"/>
                    </a:p>
                  </a:txBody>
                  <a:tcPr/>
                </a:tc>
                <a:tc>
                  <a:txBody>
                    <a:bodyPr/>
                    <a:lstStyle/>
                    <a:p>
                      <a:r>
                        <a:rPr lang="en-US" sz="1200" b="1" kern="1200" dirty="0">
                          <a:solidFill>
                            <a:schemeClr val="dk1"/>
                          </a:solidFill>
                          <a:latin typeface="+mn-lt"/>
                          <a:ea typeface="+mn-ea"/>
                          <a:cs typeface="+mn-cs"/>
                        </a:rPr>
                        <a:t>Good morning everyone.(100%)</a:t>
                      </a:r>
                      <a:endParaRPr lang="en-US" sz="1200" b="1" dirty="0"/>
                    </a:p>
                  </a:txBody>
                  <a:tcPr/>
                </a:tc>
                <a:tc rowSpan="3">
                  <a:txBody>
                    <a:bodyPr/>
                    <a:lstStyle/>
                    <a:p>
                      <a:r>
                        <a:rPr lang="en-US" sz="1200" b="1" dirty="0"/>
                        <a:t>All three tools achieved 100% accuracy on simple</a:t>
                      </a:r>
                      <a:r>
                        <a:rPr lang="en-US" sz="1200" b="1" baseline="0" dirty="0"/>
                        <a:t> syntax without any errors.</a:t>
                      </a:r>
                      <a:endParaRPr lang="en-US" sz="1200" b="1" dirty="0"/>
                    </a:p>
                  </a:txBody>
                  <a:tcPr/>
                </a:tc>
                <a:extLst>
                  <a:ext uri="{0D108BD9-81ED-4DB2-BD59-A6C34878D82A}">
                    <a16:rowId xmlns:a16="http://schemas.microsoft.com/office/drawing/2014/main" val="10001"/>
                  </a:ext>
                </a:extLst>
              </a:tr>
              <a:tr h="51343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Microsoft Voice Typing</a:t>
                      </a:r>
                    </a:p>
                    <a:p>
                      <a:endParaRPr lang="en-US" sz="1400" b="1" dirty="0"/>
                    </a:p>
                  </a:txBody>
                  <a:tcPr/>
                </a:tc>
                <a:tc>
                  <a:txBody>
                    <a:bodyPr/>
                    <a:lstStyle/>
                    <a:p>
                      <a:r>
                        <a:rPr lang="en-US" sz="1200" b="1" kern="1200" dirty="0">
                          <a:solidFill>
                            <a:schemeClr val="dk1"/>
                          </a:solidFill>
                          <a:latin typeface="+mn-lt"/>
                          <a:ea typeface="+mn-ea"/>
                          <a:cs typeface="+mn-cs"/>
                        </a:rPr>
                        <a:t>Good morning everyone.(100%)</a:t>
                      </a:r>
                      <a:endParaRPr lang="en-US" sz="1200" b="1" dirty="0"/>
                    </a:p>
                  </a:txBody>
                  <a:tcPr/>
                </a:tc>
                <a:tc vMerge="1">
                  <a:txBody>
                    <a:bodyPr/>
                    <a:lstStyle/>
                    <a:p>
                      <a:endParaRPr lang="en-US"/>
                    </a:p>
                  </a:txBody>
                  <a:tcPr/>
                </a:tc>
                <a:extLst>
                  <a:ext uri="{0D108BD9-81ED-4DB2-BD59-A6C34878D82A}">
                    <a16:rowId xmlns:a16="http://schemas.microsoft.com/office/drawing/2014/main" val="10002"/>
                  </a:ext>
                </a:extLst>
              </a:tr>
              <a:tr h="51343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Apple Direction</a:t>
                      </a:r>
                    </a:p>
                    <a:p>
                      <a:endParaRPr lang="en-US" sz="1400" b="1" dirty="0"/>
                    </a:p>
                  </a:txBody>
                  <a:tcPr/>
                </a:tc>
                <a:tc>
                  <a:txBody>
                    <a:bodyPr/>
                    <a:lstStyle/>
                    <a:p>
                      <a:r>
                        <a:rPr lang="en-US" sz="1200" b="1" kern="1200" dirty="0">
                          <a:solidFill>
                            <a:schemeClr val="dk1"/>
                          </a:solidFill>
                          <a:latin typeface="+mn-lt"/>
                          <a:ea typeface="+mn-ea"/>
                          <a:cs typeface="+mn-cs"/>
                        </a:rPr>
                        <a:t>Good morning everyone.(100%)</a:t>
                      </a:r>
                      <a:endParaRPr lang="en-US" sz="1200" b="1" dirty="0"/>
                    </a:p>
                  </a:txBody>
                  <a:tcPr/>
                </a:tc>
                <a:tc vMerge="1">
                  <a:txBody>
                    <a:bodyPr/>
                    <a:lstStyle/>
                    <a:p>
                      <a:endParaRPr lang="en-US"/>
                    </a:p>
                  </a:txBody>
                  <a:tcPr/>
                </a:tc>
                <a:extLst>
                  <a:ext uri="{0D108BD9-81ED-4DB2-BD59-A6C34878D82A}">
                    <a16:rowId xmlns:a16="http://schemas.microsoft.com/office/drawing/2014/main" val="10003"/>
                  </a:ext>
                </a:extLst>
              </a:tr>
              <a:tr h="453026">
                <a:tc rowSpan="3">
                  <a:txBody>
                    <a:bodyPr/>
                    <a:lstStyle/>
                    <a:p>
                      <a:r>
                        <a:rPr lang="en-US" sz="1400" b="1" dirty="0"/>
                        <a:t>2.</a:t>
                      </a:r>
                    </a:p>
                  </a:txBody>
                  <a:tcPr/>
                </a:tc>
                <a:tc rowSpan="3">
                  <a:txBody>
                    <a:bodyPr/>
                    <a:lstStyle/>
                    <a:p>
                      <a:r>
                        <a:rPr lang="en-US" sz="1400" b="1" dirty="0"/>
                        <a:t>Conversion Noise</a:t>
                      </a:r>
                    </a:p>
                  </a:txBody>
                  <a:tcPr/>
                </a:tc>
                <a:tc rowSpan="3">
                  <a:txBody>
                    <a:bodyPr/>
                    <a:lstStyle/>
                    <a:p>
                      <a:r>
                        <a:rPr lang="as-IN" sz="1400" b="1" dirty="0"/>
                        <a:t>তোমাকে তোমার কর্তব্য অবশ্যই পালন করতে হবে।</a:t>
                      </a:r>
                      <a:endParaRPr lang="en-US" sz="1400" b="1" dirty="0"/>
                    </a:p>
                    <a:p>
                      <a:r>
                        <a:rPr lang="en-US" sz="1400" b="1" dirty="0"/>
                        <a:t>(Bangla)</a:t>
                      </a:r>
                    </a:p>
                  </a:txBody>
                  <a:tcPr/>
                </a:tc>
                <a:tc>
                  <a:txBody>
                    <a:bodyPr/>
                    <a:lstStyle/>
                    <a:p>
                      <a:r>
                        <a:rPr lang="en-US" sz="1400" b="1" dirty="0"/>
                        <a:t>Google</a:t>
                      </a:r>
                      <a:r>
                        <a:rPr lang="en-US" sz="1400" b="1" baseline="0" dirty="0"/>
                        <a:t> Voice</a:t>
                      </a:r>
                      <a:endParaRPr lang="en-US" sz="1400" b="1" dirty="0"/>
                    </a:p>
                  </a:txBody>
                  <a:tcPr/>
                </a:tc>
                <a:tc>
                  <a:txBody>
                    <a:bodyPr/>
                    <a:lstStyle/>
                    <a:p>
                      <a:r>
                        <a:rPr lang="as-IN" sz="1200" b="1" dirty="0"/>
                        <a:t>তোমাকে তোমার কর্তব্য পালন করতে হবে।</a:t>
                      </a:r>
                      <a:r>
                        <a:rPr lang="en-US" sz="1200" b="1" dirty="0"/>
                        <a:t>(85%)</a:t>
                      </a:r>
                    </a:p>
                  </a:txBody>
                  <a:tcPr/>
                </a:tc>
                <a:tc rowSpan="3">
                  <a:txBody>
                    <a:bodyPr/>
                    <a:lstStyle/>
                    <a:p>
                      <a:r>
                        <a:rPr lang="en-US" sz="1200" b="1" dirty="0"/>
                        <a:t>Microsoft</a:t>
                      </a:r>
                      <a:r>
                        <a:rPr lang="en-US" sz="1200" b="1" baseline="0" dirty="0"/>
                        <a:t> Voice</a:t>
                      </a:r>
                      <a:r>
                        <a:rPr lang="en-US" sz="1200" b="1" dirty="0"/>
                        <a:t> Voice and Google Docs performed well on  Bangla script input with minor omission ("</a:t>
                      </a:r>
                      <a:r>
                        <a:rPr lang="as-IN" sz="1200" b="1" dirty="0"/>
                        <a:t>অবশ্যই" </a:t>
                      </a:r>
                      <a:r>
                        <a:rPr lang="en-US" sz="1200" b="1" dirty="0"/>
                        <a:t>missing). </a:t>
                      </a:r>
                      <a:r>
                        <a:rPr lang="en-US" sz="1200" b="1" baseline="0" dirty="0"/>
                        <a:t> Apple direction </a:t>
                      </a:r>
                      <a:r>
                        <a:rPr lang="en-US" sz="1200" b="1" dirty="0"/>
                        <a:t>substituted key vocabulary ("</a:t>
                      </a:r>
                      <a:r>
                        <a:rPr lang="as-IN" sz="1200" b="1" dirty="0"/>
                        <a:t>কর্তব্য" </a:t>
                      </a:r>
                      <a:r>
                        <a:rPr lang="en-US" sz="1200" b="1" dirty="0"/>
                        <a:t> "</a:t>
                      </a:r>
                      <a:r>
                        <a:rPr lang="as-IN" sz="1200" b="1" dirty="0"/>
                        <a:t>গন্তব্য").</a:t>
                      </a:r>
                      <a:endParaRPr lang="en-US" sz="1200" b="1" dirty="0"/>
                    </a:p>
                  </a:txBody>
                  <a:tcPr/>
                </a:tc>
                <a:extLst>
                  <a:ext uri="{0D108BD9-81ED-4DB2-BD59-A6C34878D82A}">
                    <a16:rowId xmlns:a16="http://schemas.microsoft.com/office/drawing/2014/main" val="10004"/>
                  </a:ext>
                </a:extLst>
              </a:tr>
              <a:tr h="4530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b="1" dirty="0"/>
                        <a:t>Microsoft Voice Typing</a:t>
                      </a:r>
                    </a:p>
                  </a:txBody>
                  <a:tcPr/>
                </a:tc>
                <a:tc>
                  <a:txBody>
                    <a:bodyPr/>
                    <a:lstStyle/>
                    <a:p>
                      <a:r>
                        <a:rPr lang="as-IN" sz="1200" b="1" dirty="0"/>
                        <a:t>তোমাকে তোমার কর্তব্</a:t>
                      </a:r>
                      <a:r>
                        <a:rPr lang="en-US" sz="1200" b="1" baseline="0" dirty="0"/>
                        <a:t> </a:t>
                      </a:r>
                      <a:r>
                        <a:rPr lang="as-IN" sz="1200" b="1" dirty="0"/>
                        <a:t>পালন করতে হবে।</a:t>
                      </a:r>
                      <a:r>
                        <a:rPr lang="en-US" sz="1200" b="1" dirty="0"/>
                        <a:t>(80%)</a:t>
                      </a:r>
                    </a:p>
                  </a:txBody>
                  <a:tcPr/>
                </a:tc>
                <a:tc vMerge="1">
                  <a:txBody>
                    <a:bodyPr/>
                    <a:lstStyle/>
                    <a:p>
                      <a:endParaRPr lang="en-US"/>
                    </a:p>
                  </a:txBody>
                  <a:tcPr/>
                </a:tc>
                <a:extLst>
                  <a:ext uri="{0D108BD9-81ED-4DB2-BD59-A6C34878D82A}">
                    <a16:rowId xmlns:a16="http://schemas.microsoft.com/office/drawing/2014/main" val="10005"/>
                  </a:ext>
                </a:extLst>
              </a:tr>
              <a:tr h="154029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b="1" dirty="0"/>
                        <a:t>Apple Direction</a:t>
                      </a:r>
                    </a:p>
                  </a:txBody>
                  <a:tcPr/>
                </a:tc>
                <a:tc>
                  <a:txBody>
                    <a:bodyPr/>
                    <a:lstStyle/>
                    <a:p>
                      <a:r>
                        <a:rPr lang="as-IN" sz="1200" b="1" dirty="0"/>
                        <a:t>তোমাকে তোমার গন্তব্য অবশ্য</a:t>
                      </a:r>
                      <a:r>
                        <a:rPr lang="en-US" sz="1200" b="1" dirty="0"/>
                        <a:t> </a:t>
                      </a:r>
                      <a:r>
                        <a:rPr lang="as-IN" sz="1200" b="1" dirty="0"/>
                        <a:t>ভালো</a:t>
                      </a:r>
                      <a:r>
                        <a:rPr lang="en-US" sz="1200" b="1" dirty="0"/>
                        <a:t> </a:t>
                      </a:r>
                      <a:r>
                        <a:rPr lang="as-IN" sz="1200" b="1" dirty="0"/>
                        <a:t>করতে হবে।</a:t>
                      </a:r>
                      <a:r>
                        <a:rPr lang="en-US" sz="1200" b="1" dirty="0"/>
                        <a:t>(60%)</a:t>
                      </a:r>
                    </a:p>
                  </a:txBody>
                  <a:tcPr/>
                </a:tc>
                <a:tc vMerge="1">
                  <a:txBody>
                    <a:bodyPr/>
                    <a:lstStyle/>
                    <a:p>
                      <a:endParaRPr lang="en-US"/>
                    </a:p>
                  </a:txBody>
                  <a:tcPr/>
                </a:tc>
                <a:extLst>
                  <a:ext uri="{0D108BD9-81ED-4DB2-BD59-A6C34878D82A}">
                    <a16:rowId xmlns:a16="http://schemas.microsoft.com/office/drawing/2014/main" val="10006"/>
                  </a:ext>
                </a:extLst>
              </a:tr>
              <a:tr h="513430">
                <a:tc rowSpan="3">
                  <a:txBody>
                    <a:bodyPr/>
                    <a:lstStyle/>
                    <a:p>
                      <a:r>
                        <a:rPr lang="en-US" sz="1400" b="1" dirty="0"/>
                        <a:t>3.</a:t>
                      </a:r>
                    </a:p>
                  </a:txBody>
                  <a:tcPr/>
                </a:tc>
                <a:tc rowSpan="3">
                  <a:txBody>
                    <a:bodyPr/>
                    <a:lstStyle/>
                    <a:p>
                      <a:r>
                        <a:rPr lang="en-US" sz="1400" b="1" dirty="0"/>
                        <a:t>Vehicle Movement Noise</a:t>
                      </a:r>
                    </a:p>
                  </a:txBody>
                  <a:tcPr/>
                </a:tc>
                <a:tc rowSpan="3">
                  <a:txBody>
                    <a:bodyPr/>
                    <a:lstStyle/>
                    <a:p>
                      <a:r>
                        <a:rPr lang="hi-IN" sz="1400" b="1" dirty="0"/>
                        <a:t>मेरा देश महान है</a:t>
                      </a:r>
                      <a:r>
                        <a:rPr lang="en-US" sz="1400" b="1" dirty="0"/>
                        <a:t> |(Hindi)</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Google</a:t>
                      </a:r>
                      <a:r>
                        <a:rPr lang="en-US" sz="1400" b="1" baseline="0" dirty="0"/>
                        <a:t> Voice</a:t>
                      </a:r>
                      <a:endParaRPr lang="en-US" sz="1400" b="1" dirty="0"/>
                    </a:p>
                    <a:p>
                      <a:endParaRPr lang="en-US" sz="1400" b="1" dirty="0"/>
                    </a:p>
                  </a:txBody>
                  <a:tcPr/>
                </a:tc>
                <a:tc>
                  <a:txBody>
                    <a:bodyPr/>
                    <a:lstStyle/>
                    <a:p>
                      <a:r>
                        <a:rPr lang="hi-IN" sz="1200" b="1" dirty="0"/>
                        <a:t>मेरा देश महान ह</a:t>
                      </a:r>
                      <a:r>
                        <a:rPr lang="en-US" sz="1200" b="1" dirty="0"/>
                        <a:t> |(85%)</a:t>
                      </a:r>
                    </a:p>
                  </a:txBody>
                  <a:tcPr/>
                </a:tc>
                <a:tc rowSpan="3">
                  <a:txBody>
                    <a:bodyPr/>
                    <a:lstStyle/>
                    <a:p>
                      <a:r>
                        <a:rPr lang="en-US" sz="1200" b="1" dirty="0"/>
                        <a:t>Google Docs and Microsoft Voice achieved 100% accuracy, whereas Apple</a:t>
                      </a:r>
                      <a:r>
                        <a:rPr lang="en-US" sz="1200" b="1" baseline="0" dirty="0"/>
                        <a:t> Direction</a:t>
                      </a:r>
                      <a:r>
                        <a:rPr lang="en-US" sz="1200" b="1" dirty="0"/>
                        <a:t> substituted the key word   ‘ महान‘  with  ‘बहुत‘ ह'.</a:t>
                      </a:r>
                    </a:p>
                  </a:txBody>
                  <a:tcPr/>
                </a:tc>
                <a:extLst>
                  <a:ext uri="{0D108BD9-81ED-4DB2-BD59-A6C34878D82A}">
                    <a16:rowId xmlns:a16="http://schemas.microsoft.com/office/drawing/2014/main" val="10007"/>
                  </a:ext>
                </a:extLst>
              </a:tr>
              <a:tr h="51343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Microsoft Voice Typing</a:t>
                      </a:r>
                    </a:p>
                    <a:p>
                      <a:endParaRPr lang="en-US" sz="1400" b="1" dirty="0"/>
                    </a:p>
                  </a:txBody>
                  <a:tcPr/>
                </a:tc>
                <a:tc>
                  <a:txBody>
                    <a:bodyPr/>
                    <a:lstStyle/>
                    <a:p>
                      <a:r>
                        <a:rPr lang="hi-IN" sz="1200" b="1" dirty="0"/>
                        <a:t>मेरा देश मान है</a:t>
                      </a:r>
                      <a:r>
                        <a:rPr lang="en-US" sz="1200" b="1" dirty="0"/>
                        <a:t> }(80%)</a:t>
                      </a:r>
                    </a:p>
                  </a:txBody>
                  <a:tcPr/>
                </a:tc>
                <a:tc vMerge="1">
                  <a:txBody>
                    <a:bodyPr/>
                    <a:lstStyle/>
                    <a:p>
                      <a:endParaRPr lang="en-US"/>
                    </a:p>
                  </a:txBody>
                  <a:tcPr/>
                </a:tc>
                <a:extLst>
                  <a:ext uri="{0D108BD9-81ED-4DB2-BD59-A6C34878D82A}">
                    <a16:rowId xmlns:a16="http://schemas.microsoft.com/office/drawing/2014/main" val="10008"/>
                  </a:ext>
                </a:extLst>
              </a:tr>
              <a:tr h="47764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Apple Direction</a:t>
                      </a:r>
                    </a:p>
                    <a:p>
                      <a:endParaRPr lang="en-US" sz="1400" b="1" dirty="0"/>
                    </a:p>
                  </a:txBody>
                  <a:tcPr/>
                </a:tc>
                <a:tc>
                  <a:txBody>
                    <a:bodyPr/>
                    <a:lstStyle/>
                    <a:p>
                      <a:r>
                        <a:rPr lang="hi-IN" sz="1200" b="1" dirty="0"/>
                        <a:t>मेरा देश बहुत ह है</a:t>
                      </a:r>
                      <a:r>
                        <a:rPr lang="en-US" sz="1200" b="1" dirty="0"/>
                        <a:t> |(60%)</a:t>
                      </a:r>
                    </a:p>
                  </a:txBody>
                  <a:tcPr/>
                </a:tc>
                <a:tc vMerge="1">
                  <a:txBody>
                    <a:bodyPr/>
                    <a:lstStyle/>
                    <a:p>
                      <a:endParaRPr lang="en-US"/>
                    </a:p>
                  </a:txBody>
                  <a:tcPr/>
                </a:tc>
                <a:extLst>
                  <a:ext uri="{0D108BD9-81ED-4DB2-BD59-A6C34878D82A}">
                    <a16:rowId xmlns:a16="http://schemas.microsoft.com/office/drawing/2014/main" val="10009"/>
                  </a:ext>
                </a:extLst>
              </a:tr>
            </a:tbl>
          </a:graphicData>
        </a:graphic>
      </p:graphicFrame>
      <p:sp>
        <p:nvSpPr>
          <p:cNvPr id="4" name="Rectangle 3"/>
          <p:cNvSpPr/>
          <p:nvPr/>
        </p:nvSpPr>
        <p:spPr>
          <a:xfrm>
            <a:off x="400559" y="173620"/>
            <a:ext cx="3913635" cy="523220"/>
          </a:xfrm>
          <a:prstGeom prst="rect">
            <a:avLst/>
          </a:prstGeom>
        </p:spPr>
        <p:txBody>
          <a:bodyPr wrap="none">
            <a:spAutoFit/>
          </a:bodyPr>
          <a:lstStyle/>
          <a:p>
            <a:pPr>
              <a:defRPr sz="2800" b="1">
                <a:solidFill>
                  <a:srgbClr val="1F3864"/>
                </a:solidFill>
              </a:defRPr>
            </a:pPr>
            <a:r>
              <a:rPr lang="en-US" dirty="0"/>
              <a:t>STT Results: Samples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12543" y="949124"/>
          <a:ext cx="11736388" cy="5760720"/>
        </p:xfrm>
        <a:graphic>
          <a:graphicData uri="http://schemas.openxmlformats.org/drawingml/2006/table">
            <a:tbl>
              <a:tblPr firstRow="1" bandRow="1">
                <a:tableStyleId>{5C22544A-7EE6-4342-B048-85BDC9FD1C3A}</a:tableStyleId>
              </a:tblPr>
              <a:tblGrid>
                <a:gridCol w="580788">
                  <a:extLst>
                    <a:ext uri="{9D8B030D-6E8A-4147-A177-3AD203B41FA5}">
                      <a16:colId xmlns:a16="http://schemas.microsoft.com/office/drawing/2014/main" val="20000"/>
                    </a:ext>
                  </a:extLst>
                </a:gridCol>
                <a:gridCol w="672634">
                  <a:extLst>
                    <a:ext uri="{9D8B030D-6E8A-4147-A177-3AD203B41FA5}">
                      <a16:colId xmlns:a16="http://schemas.microsoft.com/office/drawing/2014/main" val="20001"/>
                    </a:ext>
                  </a:extLst>
                </a:gridCol>
                <a:gridCol w="2201396">
                  <a:extLst>
                    <a:ext uri="{9D8B030D-6E8A-4147-A177-3AD203B41FA5}">
                      <a16:colId xmlns:a16="http://schemas.microsoft.com/office/drawing/2014/main" val="20002"/>
                    </a:ext>
                  </a:extLst>
                </a:gridCol>
                <a:gridCol w="2599175">
                  <a:extLst>
                    <a:ext uri="{9D8B030D-6E8A-4147-A177-3AD203B41FA5}">
                      <a16:colId xmlns:a16="http://schemas.microsoft.com/office/drawing/2014/main" val="20003"/>
                    </a:ext>
                  </a:extLst>
                </a:gridCol>
                <a:gridCol w="3883856">
                  <a:extLst>
                    <a:ext uri="{9D8B030D-6E8A-4147-A177-3AD203B41FA5}">
                      <a16:colId xmlns:a16="http://schemas.microsoft.com/office/drawing/2014/main" val="20004"/>
                    </a:ext>
                  </a:extLst>
                </a:gridCol>
                <a:gridCol w="1798539">
                  <a:extLst>
                    <a:ext uri="{9D8B030D-6E8A-4147-A177-3AD203B41FA5}">
                      <a16:colId xmlns:a16="http://schemas.microsoft.com/office/drawing/2014/main" val="20005"/>
                    </a:ext>
                  </a:extLst>
                </a:gridCol>
              </a:tblGrid>
              <a:tr h="0">
                <a:tc>
                  <a:txBody>
                    <a:bodyPr/>
                    <a:lstStyle/>
                    <a:p>
                      <a:r>
                        <a:rPr lang="en-US" sz="1400" dirty="0"/>
                        <a:t>Sample No.</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t>Noise Condition</a:t>
                      </a:r>
                    </a:p>
                    <a:p>
                      <a:endParaRPr lang="en-US" sz="1400" dirty="0"/>
                    </a:p>
                  </a:txBody>
                  <a:tcPr/>
                </a:tc>
                <a:tc>
                  <a:txBody>
                    <a:bodyPr/>
                    <a:lstStyle/>
                    <a:p>
                      <a:r>
                        <a:rPr lang="en-US" sz="1400" dirty="0"/>
                        <a:t>Input</a:t>
                      </a:r>
                      <a:r>
                        <a:rPr lang="en-US" sz="1400" baseline="0" dirty="0"/>
                        <a:t> sentence  and Language</a:t>
                      </a:r>
                      <a:endParaRPr lang="en-US" sz="1400" dirty="0"/>
                    </a:p>
                  </a:txBody>
                  <a:tcPr/>
                </a:tc>
                <a:tc>
                  <a:txBody>
                    <a:bodyPr/>
                    <a:lstStyle/>
                    <a:p>
                      <a:r>
                        <a:rPr lang="en-US" sz="1400" dirty="0"/>
                        <a:t>Tools Name</a:t>
                      </a:r>
                    </a:p>
                  </a:txBody>
                  <a:tcPr/>
                </a:tc>
                <a:tc>
                  <a:txBody>
                    <a:bodyPr/>
                    <a:lstStyle/>
                    <a:p>
                      <a:r>
                        <a:rPr lang="en-US" sz="1400" dirty="0"/>
                        <a:t>Output Sentence and Accuracy</a:t>
                      </a:r>
                    </a:p>
                  </a:txBody>
                  <a:tcPr/>
                </a:tc>
                <a:tc>
                  <a:txBody>
                    <a:bodyPr/>
                    <a:lstStyle/>
                    <a:p>
                      <a:r>
                        <a:rPr lang="en-US" sz="1400" dirty="0"/>
                        <a:t>Result</a:t>
                      </a:r>
                    </a:p>
                  </a:txBody>
                  <a:tcPr/>
                </a:tc>
                <a:extLst>
                  <a:ext uri="{0D108BD9-81ED-4DB2-BD59-A6C34878D82A}">
                    <a16:rowId xmlns:a16="http://schemas.microsoft.com/office/drawing/2014/main" val="10000"/>
                  </a:ext>
                </a:extLst>
              </a:tr>
              <a:tr h="718686">
                <a:tc rowSpan="3">
                  <a:txBody>
                    <a:bodyPr/>
                    <a:lstStyle/>
                    <a:p>
                      <a:r>
                        <a:rPr lang="en-US" sz="1400" b="1" dirty="0"/>
                        <a:t>4.</a:t>
                      </a:r>
                    </a:p>
                  </a:txBody>
                  <a:tcPr/>
                </a:tc>
                <a:tc rowSpan="3">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Machine noise</a:t>
                      </a:r>
                    </a:p>
                    <a:p>
                      <a:endParaRPr lang="en-US" sz="1400" b="1" dirty="0"/>
                    </a:p>
                  </a:txBody>
                  <a:tcPr/>
                </a:tc>
                <a:tc rowSpan="3">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Artificial Intelligence uses NLP to communicate with users.</a:t>
                      </a:r>
                    </a:p>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(English)</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400" b="1"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1.Google Doc</a:t>
                      </a:r>
                    </a:p>
                    <a:p>
                      <a:endParaRPr lang="en-US" sz="1400" b="1" dirty="0"/>
                    </a:p>
                  </a:txBody>
                  <a:tcPr/>
                </a:tc>
                <a:tc>
                  <a:txBody>
                    <a:bodyPr/>
                    <a:lstStyle/>
                    <a:p>
                      <a:r>
                        <a:rPr lang="en-US" sz="1400" b="1" dirty="0"/>
                        <a:t>Artificial Intelligence Images NLP To communicate with.</a:t>
                      </a:r>
                    </a:p>
                    <a:p>
                      <a:r>
                        <a:rPr lang="en-US" sz="1400" b="1" dirty="0"/>
                        <a:t>(70%)</a:t>
                      </a:r>
                    </a:p>
                  </a:txBody>
                  <a:tcPr/>
                </a:tc>
                <a:tc rowSpan="3">
                  <a:txBody>
                    <a:bodyPr/>
                    <a:lstStyle/>
                    <a:p>
                      <a:r>
                        <a:rPr lang="en-US" sz="1400" b="1" dirty="0"/>
                        <a:t> None of the tools accurately recognized the technical acronym 'NLP', missing it into 'Images NLP', 'an LP', and 'LLB'.</a:t>
                      </a:r>
                    </a:p>
                  </a:txBody>
                  <a:tcPr/>
                </a:tc>
                <a:extLst>
                  <a:ext uri="{0D108BD9-81ED-4DB2-BD59-A6C34878D82A}">
                    <a16:rowId xmlns:a16="http://schemas.microsoft.com/office/drawing/2014/main" val="10001"/>
                  </a:ext>
                </a:extLst>
              </a:tr>
              <a:tr h="71868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2. Microsoft Voice Typing</a:t>
                      </a:r>
                    </a:p>
                    <a:p>
                      <a:endParaRPr lang="en-US" sz="1400" b="1" dirty="0"/>
                    </a:p>
                  </a:txBody>
                  <a:tcPr/>
                </a:tc>
                <a:tc>
                  <a:txBody>
                    <a:bodyPr/>
                    <a:lstStyle/>
                    <a:p>
                      <a:r>
                        <a:rPr lang="en-US" sz="1400" b="1" dirty="0"/>
                        <a:t>Artificial intelligence uses an LP to communicate with us.</a:t>
                      </a:r>
                    </a:p>
                    <a:p>
                      <a:r>
                        <a:rPr lang="en-US" sz="1400" b="1" dirty="0"/>
                        <a:t>(78%)</a:t>
                      </a:r>
                    </a:p>
                  </a:txBody>
                  <a:tcPr/>
                </a:tc>
                <a:tc vMerge="1">
                  <a:txBody>
                    <a:bodyPr/>
                    <a:lstStyle/>
                    <a:p>
                      <a:endParaRPr lang="en-US"/>
                    </a:p>
                  </a:txBody>
                  <a:tcPr/>
                </a:tc>
                <a:extLst>
                  <a:ext uri="{0D108BD9-81ED-4DB2-BD59-A6C34878D82A}">
                    <a16:rowId xmlns:a16="http://schemas.microsoft.com/office/drawing/2014/main" val="10002"/>
                  </a:ext>
                </a:extLst>
              </a:tr>
              <a:tr h="71868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3.Apple Dictation</a:t>
                      </a:r>
                    </a:p>
                    <a:p>
                      <a:endParaRPr lang="en-US" sz="1400" b="1" dirty="0"/>
                    </a:p>
                  </a:txBody>
                  <a:tcPr/>
                </a:tc>
                <a:tc>
                  <a:txBody>
                    <a:bodyPr/>
                    <a:lstStyle/>
                    <a:p>
                      <a:r>
                        <a:rPr lang="en-US" sz="1400" b="1" dirty="0"/>
                        <a:t>Artificial intelligence uses LLB to communicate with us.</a:t>
                      </a:r>
                    </a:p>
                    <a:p>
                      <a:r>
                        <a:rPr lang="en-US" sz="1400" b="1" dirty="0"/>
                        <a:t>(75%)</a:t>
                      </a:r>
                    </a:p>
                  </a:txBody>
                  <a:tcPr/>
                </a:tc>
                <a:tc vMerge="1">
                  <a:txBody>
                    <a:bodyPr/>
                    <a:lstStyle/>
                    <a:p>
                      <a:endParaRPr lang="en-US"/>
                    </a:p>
                  </a:txBody>
                  <a:tcPr/>
                </a:tc>
                <a:extLst>
                  <a:ext uri="{0D108BD9-81ED-4DB2-BD59-A6C34878D82A}">
                    <a16:rowId xmlns:a16="http://schemas.microsoft.com/office/drawing/2014/main" val="10003"/>
                  </a:ext>
                </a:extLst>
              </a:tr>
              <a:tr h="718686">
                <a:tc rowSpan="3">
                  <a:txBody>
                    <a:bodyPr/>
                    <a:lstStyle/>
                    <a:p>
                      <a:r>
                        <a:rPr lang="en-US" sz="1400" b="1" dirty="0"/>
                        <a:t>5.</a:t>
                      </a:r>
                    </a:p>
                  </a:txBody>
                  <a:tcPr/>
                </a:tc>
                <a:tc rowSpan="3">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Heavy traffic</a:t>
                      </a:r>
                    </a:p>
                    <a:p>
                      <a:endParaRPr lang="en-US" sz="1400" b="1" dirty="0"/>
                    </a:p>
                  </a:txBody>
                  <a:tcPr/>
                </a:tc>
                <a:tc rowSpan="3">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Speech Recognition converts spoken words in to text.</a:t>
                      </a:r>
                    </a:p>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(English)</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1.Google Doc</a:t>
                      </a:r>
                    </a:p>
                    <a:p>
                      <a:endParaRPr lang="en-US" sz="1400" b="1" dirty="0"/>
                    </a:p>
                  </a:txBody>
                  <a:tcPr/>
                </a:tc>
                <a:tc>
                  <a:txBody>
                    <a:bodyPr/>
                    <a:lstStyle/>
                    <a:p>
                      <a:r>
                        <a:rPr lang="en-US" sz="1400" b="1" dirty="0"/>
                        <a:t>This page recognition converts spoken words into case.</a:t>
                      </a:r>
                    </a:p>
                    <a:p>
                      <a:r>
                        <a:rPr lang="en-US" sz="1400" b="1" dirty="0"/>
                        <a:t>(60%)</a:t>
                      </a:r>
                    </a:p>
                  </a:txBody>
                  <a:tcPr/>
                </a:tc>
                <a:tc rowSpan="3">
                  <a:txBody>
                    <a:bodyPr/>
                    <a:lstStyle/>
                    <a:p>
                      <a:r>
                        <a:rPr lang="en-US" sz="1400" b="1" dirty="0"/>
                        <a:t> All tools experienced significant truncation and word substitution at the beginning and end of the phrase. Windows Voice performed slightly better overall.</a:t>
                      </a:r>
                    </a:p>
                  </a:txBody>
                  <a:tcPr/>
                </a:tc>
                <a:extLst>
                  <a:ext uri="{0D108BD9-81ED-4DB2-BD59-A6C34878D82A}">
                    <a16:rowId xmlns:a16="http://schemas.microsoft.com/office/drawing/2014/main" val="10004"/>
                  </a:ext>
                </a:extLst>
              </a:tr>
              <a:tr h="68275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2. Microsoft Voice Typing</a:t>
                      </a:r>
                    </a:p>
                    <a:p>
                      <a:endParaRPr lang="en-US" sz="1400" b="1" dirty="0"/>
                    </a:p>
                  </a:txBody>
                  <a:tcPr/>
                </a:tc>
                <a:tc>
                  <a:txBody>
                    <a:bodyPr/>
                    <a:lstStyle/>
                    <a:p>
                      <a:r>
                        <a:rPr lang="en-US" sz="1400" b="1" dirty="0"/>
                        <a:t>Is recognitions Converse spoken words into text.</a:t>
                      </a:r>
                    </a:p>
                    <a:p>
                      <a:br>
                        <a:rPr lang="en-US" sz="1400" b="1" dirty="0"/>
                      </a:br>
                      <a:r>
                        <a:rPr lang="en-US" sz="1400" b="1" dirty="0"/>
                        <a:t>(65%)</a:t>
                      </a:r>
                    </a:p>
                    <a:p>
                      <a:endParaRPr lang="en-US" sz="1400" b="1" dirty="0"/>
                    </a:p>
                  </a:txBody>
                  <a:tcPr/>
                </a:tc>
                <a:tc vMerge="1">
                  <a:txBody>
                    <a:bodyPr/>
                    <a:lstStyle/>
                    <a:p>
                      <a:endParaRPr lang="en-US"/>
                    </a:p>
                  </a:txBody>
                  <a:tcPr/>
                </a:tc>
                <a:extLst>
                  <a:ext uri="{0D108BD9-81ED-4DB2-BD59-A6C34878D82A}">
                    <a16:rowId xmlns:a16="http://schemas.microsoft.com/office/drawing/2014/main" val="10005"/>
                  </a:ext>
                </a:extLst>
              </a:tr>
              <a:tr h="78028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dirty="0"/>
                        <a:t>3.Apple Dictation</a:t>
                      </a:r>
                    </a:p>
                    <a:p>
                      <a:endParaRPr lang="en-US" sz="1400" b="1" dirty="0"/>
                    </a:p>
                  </a:txBody>
                  <a:tcPr/>
                </a:tc>
                <a:tc>
                  <a:txBody>
                    <a:bodyPr/>
                    <a:lstStyle/>
                    <a:p>
                      <a:r>
                        <a:rPr lang="en-US" sz="1400" b="1" dirty="0"/>
                        <a:t>recognition conference spoken words into k.</a:t>
                      </a:r>
                    </a:p>
                    <a:p>
                      <a:br>
                        <a:rPr lang="en-US" sz="1400" b="1" dirty="0"/>
                      </a:br>
                      <a:r>
                        <a:rPr lang="en-US" sz="1400" b="1" dirty="0"/>
                        <a:t>(45%)</a:t>
                      </a:r>
                    </a:p>
                    <a:p>
                      <a:endParaRPr lang="en-US" sz="1400" b="1" dirty="0"/>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6" name="Rectangle 5"/>
          <p:cNvSpPr/>
          <p:nvPr/>
        </p:nvSpPr>
        <p:spPr>
          <a:xfrm>
            <a:off x="377410" y="254643"/>
            <a:ext cx="3913635" cy="523220"/>
          </a:xfrm>
          <a:prstGeom prst="rect">
            <a:avLst/>
          </a:prstGeom>
        </p:spPr>
        <p:txBody>
          <a:bodyPr wrap="none">
            <a:spAutoFit/>
          </a:bodyPr>
          <a:lstStyle/>
          <a:p>
            <a:pPr>
              <a:defRPr sz="2800" b="1">
                <a:solidFill>
                  <a:srgbClr val="1F3864"/>
                </a:solidFill>
              </a:defRPr>
            </a:pPr>
            <a:r>
              <a:rPr lang="en-US" dirty="0"/>
              <a:t>STT Results: Samples 4–5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pPr>
              <a:defRPr sz="2800" b="1">
                <a:solidFill>
                  <a:srgbClr val="1F3864"/>
                </a:solidFill>
              </a:defRPr>
            </a:pPr>
            <a:r>
              <a:t>STT Analysis &amp; Problems</a:t>
            </a:r>
          </a:p>
        </p:txBody>
      </p:sp>
      <p:sp>
        <p:nvSpPr>
          <p:cNvPr id="3" name="TextBox 2"/>
          <p:cNvSpPr txBox="1"/>
          <p:nvPr/>
        </p:nvSpPr>
        <p:spPr>
          <a:xfrm>
            <a:off x="731520" y="1234440"/>
            <a:ext cx="10789920" cy="3447098"/>
          </a:xfrm>
          <a:prstGeom prst="rect">
            <a:avLst/>
          </a:prstGeom>
          <a:noFill/>
        </p:spPr>
        <p:txBody>
          <a:bodyPr wrap="square">
            <a:spAutoFit/>
          </a:bodyPr>
          <a:lstStyle/>
          <a:p>
            <a:pPr>
              <a:spcAft>
                <a:spcPts val="1000"/>
              </a:spcAft>
              <a:defRPr sz="1800">
                <a:solidFill>
                  <a:srgbClr val="232323"/>
                </a:solidFill>
              </a:defRPr>
            </a:pPr>
            <a:r>
              <a:rPr sz="2400" dirty="0"/>
              <a:t>• Higher background noise generally reduced recognition accuracy.</a:t>
            </a:r>
          </a:p>
          <a:p>
            <a:pPr>
              <a:spcAft>
                <a:spcPts val="1000"/>
              </a:spcAft>
              <a:defRPr sz="1800">
                <a:solidFill>
                  <a:srgbClr val="232323"/>
                </a:solidFill>
              </a:defRPr>
            </a:pPr>
            <a:r>
              <a:rPr sz="2400" dirty="0"/>
              <a:t>• Long sentences produced more errors than short sentences.</a:t>
            </a:r>
          </a:p>
          <a:p>
            <a:pPr>
              <a:spcAft>
                <a:spcPts val="1000"/>
              </a:spcAft>
              <a:defRPr sz="1800">
                <a:solidFill>
                  <a:srgbClr val="232323"/>
                </a:solidFill>
              </a:defRPr>
            </a:pPr>
            <a:r>
              <a:rPr sz="2400" dirty="0"/>
              <a:t>• Traffic and machine noise caused some words to be missed.</a:t>
            </a:r>
          </a:p>
          <a:p>
            <a:pPr>
              <a:spcAft>
                <a:spcPts val="1000"/>
              </a:spcAft>
              <a:defRPr sz="1800">
                <a:solidFill>
                  <a:srgbClr val="232323"/>
                </a:solidFill>
              </a:defRPr>
            </a:pPr>
            <a:r>
              <a:rPr sz="2400" dirty="0"/>
              <a:t>• Fast speech can make word recognition more difficult.</a:t>
            </a:r>
          </a:p>
          <a:p>
            <a:pPr>
              <a:spcAft>
                <a:spcPts val="1000"/>
              </a:spcAft>
              <a:defRPr sz="1800">
                <a:solidFill>
                  <a:srgbClr val="232323"/>
                </a:solidFill>
              </a:defRPr>
            </a:pPr>
            <a:r>
              <a:rPr sz="2400" dirty="0"/>
              <a:t>• Punctuation may not always appear in generated text.</a:t>
            </a:r>
          </a:p>
          <a:p>
            <a:pPr>
              <a:spcAft>
                <a:spcPts val="1000"/>
              </a:spcAft>
              <a:defRPr sz="1800">
                <a:solidFill>
                  <a:srgbClr val="232323"/>
                </a:solidFill>
              </a:defRPr>
            </a:pPr>
            <a:r>
              <a:rPr sz="2400" dirty="0"/>
              <a:t>• Language, pronunciation, microphone quality, and speaking style can affect output.</a:t>
            </a:r>
          </a:p>
          <a:p>
            <a:pPr>
              <a:spcAft>
                <a:spcPts val="1000"/>
              </a:spcAft>
              <a:defRPr sz="1800">
                <a:solidFill>
                  <a:srgbClr val="232323"/>
                </a:solidFill>
              </a:defRPr>
            </a:pPr>
            <a:r>
              <a:rPr sz="2400" dirty="0"/>
              <a:t>• Quiet-room sample achieved 100% accuracy.</a:t>
            </a:r>
          </a:p>
        </p:txBody>
      </p:sp>
      <p:sp>
        <p:nvSpPr>
          <p:cNvPr id="4" name="Rectangle 3"/>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8</a:t>
            </a:r>
            <a:endParaRPr/>
          </a:p>
        </p:txBody>
      </p:sp>
    </p:spTree>
    <p:extLst>
      <p:ext uri="{BB962C8B-B14F-4D97-AF65-F5344CB8AC3E}">
        <p14:creationId xmlns:p14="http://schemas.microsoft.com/office/powerpoint/2010/main" val="3911427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5611921" cy="523220"/>
          </a:xfrm>
          <a:prstGeom prst="rect">
            <a:avLst/>
          </a:prstGeom>
          <a:noFill/>
        </p:spPr>
        <p:txBody>
          <a:bodyPr wrap="none">
            <a:spAutoFit/>
          </a:bodyPr>
          <a:lstStyle/>
          <a:p>
            <a:r>
              <a:rPr lang="en-US" sz="2800" b="1" dirty="0">
                <a:solidFill>
                  <a:srgbClr val="1F3864"/>
                </a:solidFill>
              </a:rPr>
              <a:t>3. Speech Synthesis (Text-to-Speech)</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9</a:t>
            </a:r>
            <a:endParaRPr lang="en-US" sz="1000" dirty="0">
              <a:solidFill>
                <a:srgbClr val="646464"/>
              </a:solidFill>
            </a:endParaRPr>
          </a:p>
        </p:txBody>
      </p:sp>
      <p:sp>
        <p:nvSpPr>
          <p:cNvPr id="5" name="TextBox 4"/>
          <p:cNvSpPr txBox="1"/>
          <p:nvPr/>
        </p:nvSpPr>
        <p:spPr>
          <a:xfrm>
            <a:off x="731520" y="1079500"/>
            <a:ext cx="10789920" cy="369332"/>
          </a:xfrm>
          <a:prstGeom prst="rect">
            <a:avLst/>
          </a:prstGeom>
          <a:noFill/>
        </p:spPr>
        <p:txBody>
          <a:bodyPr wrap="square">
            <a:spAutoFit/>
          </a:bodyPr>
          <a:lstStyle/>
          <a:p>
            <a:pPr marL="285750" indent="-285750">
              <a:buFont typeface="Arial"/>
              <a:buChar char="•"/>
            </a:pPr>
            <a:r>
              <a:rPr lang="en-US" sz="1800" b="0" dirty="0"/>
              <a:t>TTS converts written text into spoken audio using neural synthesis pipelines.</a:t>
            </a:r>
          </a:p>
        </p:txBody>
      </p:sp>
      <p:sp>
        <p:nvSpPr>
          <p:cNvPr id="20" name="Process Step 1"/>
          <p:cNvSpPr/>
          <p:nvPr/>
        </p:nvSpPr>
        <p:spPr>
          <a:xfrm>
            <a:off x="731520" y="1676400"/>
            <a:ext cx="2300000" cy="609600"/>
          </a:xfrm>
          <a:prstGeom prst="homePlate">
            <a:avLst>
              <a:gd name="adj" fmla="val 30000"/>
            </a:avLst>
          </a:prstGeom>
          <a:solidFill>
            <a:srgbClr val="1F3864"/>
          </a:solidFill>
          <a:ln>
            <a:noFill/>
          </a:ln>
        </p:spPr>
        <p:txBody>
          <a:bodyPr wrap="square" lIns="91440" tIns="0" rIns="100000" bIns="0" rtlCol="0" anchor="ctr">
            <a:noAutofit/>
          </a:bodyPr>
          <a:lstStyle/>
          <a:p>
            <a:pPr algn="ctr"/>
            <a:r>
              <a:rPr lang="en-US" sz="1600" b="1" dirty="0">
                <a:solidFill>
                  <a:srgbClr val="FFFFFF"/>
                </a:solidFill>
              </a:rPr>
              <a:t>Text Analysis</a:t>
            </a:r>
          </a:p>
        </p:txBody>
      </p:sp>
      <p:sp>
        <p:nvSpPr>
          <p:cNvPr id="21" name="Process Step 2"/>
          <p:cNvSpPr/>
          <p:nvPr/>
        </p:nvSpPr>
        <p:spPr>
          <a:xfrm>
            <a:off x="2854000" y="1676400"/>
            <a:ext cx="2300000" cy="609600"/>
          </a:xfrm>
          <a:prstGeom prst="chevron">
            <a:avLst>
              <a:gd name="adj" fmla="val 30000"/>
            </a:avLst>
          </a:prstGeom>
          <a:solidFill>
            <a:srgbClr val="1F3864"/>
          </a:solidFill>
          <a:ln>
            <a:noFill/>
          </a:ln>
        </p:spPr>
        <p:txBody>
          <a:bodyPr wrap="square" lIns="190000" tIns="0" rIns="100000" bIns="0" rtlCol="0" anchor="ctr">
            <a:noAutofit/>
          </a:bodyPr>
          <a:lstStyle/>
          <a:p>
            <a:pPr algn="ctr"/>
            <a:r>
              <a:rPr lang="en-US" sz="1600" b="1" dirty="0">
                <a:solidFill>
                  <a:srgbClr val="FFFFFF"/>
                </a:solidFill>
              </a:rPr>
              <a:t>Linguistic Processing</a:t>
            </a:r>
          </a:p>
        </p:txBody>
      </p:sp>
      <p:sp>
        <p:nvSpPr>
          <p:cNvPr id="22" name="Process Step 3"/>
          <p:cNvSpPr/>
          <p:nvPr/>
        </p:nvSpPr>
        <p:spPr>
          <a:xfrm>
            <a:off x="4976480" y="1676400"/>
            <a:ext cx="2300000" cy="609600"/>
          </a:xfrm>
          <a:prstGeom prst="chevron">
            <a:avLst>
              <a:gd name="adj" fmla="val 30000"/>
            </a:avLst>
          </a:prstGeom>
          <a:solidFill>
            <a:srgbClr val="1F3864"/>
          </a:solidFill>
          <a:ln>
            <a:noFill/>
          </a:ln>
        </p:spPr>
        <p:txBody>
          <a:bodyPr wrap="square" lIns="190000" tIns="0" rIns="100000" bIns="0" rtlCol="0" anchor="ctr">
            <a:noAutofit/>
          </a:bodyPr>
          <a:lstStyle/>
          <a:p>
            <a:pPr algn="ctr"/>
            <a:r>
              <a:rPr lang="en-US" sz="1600" b="1" dirty="0">
                <a:solidFill>
                  <a:srgbClr val="FFFFFF"/>
                </a:solidFill>
              </a:rPr>
              <a:t>Phoneme Generation</a:t>
            </a:r>
          </a:p>
        </p:txBody>
      </p:sp>
      <p:sp>
        <p:nvSpPr>
          <p:cNvPr id="23" name="Process Step 4"/>
          <p:cNvSpPr/>
          <p:nvPr/>
        </p:nvSpPr>
        <p:spPr>
          <a:xfrm>
            <a:off x="7098960" y="1676400"/>
            <a:ext cx="2300000" cy="609600"/>
          </a:xfrm>
          <a:prstGeom prst="chevron">
            <a:avLst>
              <a:gd name="adj" fmla="val 30000"/>
            </a:avLst>
          </a:prstGeom>
          <a:solidFill>
            <a:srgbClr val="1F3864"/>
          </a:solidFill>
          <a:ln>
            <a:noFill/>
          </a:ln>
        </p:spPr>
        <p:txBody>
          <a:bodyPr wrap="square" lIns="190000" tIns="0" rIns="100000" bIns="0" rtlCol="0" anchor="ctr">
            <a:noAutofit/>
          </a:bodyPr>
          <a:lstStyle/>
          <a:p>
            <a:pPr algn="ctr"/>
            <a:r>
              <a:rPr lang="en-US" sz="1600" b="1" dirty="0">
                <a:solidFill>
                  <a:srgbClr val="FFFFFF"/>
                </a:solidFill>
              </a:rPr>
              <a:t>Prosody Modeling</a:t>
            </a:r>
          </a:p>
        </p:txBody>
      </p:sp>
      <p:sp>
        <p:nvSpPr>
          <p:cNvPr id="24" name="Process Step 5"/>
          <p:cNvSpPr/>
          <p:nvPr/>
        </p:nvSpPr>
        <p:spPr>
          <a:xfrm>
            <a:off x="9221440" y="1676400"/>
            <a:ext cx="2300000" cy="609600"/>
          </a:xfrm>
          <a:prstGeom prst="chevron">
            <a:avLst>
              <a:gd name="adj" fmla="val 30000"/>
            </a:avLst>
          </a:prstGeom>
          <a:solidFill>
            <a:srgbClr val="1F3864"/>
          </a:solidFill>
          <a:ln>
            <a:noFill/>
          </a:ln>
        </p:spPr>
        <p:txBody>
          <a:bodyPr wrap="square" lIns="190000" tIns="0" rIns="100000" bIns="0" rtlCol="0" anchor="ctr">
            <a:noAutofit/>
          </a:bodyPr>
          <a:lstStyle/>
          <a:p>
            <a:pPr algn="ctr"/>
            <a:r>
              <a:rPr lang="en-US" sz="1600" b="1" dirty="0">
                <a:solidFill>
                  <a:srgbClr val="FFFFFF"/>
                </a:solidFill>
              </a:rPr>
              <a:t>Waveform</a:t>
            </a:r>
          </a:p>
        </p:txBody>
      </p:sp>
      <p:sp>
        <p:nvSpPr>
          <p:cNvPr id="30" name="TextBox Tools"/>
          <p:cNvSpPr txBox="1"/>
          <p:nvPr/>
        </p:nvSpPr>
        <p:spPr>
          <a:xfrm>
            <a:off x="731520" y="2438400"/>
            <a:ext cx="10789920" cy="369332"/>
          </a:xfrm>
          <a:prstGeom prst="rect">
            <a:avLst/>
          </a:prstGeom>
          <a:noFill/>
        </p:spPr>
        <p:txBody>
          <a:bodyPr wrap="square">
            <a:spAutoFit/>
          </a:bodyPr>
          <a:lstStyle/>
          <a:p>
            <a:pPr marL="285750" indent="-285750">
              <a:buFont typeface="Arial"/>
              <a:buChar char="•"/>
            </a:pPr>
            <a:r>
              <a:rPr lang="en-US" sz="1800" b="0" dirty="0"/>
              <a:t>Three free tools tested, all supporting English, Bangla, and Hindi:</a:t>
            </a:r>
          </a:p>
        </p:txBody>
      </p:sp>
      <p:graphicFrame>
        <p:nvGraphicFramePr>
          <p:cNvPr id="6" name="Table 5"/>
          <p:cNvGraphicFramePr>
            <a:graphicFrameLocks noGrp="1"/>
          </p:cNvGraphicFramePr>
          <p:nvPr/>
        </p:nvGraphicFramePr>
        <p:xfrm>
          <a:off x="731520" y="2946400"/>
          <a:ext cx="10789920" cy="1930400"/>
        </p:xfrm>
        <a:graphic>
          <a:graphicData uri="http://schemas.openxmlformats.org/drawingml/2006/table">
            <a:tbl>
              <a:tblPr firstRow="1" bandRow="1">
                <a:tableStyleId>{5C22544A-7EE6-4342-B048-85BDC9FD1C3A}</a:tableStyleId>
              </a:tblPr>
              <a:tblGrid>
                <a:gridCol w="2900000">
                  <a:extLst>
                    <a:ext uri="{9D8B030D-6E8A-4147-A177-3AD203B41FA5}">
                      <a16:colId xmlns:a16="http://schemas.microsoft.com/office/drawing/2014/main" val="20000"/>
                    </a:ext>
                  </a:extLst>
                </a:gridCol>
                <a:gridCol w="39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2689920">
                  <a:extLst>
                    <a:ext uri="{9D8B030D-6E8A-4147-A177-3AD203B41FA5}">
                      <a16:colId xmlns:a16="http://schemas.microsoft.com/office/drawing/2014/main" val="20003"/>
                    </a:ext>
                  </a:extLst>
                </a:gridCol>
              </a:tblGrid>
              <a:tr h="482600">
                <a:tc>
                  <a:txBody>
                    <a:bodyPr/>
                    <a:lstStyle/>
                    <a:p>
                      <a:r>
                        <a:rPr sz="1600" b="1" dirty="0">
                          <a:solidFill>
                            <a:srgbClr val="FFFFFF"/>
                          </a:solidFill>
                        </a:rPr>
                        <a:t>Tool</a:t>
                      </a:r>
                    </a:p>
                  </a:txBody>
                  <a:tcPr anchor="ctr">
                    <a:solidFill>
                      <a:srgbClr val="1F3864"/>
                    </a:solidFill>
                  </a:tcPr>
                </a:tc>
                <a:tc>
                  <a:txBody>
                    <a:bodyPr/>
                    <a:lstStyle/>
                    <a:p>
                      <a:r>
                        <a:rPr sz="1600" b="1">
                          <a:solidFill>
                            <a:srgbClr val="FFFFFF"/>
                          </a:solidFill>
                        </a:rPr>
                        <a:t>Type</a:t>
                      </a:r>
                    </a:p>
                  </a:txBody>
                  <a:tcPr anchor="ctr">
                    <a:solidFill>
                      <a:srgbClr val="1F3864"/>
                    </a:solidFill>
                  </a:tcPr>
                </a:tc>
                <a:tc>
                  <a:txBody>
                    <a:bodyPr/>
                    <a:lstStyle/>
                    <a:p>
                      <a:r>
                        <a:rPr sz="1600" b="1" dirty="0">
                          <a:solidFill>
                            <a:srgbClr val="FFFFFF"/>
                          </a:solidFill>
                        </a:rPr>
                        <a:t>Offline</a:t>
                      </a:r>
                    </a:p>
                  </a:txBody>
                  <a:tcPr anchor="ctr">
                    <a:solidFill>
                      <a:srgbClr val="1F3864"/>
                    </a:solidFill>
                  </a:tcPr>
                </a:tc>
                <a:tc>
                  <a:txBody>
                    <a:bodyPr/>
                    <a:lstStyle/>
                    <a:p>
                      <a:r>
                        <a:rPr sz="1600" b="1">
                          <a:solidFill>
                            <a:srgbClr val="FFFFFF"/>
                          </a:solidFill>
                        </a:rPr>
                        <a:t>Languages</a:t>
                      </a:r>
                    </a:p>
                  </a:txBody>
                  <a:tcPr anchor="ctr">
                    <a:solidFill>
                      <a:srgbClr val="1F3864"/>
                    </a:solidFill>
                  </a:tcPr>
                </a:tc>
                <a:extLst>
                  <a:ext uri="{0D108BD9-81ED-4DB2-BD59-A6C34878D82A}">
                    <a16:rowId xmlns:a16="http://schemas.microsoft.com/office/drawing/2014/main" val="10000"/>
                  </a:ext>
                </a:extLst>
              </a:tr>
              <a:tr h="482600">
                <a:tc>
                  <a:txBody>
                    <a:bodyPr/>
                    <a:lstStyle/>
                    <a:p>
                      <a:r>
                        <a:rPr sz="1600" b="0"/>
                        <a:t>gTTS (Google)</a:t>
                      </a:r>
                    </a:p>
                  </a:txBody>
                  <a:tcPr anchor="ctr">
                    <a:solidFill>
                      <a:srgbClr val="FFFFFF"/>
                    </a:solidFill>
                  </a:tcPr>
                </a:tc>
                <a:tc>
                  <a:txBody>
                    <a:bodyPr/>
                    <a:lstStyle/>
                    <a:p>
                      <a:r>
                        <a:rPr sz="1600" b="0"/>
                        <a:t>Cloud neural (Google Translate TTS)</a:t>
                      </a:r>
                    </a:p>
                  </a:txBody>
                  <a:tcPr anchor="ctr">
                    <a:solidFill>
                      <a:srgbClr val="FFFFFF"/>
                    </a:solidFill>
                  </a:tcPr>
                </a:tc>
                <a:tc>
                  <a:txBody>
                    <a:bodyPr/>
                    <a:lstStyle/>
                    <a:p>
                      <a:r>
                        <a:rPr sz="1600" b="0"/>
                        <a:t>No</a:t>
                      </a:r>
                    </a:p>
                  </a:txBody>
                  <a:tcPr anchor="ctr">
                    <a:solidFill>
                      <a:srgbClr val="FFFFFF"/>
                    </a:solidFill>
                  </a:tcPr>
                </a:tc>
                <a:tc>
                  <a:txBody>
                    <a:bodyPr/>
                    <a:lstStyle/>
                    <a:p>
                      <a:r>
                        <a:rPr sz="1600" b="0"/>
                        <a:t>English, Bangla, Hindi</a:t>
                      </a:r>
                    </a:p>
                  </a:txBody>
                  <a:tcPr anchor="ctr">
                    <a:solidFill>
                      <a:srgbClr val="FFFFFF"/>
                    </a:solidFill>
                  </a:tcPr>
                </a:tc>
                <a:extLst>
                  <a:ext uri="{0D108BD9-81ED-4DB2-BD59-A6C34878D82A}">
                    <a16:rowId xmlns:a16="http://schemas.microsoft.com/office/drawing/2014/main" val="10001"/>
                  </a:ext>
                </a:extLst>
              </a:tr>
              <a:tr h="482600">
                <a:tc>
                  <a:txBody>
                    <a:bodyPr/>
                    <a:lstStyle/>
                    <a:p>
                      <a:r>
                        <a:rPr sz="1600" b="0"/>
                        <a:t>edge-tts (Microsoft)</a:t>
                      </a:r>
                    </a:p>
                  </a:txBody>
                  <a:tcPr anchor="ctr">
                    <a:solidFill>
                      <a:srgbClr val="E8F0FE"/>
                    </a:solidFill>
                  </a:tcPr>
                </a:tc>
                <a:tc>
                  <a:txBody>
                    <a:bodyPr/>
                    <a:lstStyle/>
                    <a:p>
                      <a:r>
                        <a:rPr sz="1600" b="0"/>
                        <a:t>Cloud neural (Edge TTS voices)</a:t>
                      </a:r>
                    </a:p>
                  </a:txBody>
                  <a:tcPr anchor="ctr">
                    <a:solidFill>
                      <a:srgbClr val="E8F0FE"/>
                    </a:solidFill>
                  </a:tcPr>
                </a:tc>
                <a:tc>
                  <a:txBody>
                    <a:bodyPr/>
                    <a:lstStyle/>
                    <a:p>
                      <a:r>
                        <a:rPr sz="1600" b="0"/>
                        <a:t>No</a:t>
                      </a:r>
                    </a:p>
                  </a:txBody>
                  <a:tcPr anchor="ctr">
                    <a:solidFill>
                      <a:srgbClr val="E8F0FE"/>
                    </a:solidFill>
                  </a:tcPr>
                </a:tc>
                <a:tc>
                  <a:txBody>
                    <a:bodyPr/>
                    <a:lstStyle/>
                    <a:p>
                      <a:r>
                        <a:rPr sz="1600" b="0"/>
                        <a:t>English, Bangla, Hindi</a:t>
                      </a:r>
                    </a:p>
                  </a:txBody>
                  <a:tcPr anchor="ctr">
                    <a:solidFill>
                      <a:srgbClr val="E8F0FE"/>
                    </a:solidFill>
                  </a:tcPr>
                </a:tc>
                <a:extLst>
                  <a:ext uri="{0D108BD9-81ED-4DB2-BD59-A6C34878D82A}">
                    <a16:rowId xmlns:a16="http://schemas.microsoft.com/office/drawing/2014/main" val="10002"/>
                  </a:ext>
                </a:extLst>
              </a:tr>
              <a:tr h="482600">
                <a:tc>
                  <a:txBody>
                    <a:bodyPr/>
                    <a:lstStyle/>
                    <a:p>
                      <a:r>
                        <a:rPr sz="1600" b="0"/>
                        <a:t>MMS-TTS (Facebook/Meta)</a:t>
                      </a:r>
                    </a:p>
                  </a:txBody>
                  <a:tcPr anchor="ctr">
                    <a:solidFill>
                      <a:srgbClr val="FFFFFF"/>
                    </a:solidFill>
                  </a:tcPr>
                </a:tc>
                <a:tc>
                  <a:txBody>
                    <a:bodyPr/>
                    <a:lstStyle/>
                    <a:p>
                      <a:r>
                        <a:rPr sz="1600" b="0"/>
                        <a:t>Offline VITS model (HuggingFace)</a:t>
                      </a:r>
                    </a:p>
                  </a:txBody>
                  <a:tcPr anchor="ctr">
                    <a:solidFill>
                      <a:srgbClr val="FFFFFF"/>
                    </a:solidFill>
                  </a:tcPr>
                </a:tc>
                <a:tc>
                  <a:txBody>
                    <a:bodyPr/>
                    <a:lstStyle/>
                    <a:p>
                      <a:r>
                        <a:rPr sz="1600" b="0"/>
                        <a:t>Yes</a:t>
                      </a:r>
                    </a:p>
                  </a:txBody>
                  <a:tcPr anchor="ctr">
                    <a:solidFill>
                      <a:srgbClr val="FFFFFF"/>
                    </a:solidFill>
                  </a:tcPr>
                </a:tc>
                <a:tc>
                  <a:txBody>
                    <a:bodyPr/>
                    <a:lstStyle/>
                    <a:p>
                      <a:r>
                        <a:rPr sz="1600" b="0" dirty="0"/>
                        <a:t>English, Bangla, Hindi</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31520" y="5029200"/>
            <a:ext cx="10789920" cy="1038746"/>
          </a:xfrm>
          <a:prstGeom prst="rect">
            <a:avLst/>
          </a:prstGeom>
          <a:noFill/>
        </p:spPr>
        <p:txBody>
          <a:bodyPr wrap="square">
            <a:spAutoFit/>
          </a:bodyPr>
          <a:lstStyle/>
          <a:p>
            <a:pPr marL="285750" indent="-285750">
              <a:buFont typeface="Arial"/>
              <a:buChar char="•"/>
            </a:pPr>
            <a:r>
              <a:rPr lang="en-US" sz="1800" b="0" dirty="0"/>
              <a:t>Easy sentences score near 100% on most tools. 15 deliberately hard-to-pronounce sentences expose genuine quality differences.</a:t>
            </a:r>
          </a:p>
          <a:p>
            <a:pPr marL="285750" indent="-285750">
              <a:spcBef>
                <a:spcPts val="900"/>
              </a:spcBef>
              <a:buFont typeface="Arial"/>
              <a:buChar char="•"/>
            </a:pPr>
            <a:r>
              <a:rPr lang="en-US" sz="1800" b="0" dirty="0"/>
              <a:t>Uses: accessibility features, audiobooks, voice navigation, human-computer interaction.</a:t>
            </a:r>
          </a:p>
        </p:txBody>
      </p:sp>
    </p:spTree>
    <p:extLst>
      <p:ext uri="{BB962C8B-B14F-4D97-AF65-F5344CB8AC3E}">
        <p14:creationId xmlns:p14="http://schemas.microsoft.com/office/powerpoint/2010/main" val="1101992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6357510" cy="523220"/>
          </a:xfrm>
          <a:prstGeom prst="rect">
            <a:avLst/>
          </a:prstGeom>
          <a:noFill/>
        </p:spPr>
        <p:txBody>
          <a:bodyPr wrap="none">
            <a:spAutoFit/>
          </a:bodyPr>
          <a:lstStyle/>
          <a:p>
            <a:r>
              <a:rPr lang="en-US" sz="2800" b="1" dirty="0">
                <a:solidFill>
                  <a:srgbClr val="1F3864"/>
                </a:solidFill>
              </a:rPr>
              <a:t>TTS Practical Experiment — Methodology</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10</a:t>
            </a:r>
            <a:endParaRPr lang="en-US" sz="1000" dirty="0">
              <a:solidFill>
                <a:srgbClr val="646464"/>
              </a:solidFill>
            </a:endParaRPr>
          </a:p>
        </p:txBody>
      </p:sp>
      <p:sp>
        <p:nvSpPr>
          <p:cNvPr id="10" name="Header Verification"/>
          <p:cNvSpPr txBox="1"/>
          <p:nvPr/>
        </p:nvSpPr>
        <p:spPr>
          <a:xfrm>
            <a:off x="731520" y="1016000"/>
            <a:ext cx="10789920" cy="406400"/>
          </a:xfrm>
          <a:prstGeom prst="rect">
            <a:avLst/>
          </a:prstGeom>
          <a:noFill/>
          <a:ln>
            <a:noFill/>
          </a:ln>
        </p:spPr>
        <p:txBody>
          <a:bodyPr wrap="square" lIns="0" tIns="45720" rIns="91440" bIns="45720" rtlCol="0" anchor="t">
            <a:spAutoFit/>
          </a:bodyPr>
          <a:lstStyle/>
          <a:p>
            <a:pPr algn="l"/>
            <a:r>
              <a:rPr lang="en-US" sz="2000" b="1" dirty="0">
                <a:solidFill>
                  <a:srgbClr val="1F3864"/>
                </a:solidFill>
              </a:rPr>
              <a:t>Verification: round-trip accuracy</a:t>
            </a:r>
          </a:p>
        </p:txBody>
      </p:sp>
      <p:sp>
        <p:nvSpPr>
          <p:cNvPr id="11" name="Flow Step 1"/>
          <p:cNvSpPr/>
          <p:nvPr/>
        </p:nvSpPr>
        <p:spPr>
          <a:xfrm>
            <a:off x="731520" y="1524000"/>
            <a:ext cx="3800000" cy="660400"/>
          </a:xfrm>
          <a:prstGeom prst="homePlate">
            <a:avLst>
              <a:gd name="adj" fmla="val 30000"/>
            </a:avLst>
          </a:prstGeom>
          <a:solidFill>
            <a:srgbClr val="1F3864"/>
          </a:solidFill>
          <a:ln w="38100">
            <a:solidFill>
              <a:srgbClr val="FFFFFF"/>
            </a:solidFill>
          </a:ln>
        </p:spPr>
        <p:txBody>
          <a:bodyPr wrap="square" lIns="91440" tIns="0" rIns="91440" bIns="0" rtlCol="0" anchor="ctr">
            <a:noAutofit/>
          </a:bodyPr>
          <a:lstStyle/>
          <a:p>
            <a:pPr algn="ctr"/>
            <a:r>
              <a:rPr lang="en-US" sz="1600" b="1" dirty="0">
                <a:solidFill>
                  <a:srgbClr val="FFFFFF"/>
                </a:solidFill>
              </a:rPr>
              <a:t>TTS audio output</a:t>
            </a:r>
          </a:p>
        </p:txBody>
      </p:sp>
      <p:sp>
        <p:nvSpPr>
          <p:cNvPr id="12" name="Flow Step 2"/>
          <p:cNvSpPr/>
          <p:nvPr/>
        </p:nvSpPr>
        <p:spPr>
          <a:xfrm>
            <a:off x="4226480" y="1524000"/>
            <a:ext cx="3800000" cy="660400"/>
          </a:xfrm>
          <a:prstGeom prst="chevron">
            <a:avLst>
              <a:gd name="adj" fmla="val 30000"/>
            </a:avLst>
          </a:prstGeom>
          <a:solidFill>
            <a:srgbClr val="1F3864"/>
          </a:solidFill>
          <a:ln w="38100">
            <a:solidFill>
              <a:srgbClr val="FFFFFF"/>
            </a:solidFill>
          </a:ln>
        </p:spPr>
        <p:txBody>
          <a:bodyPr wrap="square" lIns="300000" tIns="0" rIns="300000" bIns="0" rtlCol="0" anchor="ctr">
            <a:noAutofit/>
          </a:bodyPr>
          <a:lstStyle/>
          <a:p>
            <a:pPr algn="ctr"/>
            <a:r>
              <a:rPr lang="en-US" sz="1600" b="1" dirty="0">
                <a:solidFill>
                  <a:srgbClr val="FFFFFF"/>
                </a:solidFill>
              </a:rPr>
              <a:t>faster-whisper (free offline ASR)</a:t>
            </a:r>
          </a:p>
        </p:txBody>
      </p:sp>
      <p:sp>
        <p:nvSpPr>
          <p:cNvPr id="13" name="Flow Step 3"/>
          <p:cNvSpPr/>
          <p:nvPr/>
        </p:nvSpPr>
        <p:spPr>
          <a:xfrm>
            <a:off x="7721440" y="1524000"/>
            <a:ext cx="3800000" cy="660400"/>
          </a:xfrm>
          <a:prstGeom prst="chevron">
            <a:avLst>
              <a:gd name="adj" fmla="val 30000"/>
            </a:avLst>
          </a:prstGeom>
          <a:solidFill>
            <a:srgbClr val="1F3864"/>
          </a:solidFill>
          <a:ln w="38100">
            <a:solidFill>
              <a:srgbClr val="FFFFFF"/>
            </a:solidFill>
          </a:ln>
        </p:spPr>
        <p:txBody>
          <a:bodyPr wrap="square" lIns="300000" tIns="0" rIns="300000" bIns="0" rtlCol="0" anchor="ctr">
            <a:noAutofit/>
          </a:bodyPr>
          <a:lstStyle/>
          <a:p>
            <a:pPr algn="ctr"/>
            <a:r>
              <a:rPr lang="en-US" sz="1600" b="1" dirty="0">
                <a:solidFill>
                  <a:srgbClr val="FFFFFF"/>
                </a:solidFill>
              </a:rPr>
              <a:t>Word-level score vs. input text</a:t>
            </a:r>
          </a:p>
        </p:txBody>
      </p:sp>
      <p:sp>
        <p:nvSpPr>
          <p:cNvPr id="14" name="Header Bangla"/>
          <p:cNvSpPr txBox="1"/>
          <p:nvPr/>
        </p:nvSpPr>
        <p:spPr>
          <a:xfrm>
            <a:off x="731520" y="2438400"/>
            <a:ext cx="10789920" cy="406400"/>
          </a:xfrm>
          <a:prstGeom prst="rect">
            <a:avLst/>
          </a:prstGeom>
          <a:noFill/>
          <a:ln>
            <a:noFill/>
          </a:ln>
        </p:spPr>
        <p:txBody>
          <a:bodyPr wrap="square" lIns="0" tIns="45720" rIns="91440" bIns="45720" rtlCol="0" anchor="t">
            <a:spAutoFit/>
          </a:bodyPr>
          <a:lstStyle/>
          <a:p>
            <a:pPr algn="l"/>
            <a:r>
              <a:rPr lang="en-US" sz="2000" b="1" dirty="0">
                <a:solidFill>
                  <a:srgbClr val="1F3864"/>
                </a:solidFill>
              </a:rPr>
              <a:t>Bangla needed special handling</a:t>
            </a:r>
          </a:p>
        </p:txBody>
      </p:sp>
      <p:sp>
        <p:nvSpPr>
          <p:cNvPr id="15" name="Label Problem"/>
          <p:cNvSpPr/>
          <p:nvPr/>
        </p:nvSpPr>
        <p:spPr>
          <a:xfrm>
            <a:off x="731520" y="2946400"/>
            <a:ext cx="1500000" cy="635000"/>
          </a:xfrm>
          <a:prstGeom prst="rect">
            <a:avLst/>
          </a:prstGeom>
          <a:solidFill>
            <a:srgbClr val="1F3864"/>
          </a:solidFill>
          <a:ln>
            <a:noFill/>
          </a:ln>
        </p:spPr>
        <p:txBody>
          <a:bodyPr wrap="square" lIns="0" tIns="0" rIns="0" bIns="0" rtlCol="0" anchor="ctr">
            <a:noAutofit/>
          </a:bodyPr>
          <a:lstStyle/>
          <a:p>
            <a:pPr algn="ctr"/>
            <a:r>
              <a:rPr lang="en-US" sz="1600" b="1" dirty="0">
                <a:solidFill>
                  <a:srgbClr val="FFFFFF"/>
                </a:solidFill>
              </a:rPr>
              <a:t>Problem</a:t>
            </a:r>
          </a:p>
        </p:txBody>
      </p:sp>
      <p:sp>
        <p:nvSpPr>
          <p:cNvPr id="16" name="Text Problem"/>
          <p:cNvSpPr/>
          <p:nvPr/>
        </p:nvSpPr>
        <p:spPr>
          <a:xfrm>
            <a:off x="2231520" y="2946400"/>
            <a:ext cx="9289920" cy="635000"/>
          </a:xfrm>
          <a:prstGeom prst="rect">
            <a:avLst/>
          </a:prstGeom>
          <a:solidFill>
            <a:srgbClr val="F2F2F2"/>
          </a:solidFill>
          <a:ln>
            <a:noFill/>
          </a:ln>
        </p:spPr>
        <p:txBody>
          <a:bodyPr wrap="square" lIns="152400" tIns="0" rIns="152400" bIns="0" rtlCol="0" anchor="ctr">
            <a:noAutofit/>
          </a:bodyPr>
          <a:lstStyle/>
          <a:p>
            <a:pPr algn="l"/>
            <a:r>
              <a:rPr lang="en-US" sz="1600" b="0" dirty="0">
                <a:solidFill>
                  <a:srgbClr val="000000"/>
                </a:solidFill>
              </a:rPr>
              <a:t>Generic Whisper transcribes Bangla audio in Devanagari (Hindi) script, scoring 0% against Bengali-script references even when the audio is correct.</a:t>
            </a:r>
          </a:p>
        </p:txBody>
      </p:sp>
      <p:sp>
        <p:nvSpPr>
          <p:cNvPr id="17" name="Label Root cause"/>
          <p:cNvSpPr/>
          <p:nvPr/>
        </p:nvSpPr>
        <p:spPr>
          <a:xfrm>
            <a:off x="731520" y="3759200"/>
            <a:ext cx="1500000" cy="635000"/>
          </a:xfrm>
          <a:prstGeom prst="rect">
            <a:avLst/>
          </a:prstGeom>
          <a:solidFill>
            <a:srgbClr val="1F3864"/>
          </a:solidFill>
          <a:ln>
            <a:noFill/>
          </a:ln>
        </p:spPr>
        <p:txBody>
          <a:bodyPr wrap="square" lIns="0" tIns="0" rIns="0" bIns="0" rtlCol="0" anchor="ctr">
            <a:noAutofit/>
          </a:bodyPr>
          <a:lstStyle/>
          <a:p>
            <a:pPr algn="ctr"/>
            <a:r>
              <a:rPr lang="en-US" sz="1600" b="1" dirty="0">
                <a:solidFill>
                  <a:srgbClr val="FFFFFF"/>
                </a:solidFill>
              </a:rPr>
              <a:t>Root cause</a:t>
            </a:r>
          </a:p>
        </p:txBody>
      </p:sp>
      <p:sp>
        <p:nvSpPr>
          <p:cNvPr id="18" name="Text Root cause"/>
          <p:cNvSpPr/>
          <p:nvPr/>
        </p:nvSpPr>
        <p:spPr>
          <a:xfrm>
            <a:off x="2231520" y="3759200"/>
            <a:ext cx="9289920" cy="635000"/>
          </a:xfrm>
          <a:prstGeom prst="rect">
            <a:avLst/>
          </a:prstGeom>
          <a:solidFill>
            <a:srgbClr val="F2F2F2"/>
          </a:solidFill>
          <a:ln>
            <a:noFill/>
          </a:ln>
        </p:spPr>
        <p:txBody>
          <a:bodyPr wrap="square" lIns="152400" tIns="0" rIns="152400" bIns="0" rtlCol="0" anchor="ctr">
            <a:noAutofit/>
          </a:bodyPr>
          <a:lstStyle/>
          <a:p>
            <a:pPr algn="l"/>
            <a:r>
              <a:rPr lang="en-US" sz="1600" b="0" dirty="0">
                <a:solidFill>
                  <a:srgbClr val="000000"/>
                </a:solidFill>
              </a:rPr>
              <a:t>Whisper detected the audio as Bangla with 96–100% language confidence, but wrote the wrong script, a known artifact.</a:t>
            </a:r>
          </a:p>
        </p:txBody>
      </p:sp>
      <p:sp>
        <p:nvSpPr>
          <p:cNvPr id="19" name="Label Fix"/>
          <p:cNvSpPr/>
          <p:nvPr/>
        </p:nvSpPr>
        <p:spPr>
          <a:xfrm>
            <a:off x="731520" y="4572000"/>
            <a:ext cx="1500000" cy="635000"/>
          </a:xfrm>
          <a:prstGeom prst="rect">
            <a:avLst/>
          </a:prstGeom>
          <a:solidFill>
            <a:srgbClr val="1F3864"/>
          </a:solidFill>
          <a:ln>
            <a:noFill/>
          </a:ln>
        </p:spPr>
        <p:txBody>
          <a:bodyPr wrap="square" lIns="0" tIns="0" rIns="0" bIns="0" rtlCol="0" anchor="ctr">
            <a:noAutofit/>
          </a:bodyPr>
          <a:lstStyle/>
          <a:p>
            <a:pPr algn="ctr"/>
            <a:r>
              <a:rPr lang="en-US" sz="1600" b="1" dirty="0">
                <a:solidFill>
                  <a:srgbClr val="FFFFFF"/>
                </a:solidFill>
              </a:rPr>
              <a:t>Fix</a:t>
            </a:r>
          </a:p>
        </p:txBody>
      </p:sp>
      <p:sp>
        <p:nvSpPr>
          <p:cNvPr id="20" name="Text Fix"/>
          <p:cNvSpPr/>
          <p:nvPr/>
        </p:nvSpPr>
        <p:spPr>
          <a:xfrm>
            <a:off x="2231520" y="4572000"/>
            <a:ext cx="9289920" cy="635000"/>
          </a:xfrm>
          <a:prstGeom prst="rect">
            <a:avLst/>
          </a:prstGeom>
          <a:solidFill>
            <a:srgbClr val="E8F0FE"/>
          </a:solidFill>
          <a:ln>
            <a:noFill/>
          </a:ln>
        </p:spPr>
        <p:txBody>
          <a:bodyPr wrap="square" lIns="152400" tIns="0" rIns="152400" bIns="0" rtlCol="0" anchor="ctr">
            <a:noAutofit/>
          </a:bodyPr>
          <a:lstStyle/>
          <a:p>
            <a:pPr algn="l"/>
            <a:r>
              <a:rPr lang="en-US" sz="1600" b="0" dirty="0">
                <a:solidFill>
                  <a:srgbClr val="000000"/>
                </a:solidFill>
              </a:rPr>
              <a:t>Used bengaliAI/tugstugi_bengaliai-asr_whisper-medium, a Whisper-medium model fine-tuned on a Bengali corpus, which outputs correct Bengali script.</a:t>
            </a:r>
          </a:p>
        </p:txBody>
      </p:sp>
      <p:sp>
        <p:nvSpPr>
          <p:cNvPr id="21" name="Result"/>
          <p:cNvSpPr txBox="1"/>
          <p:nvPr/>
        </p:nvSpPr>
        <p:spPr>
          <a:xfrm>
            <a:off x="731520" y="5435600"/>
            <a:ext cx="10789920" cy="369332"/>
          </a:xfrm>
          <a:prstGeom prst="rect">
            <a:avLst/>
          </a:prstGeom>
          <a:noFill/>
          <a:ln>
            <a:noFill/>
          </a:ln>
        </p:spPr>
        <p:txBody>
          <a:bodyPr wrap="square" lIns="0" tIns="45720" rIns="91440" bIns="45720" rtlCol="0" anchor="t">
            <a:spAutoFit/>
          </a:bodyPr>
          <a:lstStyle/>
          <a:p>
            <a:pPr marL="285750" indent="-285750">
              <a:buFont typeface="Arial"/>
              <a:buChar char="•"/>
            </a:pPr>
            <a:r>
              <a:rPr lang="en-US" sz="1800" b="0" dirty="0"/>
              <a:t>All 15 Bangla files (5 sentences × 3 tools) re-transcribed; real word-level accuracy computed.</a:t>
            </a:r>
          </a:p>
        </p:txBody>
      </p:sp>
      <p:sp>
        <p:nvSpPr>
          <p:cNvPr id="22" name="Footnote"/>
          <p:cNvSpPr txBox="1"/>
          <p:nvPr/>
        </p:nvSpPr>
        <p:spPr>
          <a:xfrm>
            <a:off x="731520" y="6019800"/>
            <a:ext cx="10789920" cy="279400"/>
          </a:xfrm>
          <a:prstGeom prst="rect">
            <a:avLst/>
          </a:prstGeom>
          <a:noFill/>
          <a:ln>
            <a:noFill/>
          </a:ln>
        </p:spPr>
        <p:txBody>
          <a:bodyPr wrap="square" lIns="0" tIns="45720" rIns="91440" bIns="45720" rtlCol="0" anchor="t">
            <a:spAutoFit/>
          </a:bodyPr>
          <a:lstStyle/>
          <a:p>
            <a:pPr algn="l"/>
            <a:r>
              <a:rPr lang="en-US" sz="1200" b="0" dirty="0">
                <a:solidFill>
                  <a:srgbClr val="595959"/>
                </a:solidFill>
              </a:rPr>
              <a:t>Reproducibility: all 45 audio files, input texts, and per-sentence transcriptions are saved in TTS_Experiment/master_results.json.</a:t>
            </a:r>
          </a:p>
        </p:txBody>
      </p:sp>
    </p:spTree>
    <p:extLst>
      <p:ext uri="{BB962C8B-B14F-4D97-AF65-F5344CB8AC3E}">
        <p14:creationId xmlns:p14="http://schemas.microsoft.com/office/powerpoint/2010/main" val="4083204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lang="en-US" sz="2800" b="1" dirty="0">
                <a:solidFill>
                  <a:srgbClr val="1F3864"/>
                </a:solidFill>
              </a:rPr>
              <a:t>TTS Test Sentences (15 Total — 5 per Language)</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11</a:t>
            </a:r>
            <a:endParaRPr lang="en-US" sz="1000" dirty="0">
              <a:solidFill>
                <a:srgbClr val="646464"/>
              </a:solidFill>
            </a:endParaRPr>
          </a:p>
        </p:txBody>
      </p:sp>
      <p:sp>
        <p:nvSpPr>
          <p:cNvPr id="20" name="Header English"/>
          <p:cNvSpPr/>
          <p:nvPr/>
        </p:nvSpPr>
        <p:spPr>
          <a:xfrm>
            <a:off x="508000" y="1117600"/>
            <a:ext cx="2730500" cy="558800"/>
          </a:xfrm>
          <a:prstGeom prst="rect">
            <a:avLst/>
          </a:prstGeom>
          <a:solidFill>
            <a:srgbClr val="1F3864"/>
          </a:solidFill>
          <a:ln>
            <a:noFill/>
          </a:ln>
        </p:spPr>
        <p:txBody>
          <a:bodyPr wrap="square" lIns="114300" tIns="0" rIns="76200" bIns="91440" rtlCol="0" anchor="ctr">
            <a:noAutofit/>
          </a:bodyPr>
          <a:lstStyle/>
          <a:p>
            <a:pPr algn="l"/>
            <a:r>
              <a:rPr lang="en-US" sz="2000" b="1" dirty="0">
                <a:solidFill>
                  <a:srgbClr val="FFFFFF"/>
                </a:solidFill>
              </a:rPr>
              <a:t>English</a:t>
            </a:r>
            <a:r>
              <a:rPr lang="en-US" sz="1400" b="0" dirty="0">
                <a:solidFill>
                  <a:srgbClr val="FFFFFF"/>
                </a:solidFill>
              </a:rPr>
              <a:t>  Tongue-twisters</a:t>
            </a:r>
          </a:p>
        </p:txBody>
      </p:sp>
      <p:sp>
        <p:nvSpPr>
          <p:cNvPr id="21" name="Card English"/>
          <p:cNvSpPr/>
          <p:nvPr/>
        </p:nvSpPr>
        <p:spPr>
          <a:xfrm>
            <a:off x="508000" y="1676400"/>
            <a:ext cx="2730500" cy="4064000"/>
          </a:xfrm>
          <a:prstGeom prst="rect">
            <a:avLst/>
          </a:prstGeom>
          <a:solidFill>
            <a:srgbClr val="F2F2F2"/>
          </a:solidFill>
          <a:ln>
            <a:noFill/>
          </a:ln>
        </p:spPr>
        <p:txBody>
          <a:bodyPr wrap="square" lIns="152400" tIns="127000" rIns="152400" bIns="91440" rtlCol="0" anchor="t">
            <a:noAutofit/>
          </a:bodyPr>
          <a:lstStyle/>
          <a:p>
            <a:pPr>
              <a:lnSpc>
                <a:spcPct val="105000"/>
              </a:lnSpc>
              <a:spcBef>
                <a:spcPts val="0"/>
              </a:spcBef>
            </a:pPr>
            <a:r>
              <a:rPr lang="en-US" sz="1600" b="1" dirty="0">
                <a:solidFill>
                  <a:srgbClr val="1F3864"/>
                </a:solidFill>
              </a:rPr>
              <a:t>E1  </a:t>
            </a:r>
            <a:r>
              <a:rPr lang="en-US" sz="1600" b="0" dirty="0">
                <a:solidFill>
                  <a:srgbClr val="000000"/>
                </a:solidFill>
              </a:rPr>
              <a:t>She sells seashells by the seashore.</a:t>
            </a:r>
          </a:p>
          <a:p>
            <a:pPr>
              <a:lnSpc>
                <a:spcPct val="105000"/>
              </a:lnSpc>
              <a:spcBef>
                <a:spcPts val="1200"/>
              </a:spcBef>
            </a:pPr>
            <a:r>
              <a:rPr lang="en-US" sz="1600" b="1" dirty="0">
                <a:solidFill>
                  <a:srgbClr val="1F3864"/>
                </a:solidFill>
              </a:rPr>
              <a:t>E2  </a:t>
            </a:r>
            <a:r>
              <a:rPr lang="en-US" sz="1600" b="0" dirty="0">
                <a:solidFill>
                  <a:srgbClr val="000000"/>
                </a:solidFill>
              </a:rPr>
              <a:t>Peter Piper picked a peck of pickled peppers.</a:t>
            </a:r>
          </a:p>
          <a:p>
            <a:pPr>
              <a:lnSpc>
                <a:spcPct val="105000"/>
              </a:lnSpc>
              <a:spcBef>
                <a:spcPts val="1200"/>
              </a:spcBef>
            </a:pPr>
            <a:r>
              <a:rPr lang="en-US" sz="1600" b="1" dirty="0">
                <a:solidFill>
                  <a:srgbClr val="1F3864"/>
                </a:solidFill>
              </a:rPr>
              <a:t>E3  </a:t>
            </a:r>
            <a:r>
              <a:rPr lang="en-US" sz="1600" b="0" dirty="0">
                <a:solidFill>
                  <a:srgbClr val="000000"/>
                </a:solidFill>
              </a:rPr>
              <a:t>The sixth sick sheikh's sixth sheep's sick.</a:t>
            </a:r>
          </a:p>
          <a:p>
            <a:pPr>
              <a:lnSpc>
                <a:spcPct val="105000"/>
              </a:lnSpc>
              <a:spcBef>
                <a:spcPts val="1200"/>
              </a:spcBef>
            </a:pPr>
            <a:r>
              <a:rPr lang="en-US" sz="1600" b="1" dirty="0">
                <a:solidFill>
                  <a:srgbClr val="1F3864"/>
                </a:solidFill>
              </a:rPr>
              <a:t>E4  </a:t>
            </a:r>
            <a:r>
              <a:rPr lang="en-US" sz="1600" b="0" dirty="0">
                <a:solidFill>
                  <a:srgbClr val="000000"/>
                </a:solidFill>
              </a:rPr>
              <a:t>How can a clam cram in a clean cream can?</a:t>
            </a:r>
          </a:p>
          <a:p>
            <a:pPr>
              <a:lnSpc>
                <a:spcPct val="105000"/>
              </a:lnSpc>
              <a:spcBef>
                <a:spcPts val="1200"/>
              </a:spcBef>
            </a:pPr>
            <a:r>
              <a:rPr lang="en-US" sz="1600" b="1" dirty="0">
                <a:solidFill>
                  <a:srgbClr val="1F3864"/>
                </a:solidFill>
              </a:rPr>
              <a:t>E5  </a:t>
            </a:r>
            <a:r>
              <a:rPr lang="en-US" sz="1600" b="0" dirty="0">
                <a:solidFill>
                  <a:srgbClr val="000000"/>
                </a:solidFill>
              </a:rPr>
              <a:t>Six slippery snails slid slowly seaward.</a:t>
            </a:r>
          </a:p>
        </p:txBody>
      </p:sp>
      <p:sp>
        <p:nvSpPr>
          <p:cNvPr id="22" name="Header Hindi"/>
          <p:cNvSpPr/>
          <p:nvPr/>
        </p:nvSpPr>
        <p:spPr>
          <a:xfrm>
            <a:off x="3492500" y="1117600"/>
            <a:ext cx="4953000" cy="558800"/>
          </a:xfrm>
          <a:prstGeom prst="rect">
            <a:avLst/>
          </a:prstGeom>
          <a:solidFill>
            <a:srgbClr val="1F3864"/>
          </a:solidFill>
          <a:ln>
            <a:noFill/>
          </a:ln>
        </p:spPr>
        <p:txBody>
          <a:bodyPr wrap="square" lIns="114300" tIns="0" rIns="76200" bIns="91440" rtlCol="0" anchor="ctr">
            <a:noAutofit/>
          </a:bodyPr>
          <a:lstStyle/>
          <a:p>
            <a:pPr algn="l"/>
            <a:r>
              <a:rPr lang="en-US" sz="2000" b="1" dirty="0">
                <a:solidFill>
                  <a:srgbClr val="FFFFFF"/>
                </a:solidFill>
              </a:rPr>
              <a:t>Hindi</a:t>
            </a:r>
            <a:r>
              <a:rPr lang="en-US" sz="1400" b="0" dirty="0">
                <a:solidFill>
                  <a:srgbClr val="FFFFFF"/>
                </a:solidFill>
              </a:rPr>
              <a:t>  Phonetically difficult</a:t>
            </a:r>
          </a:p>
        </p:txBody>
      </p:sp>
      <p:sp>
        <p:nvSpPr>
          <p:cNvPr id="23" name="Card Hindi"/>
          <p:cNvSpPr/>
          <p:nvPr/>
        </p:nvSpPr>
        <p:spPr>
          <a:xfrm>
            <a:off x="3492500" y="1676400"/>
            <a:ext cx="4953000" cy="4064000"/>
          </a:xfrm>
          <a:prstGeom prst="rect">
            <a:avLst/>
          </a:prstGeom>
          <a:solidFill>
            <a:srgbClr val="F2F2F2"/>
          </a:solidFill>
          <a:ln>
            <a:noFill/>
          </a:ln>
        </p:spPr>
        <p:txBody>
          <a:bodyPr wrap="square" lIns="152400" tIns="127000" rIns="152400" bIns="91440" rtlCol="0" anchor="t">
            <a:noAutofit/>
          </a:bodyPr>
          <a:lstStyle/>
          <a:p>
            <a:pPr>
              <a:lnSpc>
                <a:spcPct val="105000"/>
              </a:lnSpc>
              <a:spcBef>
                <a:spcPts val="0"/>
              </a:spcBef>
            </a:pPr>
            <a:r>
              <a:rPr lang="en-US" sz="1400" b="1" dirty="0">
                <a:solidFill>
                  <a:srgbClr val="1F3864"/>
                </a:solidFill>
              </a:rPr>
              <a:t>H1  </a:t>
            </a:r>
            <a:r>
              <a:rPr lang="hi-IN" sz="1400" b="0" dirty="0">
                <a:solidFill>
                  <a:srgbClr val="000000"/>
                </a:solidFill>
              </a:rPr>
              <a:t>कच्चा पापड़ पक्का पापड़।</a:t>
            </a:r>
          </a:p>
          <a:p>
            <a:pPr marL="292100">
              <a:lnSpc>
                <a:spcPct val="100000"/>
              </a:lnSpc>
              <a:spcBef>
                <a:spcPts val="200"/>
              </a:spcBef>
            </a:pPr>
            <a:r>
              <a:rPr lang="en-US" sz="1400" b="0" i="1" dirty="0">
                <a:solidFill>
                  <a:srgbClr val="595959"/>
                </a:solidFill>
              </a:rPr>
              <a:t>kachchā pāpaṛ pakkā pāpaṛ</a:t>
            </a:r>
          </a:p>
          <a:p>
            <a:pPr>
              <a:lnSpc>
                <a:spcPct val="105000"/>
              </a:lnSpc>
              <a:spcBef>
                <a:spcPts val="1200"/>
              </a:spcBef>
            </a:pPr>
            <a:r>
              <a:rPr lang="en-US" sz="1400" b="1" dirty="0">
                <a:solidFill>
                  <a:srgbClr val="1F3864"/>
                </a:solidFill>
              </a:rPr>
              <a:t>H2  </a:t>
            </a:r>
            <a:r>
              <a:rPr lang="hi-IN" sz="1400" b="0" dirty="0">
                <a:solidFill>
                  <a:srgbClr val="000000"/>
                </a:solidFill>
              </a:rPr>
              <a:t>चंदू के चाचा ने चंदू की चाची को चांदी के चम्मच से चटनी चटाई।</a:t>
            </a:r>
          </a:p>
          <a:p>
            <a:pPr marL="292100">
              <a:lnSpc>
                <a:spcPct val="100000"/>
              </a:lnSpc>
              <a:spcBef>
                <a:spcPts val="200"/>
              </a:spcBef>
            </a:pPr>
            <a:r>
              <a:rPr lang="en-US" sz="1400" b="0" i="1" dirty="0">
                <a:solidFill>
                  <a:srgbClr val="595959"/>
                </a:solidFill>
              </a:rPr>
              <a:t>Chandū ke chāchā ne Chandū kī chāchī ko chāndī ke chammach se chaṭnī chaṭāī</a:t>
            </a:r>
          </a:p>
          <a:p>
            <a:pPr>
              <a:lnSpc>
                <a:spcPct val="105000"/>
              </a:lnSpc>
              <a:spcBef>
                <a:spcPts val="1200"/>
              </a:spcBef>
            </a:pPr>
            <a:r>
              <a:rPr lang="en-US" sz="1400" b="1" dirty="0">
                <a:solidFill>
                  <a:srgbClr val="1F3864"/>
                </a:solidFill>
              </a:rPr>
              <a:t>H3  </a:t>
            </a:r>
            <a:r>
              <a:rPr lang="hi-IN" sz="1400" b="0" dirty="0">
                <a:solidFill>
                  <a:srgbClr val="000000"/>
                </a:solidFill>
              </a:rPr>
              <a:t>कौन कुम्हार कुरकुरे कुल्हड़ कब कहाँ कैसे बनाता है?</a:t>
            </a:r>
          </a:p>
          <a:p>
            <a:pPr marL="292100">
              <a:lnSpc>
                <a:spcPct val="100000"/>
              </a:lnSpc>
              <a:spcBef>
                <a:spcPts val="200"/>
              </a:spcBef>
            </a:pPr>
            <a:r>
              <a:rPr lang="en-US" sz="1400" b="0" i="1" dirty="0">
                <a:solidFill>
                  <a:srgbClr val="595959"/>
                </a:solidFill>
              </a:rPr>
              <a:t>kaun kumhār kurkure kulhaṛ kab kahāṃ kaise banātā hai?</a:t>
            </a:r>
          </a:p>
          <a:p>
            <a:pPr>
              <a:lnSpc>
                <a:spcPct val="105000"/>
              </a:lnSpc>
              <a:spcBef>
                <a:spcPts val="1200"/>
              </a:spcBef>
            </a:pPr>
            <a:r>
              <a:rPr lang="en-US" sz="1400" b="1" dirty="0">
                <a:solidFill>
                  <a:srgbClr val="1F3864"/>
                </a:solidFill>
              </a:rPr>
              <a:t>H4  </a:t>
            </a:r>
            <a:r>
              <a:rPr lang="hi-IN" sz="1400" b="0" dirty="0">
                <a:solidFill>
                  <a:srgbClr val="000000"/>
                </a:solidFill>
              </a:rPr>
              <a:t>श्याम शर्मा के शहर में शक्करपारे की शानदार दुकान है।</a:t>
            </a:r>
          </a:p>
          <a:p>
            <a:pPr marL="292100">
              <a:lnSpc>
                <a:spcPct val="100000"/>
              </a:lnSpc>
              <a:spcBef>
                <a:spcPts val="200"/>
              </a:spcBef>
            </a:pPr>
            <a:r>
              <a:rPr lang="en-US" sz="1400" b="0" i="1" dirty="0">
                <a:solidFill>
                  <a:srgbClr val="595959"/>
                </a:solidFill>
              </a:rPr>
              <a:t>Shyām Sharmā ke shahar meṃ shakkarpāre kī shāndār dukān hai</a:t>
            </a:r>
          </a:p>
          <a:p>
            <a:pPr>
              <a:lnSpc>
                <a:spcPct val="105000"/>
              </a:lnSpc>
              <a:spcBef>
                <a:spcPts val="1200"/>
              </a:spcBef>
            </a:pPr>
            <a:r>
              <a:rPr lang="en-US" sz="1400" b="1" dirty="0">
                <a:solidFill>
                  <a:srgbClr val="1F3864"/>
                </a:solidFill>
              </a:rPr>
              <a:t>H5  </a:t>
            </a:r>
            <a:r>
              <a:rPr lang="hi-IN" sz="1400" b="0" dirty="0">
                <a:solidFill>
                  <a:srgbClr val="000000"/>
                </a:solidFill>
              </a:rPr>
              <a:t>गुरु घंटाल घंटी बजाकर गधों को गिनने लगा।</a:t>
            </a:r>
          </a:p>
          <a:p>
            <a:pPr marL="292100">
              <a:lnSpc>
                <a:spcPct val="100000"/>
              </a:lnSpc>
              <a:spcBef>
                <a:spcPts val="200"/>
              </a:spcBef>
            </a:pPr>
            <a:r>
              <a:rPr lang="en-US" sz="1400" b="0" i="1" dirty="0">
                <a:solidFill>
                  <a:srgbClr val="595959"/>
                </a:solidFill>
              </a:rPr>
              <a:t>Guru ghaṇṭāl ghaṇṭī bajākar gadhoṃ ko ginne lagā</a:t>
            </a:r>
          </a:p>
        </p:txBody>
      </p:sp>
      <p:sp>
        <p:nvSpPr>
          <p:cNvPr id="24" name="Header Bangla"/>
          <p:cNvSpPr/>
          <p:nvPr/>
        </p:nvSpPr>
        <p:spPr>
          <a:xfrm>
            <a:off x="8699500" y="1117600"/>
            <a:ext cx="2984500" cy="558800"/>
          </a:xfrm>
          <a:prstGeom prst="rect">
            <a:avLst/>
          </a:prstGeom>
          <a:solidFill>
            <a:srgbClr val="1F3864"/>
          </a:solidFill>
          <a:ln>
            <a:noFill/>
          </a:ln>
        </p:spPr>
        <p:txBody>
          <a:bodyPr wrap="square" lIns="114300" tIns="0" rIns="76200" bIns="91440" rtlCol="0" anchor="ctr">
            <a:noAutofit/>
          </a:bodyPr>
          <a:lstStyle/>
          <a:p>
            <a:pPr algn="l"/>
            <a:r>
              <a:rPr lang="en-US" sz="2000" b="1" dirty="0">
                <a:solidFill>
                  <a:srgbClr val="FFFFFF"/>
                </a:solidFill>
              </a:rPr>
              <a:t>Bangla</a:t>
            </a:r>
            <a:r>
              <a:rPr lang="en-US" sz="1400" b="0" dirty="0">
                <a:solidFill>
                  <a:srgbClr val="FFFFFF"/>
                </a:solidFill>
              </a:rPr>
              <a:t>  Phonetically difficult</a:t>
            </a:r>
          </a:p>
        </p:txBody>
      </p:sp>
      <p:sp>
        <p:nvSpPr>
          <p:cNvPr id="25" name="Card Bangla"/>
          <p:cNvSpPr/>
          <p:nvPr/>
        </p:nvSpPr>
        <p:spPr>
          <a:xfrm>
            <a:off x="8699500" y="1676400"/>
            <a:ext cx="2984500" cy="4064000"/>
          </a:xfrm>
          <a:prstGeom prst="rect">
            <a:avLst/>
          </a:prstGeom>
          <a:solidFill>
            <a:srgbClr val="F2F2F2"/>
          </a:solidFill>
          <a:ln>
            <a:noFill/>
          </a:ln>
        </p:spPr>
        <p:txBody>
          <a:bodyPr wrap="square" lIns="152400" tIns="127000" rIns="152400" bIns="91440" rtlCol="0" anchor="t">
            <a:noAutofit/>
          </a:bodyPr>
          <a:lstStyle/>
          <a:p>
            <a:pPr>
              <a:lnSpc>
                <a:spcPct val="105000"/>
              </a:lnSpc>
              <a:spcBef>
                <a:spcPts val="0"/>
              </a:spcBef>
            </a:pPr>
            <a:r>
              <a:rPr lang="en-US" sz="1600" b="1" dirty="0">
                <a:solidFill>
                  <a:srgbClr val="1F3864"/>
                </a:solidFill>
              </a:rPr>
              <a:t>B1  </a:t>
            </a:r>
            <a:r>
              <a:rPr lang="en-US" sz="1600" b="0" dirty="0">
                <a:solidFill>
                  <a:srgbClr val="000000"/>
                </a:solidFill>
              </a:rPr>
              <a:t>কাঁচা কাঁঠাল পাকা কাঁঠাল খেতে বড় মিষ্টি।</a:t>
            </a:r>
          </a:p>
          <a:p>
            <a:pPr>
              <a:lnSpc>
                <a:spcPct val="105000"/>
              </a:lnSpc>
              <a:spcBef>
                <a:spcPts val="1200"/>
              </a:spcBef>
            </a:pPr>
            <a:r>
              <a:rPr lang="en-US" sz="1600" b="1" dirty="0">
                <a:solidFill>
                  <a:srgbClr val="1F3864"/>
                </a:solidFill>
              </a:rPr>
              <a:t>B2  </a:t>
            </a:r>
            <a:r>
              <a:rPr lang="en-US" sz="1600" b="0" dirty="0">
                <a:solidFill>
                  <a:srgbClr val="000000"/>
                </a:solidFill>
              </a:rPr>
              <a:t>শরৎকালে শিউলি ফুলের সুবাস চারিদিকে ছড়িয়ে পড়ে।</a:t>
            </a:r>
          </a:p>
          <a:p>
            <a:pPr>
              <a:lnSpc>
                <a:spcPct val="105000"/>
              </a:lnSpc>
              <a:spcBef>
                <a:spcPts val="1200"/>
              </a:spcBef>
            </a:pPr>
            <a:r>
              <a:rPr lang="en-US" sz="1600" b="1" dirty="0">
                <a:solidFill>
                  <a:srgbClr val="1F3864"/>
                </a:solidFill>
              </a:rPr>
              <a:t>B3  </a:t>
            </a:r>
            <a:r>
              <a:rPr lang="en-US" sz="1600" b="0" dirty="0">
                <a:solidFill>
                  <a:srgbClr val="000000"/>
                </a:solidFill>
              </a:rPr>
              <a:t>রাস্তার ধারে ছড়ানো ছিটানো কাঁচের টুকরো।</a:t>
            </a:r>
          </a:p>
          <a:p>
            <a:pPr>
              <a:lnSpc>
                <a:spcPct val="105000"/>
              </a:lnSpc>
              <a:spcBef>
                <a:spcPts val="1200"/>
              </a:spcBef>
            </a:pPr>
            <a:r>
              <a:rPr lang="en-US" sz="1600" b="1" dirty="0">
                <a:solidFill>
                  <a:srgbClr val="1F3864"/>
                </a:solidFill>
              </a:rPr>
              <a:t>B4  </a:t>
            </a:r>
            <a:r>
              <a:rPr lang="en-US" sz="1600" b="0" dirty="0">
                <a:solidFill>
                  <a:srgbClr val="000000"/>
                </a:solidFill>
              </a:rPr>
              <a:t>তেলাপোকা তিন তলায় তিড়িং করে লাফ দিল।</a:t>
            </a:r>
          </a:p>
          <a:p>
            <a:pPr>
              <a:lnSpc>
                <a:spcPct val="105000"/>
              </a:lnSpc>
              <a:spcBef>
                <a:spcPts val="1200"/>
              </a:spcBef>
            </a:pPr>
            <a:r>
              <a:rPr lang="en-US" sz="1600" b="1" dirty="0">
                <a:solidFill>
                  <a:srgbClr val="1F3864"/>
                </a:solidFill>
              </a:rPr>
              <a:t>B5  </a:t>
            </a:r>
            <a:r>
              <a:rPr lang="en-US" sz="1600" b="0" dirty="0">
                <a:solidFill>
                  <a:srgbClr val="000000"/>
                </a:solidFill>
              </a:rPr>
              <a:t>তিনি ঋণ শোধ করে নিশ্চিন্ত হলেন।</a:t>
            </a:r>
          </a:p>
        </p:txBody>
      </p:sp>
      <p:sp>
        <p:nvSpPr>
          <p:cNvPr id="26" name="Footnote"/>
          <p:cNvSpPr txBox="1"/>
          <p:nvPr/>
        </p:nvSpPr>
        <p:spPr>
          <a:xfrm>
            <a:off x="508000" y="5867400"/>
            <a:ext cx="10414000" cy="330200"/>
          </a:xfrm>
          <a:prstGeom prst="rect">
            <a:avLst/>
          </a:prstGeom>
          <a:noFill/>
        </p:spPr>
        <p:txBody>
          <a:bodyPr wrap="square" lIns="0" tIns="45720" rIns="0" bIns="45720" rtlCol="0">
            <a:noAutofit/>
          </a:bodyPr>
          <a:lstStyle/>
          <a:p>
            <a:r>
              <a:rPr lang="en-US" sz="1400" b="0" i="1" dirty="0">
                <a:solidFill>
                  <a:srgbClr val="555555"/>
                </a:solidFill>
              </a:rPr>
              <a:t>All 15 sentences are hard to pronounce; easy ones show no gap between tools. Italics: Hindi pronunciation.</a:t>
            </a:r>
          </a:p>
        </p:txBody>
      </p:sp>
    </p:spTree>
    <p:extLst>
      <p:ext uri="{BB962C8B-B14F-4D97-AF65-F5344CB8AC3E}">
        <p14:creationId xmlns:p14="http://schemas.microsoft.com/office/powerpoint/2010/main" val="233075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lang="en-US" sz="2800" b="1" dirty="0">
                <a:solidFill>
                  <a:srgbClr val="1F3864"/>
                </a:solidFill>
              </a:rPr>
              <a:t>TTS Accuracy Results — English</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12</a:t>
            </a:r>
            <a:endParaRPr lang="en-US" sz="1000" dirty="0">
              <a:solidFill>
                <a:srgbClr val="646464"/>
              </a:solidFill>
            </a:endParaRPr>
          </a:p>
        </p:txBody>
      </p:sp>
      <p:sp>
        <p:nvSpPr>
          <p:cNvPr id="5" name="TextBox 4"/>
          <p:cNvSpPr txBox="1"/>
          <p:nvPr/>
        </p:nvSpPr>
        <p:spPr>
          <a:xfrm>
            <a:off x="731520" y="838200"/>
            <a:ext cx="10820400" cy="369332"/>
          </a:xfrm>
          <a:prstGeom prst="rect">
            <a:avLst/>
          </a:prstGeom>
          <a:noFill/>
        </p:spPr>
        <p:txBody>
          <a:bodyPr wrap="none">
            <a:spAutoFit/>
          </a:bodyPr>
          <a:lstStyle/>
          <a:p>
            <a:r>
              <a:rPr sz="1600" b="0" i="1" dirty="0">
                <a:solidFill>
                  <a:srgbClr val="1F3864"/>
                </a:solidFill>
              </a:rPr>
              <a:t>Round-trip word-level accuracy for five English tongue-twisters</a:t>
            </a:r>
          </a:p>
        </p:txBody>
      </p:sp>
      <p:graphicFrame>
        <p:nvGraphicFramePr>
          <p:cNvPr id="6" name="Table 5"/>
          <p:cNvGraphicFramePr>
            <a:graphicFrameLocks noGrp="1"/>
          </p:cNvGraphicFramePr>
          <p:nvPr/>
        </p:nvGraphicFramePr>
        <p:xfrm>
          <a:off x="731520" y="1346200"/>
          <a:ext cx="10789920" cy="3556000"/>
        </p:xfrm>
        <a:graphic>
          <a:graphicData uri="http://schemas.openxmlformats.org/drawingml/2006/table">
            <a:tbl>
              <a:tblPr firstRow="1" bandRow="1">
                <a:tableStyleId>{5C22544A-7EE6-4342-B048-85BDC9FD1C3A}</a:tableStyleId>
              </a:tblPr>
              <a:tblGrid>
                <a:gridCol w="500000">
                  <a:extLst>
                    <a:ext uri="{9D8B030D-6E8A-4147-A177-3AD203B41FA5}">
                      <a16:colId xmlns:a16="http://schemas.microsoft.com/office/drawing/2014/main" val="20000"/>
                    </a:ext>
                  </a:extLst>
                </a:gridCol>
                <a:gridCol w="518992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gridCol w="1700000">
                  <a:extLst>
                    <a:ext uri="{9D8B030D-6E8A-4147-A177-3AD203B41FA5}">
                      <a16:colId xmlns:a16="http://schemas.microsoft.com/office/drawing/2014/main" val="20004"/>
                    </a:ext>
                  </a:extLst>
                </a:gridCol>
              </a:tblGrid>
              <a:tr h="508000">
                <a:tc>
                  <a:txBody>
                    <a:bodyPr/>
                    <a:lstStyle/>
                    <a:p>
                      <a:r>
                        <a:rPr sz="1400" b="1">
                          <a:solidFill>
                            <a:srgbClr val="FFFFFF"/>
                          </a:solidFill>
                        </a:rPr>
                        <a:t>#</a:t>
                      </a:r>
                    </a:p>
                  </a:txBody>
                  <a:tcPr marT="25400" marB="25400" anchor="ctr">
                    <a:solidFill>
                      <a:srgbClr val="1F3864"/>
                    </a:solidFill>
                  </a:tcPr>
                </a:tc>
                <a:tc>
                  <a:txBody>
                    <a:bodyPr/>
                    <a:lstStyle/>
                    <a:p>
                      <a:r>
                        <a:rPr sz="1400" b="1">
                          <a:solidFill>
                            <a:srgbClr val="FFFFFF"/>
                          </a:solidFill>
                        </a:rPr>
                        <a:t>Input Sentence</a:t>
                      </a:r>
                    </a:p>
                  </a:txBody>
                  <a:tcPr marT="25400" marB="25400" anchor="ctr">
                    <a:solidFill>
                      <a:srgbClr val="1F3864"/>
                    </a:solidFill>
                  </a:tcPr>
                </a:tc>
                <a:tc>
                  <a:txBody>
                    <a:bodyPr/>
                    <a:lstStyle/>
                    <a:p>
                      <a:pPr algn="r"/>
                      <a:r>
                        <a:rPr sz="1400" b="1">
                          <a:solidFill>
                            <a:srgbClr val="FFFFFF"/>
                          </a:solidFill>
                        </a:rPr>
                        <a:t>gTTS</a:t>
                      </a:r>
                    </a:p>
                  </a:txBody>
                  <a:tcPr marT="25400" marB="25400" anchor="ctr">
                    <a:solidFill>
                      <a:srgbClr val="1F3864"/>
                    </a:solidFill>
                  </a:tcPr>
                </a:tc>
                <a:tc>
                  <a:txBody>
                    <a:bodyPr/>
                    <a:lstStyle/>
                    <a:p>
                      <a:pPr algn="r"/>
                      <a:r>
                        <a:rPr sz="1400" b="1">
                          <a:solidFill>
                            <a:srgbClr val="FFFFFF"/>
                          </a:solidFill>
                        </a:rPr>
                        <a:t>edge-tts</a:t>
                      </a:r>
                    </a:p>
                  </a:txBody>
                  <a:tcPr marT="25400" marB="25400" anchor="ctr">
                    <a:solidFill>
                      <a:srgbClr val="1F3864"/>
                    </a:solidFill>
                  </a:tcPr>
                </a:tc>
                <a:tc>
                  <a:txBody>
                    <a:bodyPr/>
                    <a:lstStyle/>
                    <a:p>
                      <a:pPr algn="r"/>
                      <a:r>
                        <a:rPr sz="1400" b="1">
                          <a:solidFill>
                            <a:srgbClr val="FFFFFF"/>
                          </a:solidFill>
                        </a:rPr>
                        <a:t>MMS-TTS</a:t>
                      </a:r>
                    </a:p>
                  </a:txBody>
                  <a:tcPr marT="25400" marB="25400" anchor="ctr">
                    <a:solidFill>
                      <a:srgbClr val="1F3864"/>
                    </a:solidFill>
                  </a:tcPr>
                </a:tc>
                <a:extLst>
                  <a:ext uri="{0D108BD9-81ED-4DB2-BD59-A6C34878D82A}">
                    <a16:rowId xmlns:a16="http://schemas.microsoft.com/office/drawing/2014/main" val="10000"/>
                  </a:ext>
                </a:extLst>
              </a:tr>
              <a:tr h="508000">
                <a:tc>
                  <a:txBody>
                    <a:bodyPr/>
                    <a:lstStyle/>
                    <a:p>
                      <a:r>
                        <a:rPr sz="1400" b="0"/>
                        <a:t>E1</a:t>
                      </a:r>
                    </a:p>
                  </a:txBody>
                  <a:tcPr marT="25400" marB="25400" anchor="ctr">
                    <a:solidFill>
                      <a:srgbClr val="FFFFFF"/>
                    </a:solidFill>
                  </a:tcPr>
                </a:tc>
                <a:tc>
                  <a:txBody>
                    <a:bodyPr/>
                    <a:lstStyle/>
                    <a:p>
                      <a:r>
                        <a:rPr sz="1400" b="0"/>
                        <a:t>She sells seashells by the seashore.</a:t>
                      </a:r>
                    </a:p>
                  </a:txBody>
                  <a:tcPr marT="25400" marB="25400" anchor="ctr">
                    <a:solidFill>
                      <a:srgbClr val="FFFFFF"/>
                    </a:solidFill>
                  </a:tcPr>
                </a:tc>
                <a:tc>
                  <a:txBody>
                    <a:bodyPr/>
                    <a:lstStyle/>
                    <a:p>
                      <a:pPr algn="r"/>
                      <a:r>
                        <a:rPr sz="1400" b="0"/>
                        <a:t>100%</a:t>
                      </a:r>
                    </a:p>
                  </a:txBody>
                  <a:tcPr marT="25400" marB="25400" anchor="ctr">
                    <a:solidFill>
                      <a:srgbClr val="FFFFFF"/>
                    </a:solidFill>
                  </a:tcPr>
                </a:tc>
                <a:tc>
                  <a:txBody>
                    <a:bodyPr/>
                    <a:lstStyle/>
                    <a:p>
                      <a:pPr algn="r"/>
                      <a:r>
                        <a:rPr sz="1400" b="0"/>
                        <a:t>100%</a:t>
                      </a:r>
                    </a:p>
                  </a:txBody>
                  <a:tcPr marT="25400" marB="25400" anchor="ctr">
                    <a:solidFill>
                      <a:srgbClr val="FFFFFF"/>
                    </a:solidFill>
                  </a:tcPr>
                </a:tc>
                <a:tc>
                  <a:txBody>
                    <a:bodyPr/>
                    <a:lstStyle/>
                    <a:p>
                      <a:pPr algn="r"/>
                      <a:r>
                        <a:rPr sz="1400" b="0"/>
                        <a:t>100%</a:t>
                      </a:r>
                    </a:p>
                  </a:txBody>
                  <a:tcPr marT="25400" marB="25400" anchor="ctr">
                    <a:solidFill>
                      <a:srgbClr val="FFFFFF"/>
                    </a:solidFill>
                  </a:tcPr>
                </a:tc>
                <a:extLst>
                  <a:ext uri="{0D108BD9-81ED-4DB2-BD59-A6C34878D82A}">
                    <a16:rowId xmlns:a16="http://schemas.microsoft.com/office/drawing/2014/main" val="10001"/>
                  </a:ext>
                </a:extLst>
              </a:tr>
              <a:tr h="508000">
                <a:tc>
                  <a:txBody>
                    <a:bodyPr/>
                    <a:lstStyle/>
                    <a:p>
                      <a:r>
                        <a:rPr sz="1400" b="0"/>
                        <a:t>E2</a:t>
                      </a:r>
                    </a:p>
                  </a:txBody>
                  <a:tcPr marT="25400" marB="25400" anchor="ctr">
                    <a:solidFill>
                      <a:srgbClr val="E8F0FE"/>
                    </a:solidFill>
                  </a:tcPr>
                </a:tc>
                <a:tc>
                  <a:txBody>
                    <a:bodyPr/>
                    <a:lstStyle/>
                    <a:p>
                      <a:r>
                        <a:rPr sz="1400" b="0"/>
                        <a:t>Peter Piper picked a peck of pickled peppers.</a:t>
                      </a:r>
                    </a:p>
                  </a:txBody>
                  <a:tcPr marT="25400" marB="25400" anchor="ctr">
                    <a:solidFill>
                      <a:srgbClr val="E8F0FE"/>
                    </a:solidFill>
                  </a:tcPr>
                </a:tc>
                <a:tc>
                  <a:txBody>
                    <a:bodyPr/>
                    <a:lstStyle/>
                    <a:p>
                      <a:pPr algn="r"/>
                      <a:r>
                        <a:rPr sz="1400" b="0"/>
                        <a:t>100%</a:t>
                      </a:r>
                    </a:p>
                  </a:txBody>
                  <a:tcPr marT="25400" marB="25400" anchor="ctr">
                    <a:solidFill>
                      <a:srgbClr val="E8F0FE"/>
                    </a:solidFill>
                  </a:tcPr>
                </a:tc>
                <a:tc>
                  <a:txBody>
                    <a:bodyPr/>
                    <a:lstStyle/>
                    <a:p>
                      <a:pPr algn="r"/>
                      <a:r>
                        <a:rPr sz="1400" b="0"/>
                        <a:t>87.5%</a:t>
                      </a:r>
                    </a:p>
                  </a:txBody>
                  <a:tcPr marT="25400" marB="25400" anchor="ctr">
                    <a:solidFill>
                      <a:srgbClr val="E8F0FE"/>
                    </a:solidFill>
                  </a:tcPr>
                </a:tc>
                <a:tc>
                  <a:txBody>
                    <a:bodyPr/>
                    <a:lstStyle/>
                    <a:p>
                      <a:pPr algn="r"/>
                      <a:r>
                        <a:rPr sz="1400" b="0"/>
                        <a:t>0%</a:t>
                      </a:r>
                    </a:p>
                  </a:txBody>
                  <a:tcPr marT="25400" marB="25400" anchor="ctr">
                    <a:solidFill>
                      <a:srgbClr val="E8F0FE"/>
                    </a:solidFill>
                  </a:tcPr>
                </a:tc>
                <a:extLst>
                  <a:ext uri="{0D108BD9-81ED-4DB2-BD59-A6C34878D82A}">
                    <a16:rowId xmlns:a16="http://schemas.microsoft.com/office/drawing/2014/main" val="10002"/>
                  </a:ext>
                </a:extLst>
              </a:tr>
              <a:tr h="508000">
                <a:tc>
                  <a:txBody>
                    <a:bodyPr/>
                    <a:lstStyle/>
                    <a:p>
                      <a:r>
                        <a:rPr sz="1400" b="0"/>
                        <a:t>E3</a:t>
                      </a:r>
                    </a:p>
                  </a:txBody>
                  <a:tcPr marT="25400" marB="25400" anchor="ctr">
                    <a:solidFill>
                      <a:srgbClr val="FFFFFF"/>
                    </a:solidFill>
                  </a:tcPr>
                </a:tc>
                <a:tc>
                  <a:txBody>
                    <a:bodyPr/>
                    <a:lstStyle/>
                    <a:p>
                      <a:r>
                        <a:rPr sz="1400" b="0"/>
                        <a:t>The sixth sick sheikh's sixth sheep's sick.</a:t>
                      </a:r>
                    </a:p>
                  </a:txBody>
                  <a:tcPr marT="25400" marB="25400" anchor="ctr">
                    <a:solidFill>
                      <a:srgbClr val="FFFFFF"/>
                    </a:solidFill>
                  </a:tcPr>
                </a:tc>
                <a:tc>
                  <a:txBody>
                    <a:bodyPr/>
                    <a:lstStyle/>
                    <a:p>
                      <a:pPr algn="r"/>
                      <a:r>
                        <a:rPr sz="1400" b="0"/>
                        <a:t>85.7%</a:t>
                      </a:r>
                    </a:p>
                  </a:txBody>
                  <a:tcPr marT="25400" marB="25400" anchor="ctr">
                    <a:solidFill>
                      <a:srgbClr val="FFFFFF"/>
                    </a:solidFill>
                  </a:tcPr>
                </a:tc>
                <a:tc>
                  <a:txBody>
                    <a:bodyPr/>
                    <a:lstStyle/>
                    <a:p>
                      <a:pPr algn="r"/>
                      <a:r>
                        <a:rPr sz="1400" b="0"/>
                        <a:t>42.9%</a:t>
                      </a:r>
                    </a:p>
                  </a:txBody>
                  <a:tcPr marT="25400" marB="25400" anchor="ctr">
                    <a:solidFill>
                      <a:srgbClr val="FFFFFF"/>
                    </a:solidFill>
                  </a:tcPr>
                </a:tc>
                <a:tc>
                  <a:txBody>
                    <a:bodyPr/>
                    <a:lstStyle/>
                    <a:p>
                      <a:pPr algn="r"/>
                      <a:r>
                        <a:rPr sz="1400" b="0"/>
                        <a:t>57.1%</a:t>
                      </a:r>
                    </a:p>
                  </a:txBody>
                  <a:tcPr marT="25400" marB="25400" anchor="ctr">
                    <a:solidFill>
                      <a:srgbClr val="FFFFFF"/>
                    </a:solidFill>
                  </a:tcPr>
                </a:tc>
                <a:extLst>
                  <a:ext uri="{0D108BD9-81ED-4DB2-BD59-A6C34878D82A}">
                    <a16:rowId xmlns:a16="http://schemas.microsoft.com/office/drawing/2014/main" val="10003"/>
                  </a:ext>
                </a:extLst>
              </a:tr>
              <a:tr h="508000">
                <a:tc>
                  <a:txBody>
                    <a:bodyPr/>
                    <a:lstStyle/>
                    <a:p>
                      <a:r>
                        <a:rPr sz="1400" b="0"/>
                        <a:t>E4</a:t>
                      </a:r>
                    </a:p>
                  </a:txBody>
                  <a:tcPr marT="25400" marB="25400" anchor="ctr">
                    <a:solidFill>
                      <a:srgbClr val="E8F0FE"/>
                    </a:solidFill>
                  </a:tcPr>
                </a:tc>
                <a:tc>
                  <a:txBody>
                    <a:bodyPr/>
                    <a:lstStyle/>
                    <a:p>
                      <a:r>
                        <a:rPr sz="1400" b="0"/>
                        <a:t>How can a clam cram in a clean cream can?</a:t>
                      </a:r>
                    </a:p>
                  </a:txBody>
                  <a:tcPr marT="25400" marB="25400" anchor="ctr">
                    <a:solidFill>
                      <a:srgbClr val="E8F0FE"/>
                    </a:solidFill>
                  </a:tcPr>
                </a:tc>
                <a:tc>
                  <a:txBody>
                    <a:bodyPr/>
                    <a:lstStyle/>
                    <a:p>
                      <a:pPr algn="r"/>
                      <a:r>
                        <a:rPr sz="1400" b="0"/>
                        <a:t>100%</a:t>
                      </a:r>
                    </a:p>
                  </a:txBody>
                  <a:tcPr marT="25400" marB="25400" anchor="ctr">
                    <a:solidFill>
                      <a:srgbClr val="E8F0FE"/>
                    </a:solidFill>
                  </a:tcPr>
                </a:tc>
                <a:tc>
                  <a:txBody>
                    <a:bodyPr/>
                    <a:lstStyle/>
                    <a:p>
                      <a:pPr algn="r"/>
                      <a:r>
                        <a:rPr sz="1400" b="0"/>
                        <a:t>100%</a:t>
                      </a:r>
                    </a:p>
                  </a:txBody>
                  <a:tcPr marT="25400" marB="25400" anchor="ctr">
                    <a:solidFill>
                      <a:srgbClr val="E8F0FE"/>
                    </a:solidFill>
                  </a:tcPr>
                </a:tc>
                <a:tc>
                  <a:txBody>
                    <a:bodyPr/>
                    <a:lstStyle/>
                    <a:p>
                      <a:pPr algn="r"/>
                      <a:r>
                        <a:rPr sz="1400" b="0"/>
                        <a:t>80%</a:t>
                      </a:r>
                    </a:p>
                  </a:txBody>
                  <a:tcPr marT="25400" marB="25400" anchor="ctr">
                    <a:solidFill>
                      <a:srgbClr val="E8F0FE"/>
                    </a:solidFill>
                  </a:tcPr>
                </a:tc>
                <a:extLst>
                  <a:ext uri="{0D108BD9-81ED-4DB2-BD59-A6C34878D82A}">
                    <a16:rowId xmlns:a16="http://schemas.microsoft.com/office/drawing/2014/main" val="10004"/>
                  </a:ext>
                </a:extLst>
              </a:tr>
              <a:tr h="508000">
                <a:tc>
                  <a:txBody>
                    <a:bodyPr/>
                    <a:lstStyle/>
                    <a:p>
                      <a:r>
                        <a:rPr sz="1400" b="0"/>
                        <a:t>E5</a:t>
                      </a:r>
                    </a:p>
                  </a:txBody>
                  <a:tcPr marT="25400" marB="25400" anchor="ctr">
                    <a:solidFill>
                      <a:srgbClr val="FFFFFF"/>
                    </a:solidFill>
                  </a:tcPr>
                </a:tc>
                <a:tc>
                  <a:txBody>
                    <a:bodyPr/>
                    <a:lstStyle/>
                    <a:p>
                      <a:r>
                        <a:rPr sz="1400" b="0"/>
                        <a:t>Six slippery snails slid slowly seaward.</a:t>
                      </a:r>
                    </a:p>
                  </a:txBody>
                  <a:tcPr marT="25400" marB="25400" anchor="ctr">
                    <a:solidFill>
                      <a:srgbClr val="FFFFFF"/>
                    </a:solidFill>
                  </a:tcPr>
                </a:tc>
                <a:tc>
                  <a:txBody>
                    <a:bodyPr/>
                    <a:lstStyle/>
                    <a:p>
                      <a:pPr algn="r"/>
                      <a:r>
                        <a:rPr sz="1400" b="0"/>
                        <a:t>100%</a:t>
                      </a:r>
                    </a:p>
                  </a:txBody>
                  <a:tcPr marT="25400" marB="25400" anchor="ctr">
                    <a:solidFill>
                      <a:srgbClr val="FFFFFF"/>
                    </a:solidFill>
                  </a:tcPr>
                </a:tc>
                <a:tc>
                  <a:txBody>
                    <a:bodyPr/>
                    <a:lstStyle/>
                    <a:p>
                      <a:pPr algn="r"/>
                      <a:r>
                        <a:rPr sz="1400" b="0"/>
                        <a:t>50%</a:t>
                      </a:r>
                    </a:p>
                  </a:txBody>
                  <a:tcPr marT="25400" marB="25400" anchor="ctr">
                    <a:solidFill>
                      <a:srgbClr val="FFFFFF"/>
                    </a:solidFill>
                  </a:tcPr>
                </a:tc>
                <a:tc>
                  <a:txBody>
                    <a:bodyPr/>
                    <a:lstStyle/>
                    <a:p>
                      <a:pPr algn="r"/>
                      <a:r>
                        <a:rPr sz="1400" b="0"/>
                        <a:t>50%</a:t>
                      </a:r>
                    </a:p>
                  </a:txBody>
                  <a:tcPr marT="25400" marB="25400" anchor="ctr">
                    <a:solidFill>
                      <a:srgbClr val="FFFFFF"/>
                    </a:solidFill>
                  </a:tcPr>
                </a:tc>
                <a:extLst>
                  <a:ext uri="{0D108BD9-81ED-4DB2-BD59-A6C34878D82A}">
                    <a16:rowId xmlns:a16="http://schemas.microsoft.com/office/drawing/2014/main" val="10005"/>
                  </a:ext>
                </a:extLst>
              </a:tr>
              <a:tr h="508000">
                <a:tc>
                  <a:txBody>
                    <a:bodyPr/>
                    <a:lstStyle/>
                    <a:p>
                      <a:endParaRPr sz="1400"/>
                    </a:p>
                  </a:txBody>
                  <a:tcPr marT="25400" marB="25400" anchor="ctr">
                    <a:solidFill>
                      <a:srgbClr val="E8F0FE"/>
                    </a:solidFill>
                  </a:tcPr>
                </a:tc>
                <a:tc>
                  <a:txBody>
                    <a:bodyPr/>
                    <a:lstStyle/>
                    <a:p>
                      <a:r>
                        <a:rPr sz="1400" b="0" dirty="0"/>
                        <a:t>Average</a:t>
                      </a:r>
                    </a:p>
                  </a:txBody>
                  <a:tcPr marT="25400" marB="25400" anchor="ctr">
                    <a:solidFill>
                      <a:srgbClr val="E8F0FE"/>
                    </a:solidFill>
                  </a:tcPr>
                </a:tc>
                <a:tc>
                  <a:txBody>
                    <a:bodyPr/>
                    <a:lstStyle/>
                    <a:p>
                      <a:pPr algn="r"/>
                      <a:r>
                        <a:rPr sz="1400" b="0"/>
                        <a:t>97.1%</a:t>
                      </a:r>
                    </a:p>
                  </a:txBody>
                  <a:tcPr marT="25400" marB="25400" anchor="ctr">
                    <a:solidFill>
                      <a:srgbClr val="E8F0FE"/>
                    </a:solidFill>
                  </a:tcPr>
                </a:tc>
                <a:tc>
                  <a:txBody>
                    <a:bodyPr/>
                    <a:lstStyle/>
                    <a:p>
                      <a:pPr algn="r"/>
                      <a:r>
                        <a:rPr sz="1400" b="0"/>
                        <a:t>76.1%</a:t>
                      </a:r>
                    </a:p>
                  </a:txBody>
                  <a:tcPr marT="25400" marB="25400" anchor="ctr">
                    <a:solidFill>
                      <a:srgbClr val="E8F0FE"/>
                    </a:solidFill>
                  </a:tcPr>
                </a:tc>
                <a:tc>
                  <a:txBody>
                    <a:bodyPr/>
                    <a:lstStyle/>
                    <a:p>
                      <a:pPr algn="r"/>
                      <a:r>
                        <a:rPr sz="1400" b="0" dirty="0"/>
                        <a:t>57.4%</a:t>
                      </a:r>
                    </a:p>
                  </a:txBody>
                  <a:tcPr marT="25400" marB="25400" anchor="ctr">
                    <a:solidFill>
                      <a:srgbClr val="E8F0FE"/>
                    </a:solidFill>
                  </a:tcPr>
                </a:tc>
                <a:extLst>
                  <a:ext uri="{0D108BD9-81ED-4DB2-BD59-A6C34878D82A}">
                    <a16:rowId xmlns:a16="http://schemas.microsoft.com/office/drawing/2014/main" val="10006"/>
                  </a:ext>
                </a:extLst>
              </a:tr>
            </a:tbl>
          </a:graphicData>
        </a:graphic>
      </p:graphicFrame>
      <p:sp>
        <p:nvSpPr>
          <p:cNvPr id="30" name="Key finding"/>
          <p:cNvSpPr txBox="1"/>
          <p:nvPr/>
        </p:nvSpPr>
        <p:spPr>
          <a:xfrm>
            <a:off x="731520" y="5283200"/>
            <a:ext cx="10789920" cy="838200"/>
          </a:xfrm>
          <a:prstGeom prst="rect">
            <a:avLst/>
          </a:prstGeom>
          <a:solidFill>
            <a:srgbClr val="E8F0FE"/>
          </a:solidFill>
        </p:spPr>
        <p:txBody>
          <a:bodyPr wrap="square" lIns="152400" tIns="91440" rIns="152400" bIns="91440" anchor="ctr">
            <a:noAutofit/>
          </a:bodyPr>
          <a:lstStyle/>
          <a:p>
            <a:r>
              <a:rPr lang="en-US" sz="1600" b="1" dirty="0">
                <a:solidFill>
                  <a:srgbClr val="1F3864"/>
                </a:solidFill>
              </a:rPr>
              <a:t>Key finding: </a:t>
            </a:r>
            <a:r>
              <a:rPr lang="en-US" sz="1600" b="0" dirty="0">
                <a:solidFill>
                  <a:srgbClr val="1F3864"/>
                </a:solidFill>
              </a:rPr>
              <a:t>gTTS averaged 97.1%, against 76.1% for edge-tts and 57.4% for MMS-TTS. E3 was the hardest sentence (61.9% average across tools), and MMS-TTS scored 0% on E2.</a:t>
            </a:r>
          </a:p>
        </p:txBody>
      </p:sp>
    </p:spTree>
    <p:extLst>
      <p:ext uri="{BB962C8B-B14F-4D97-AF65-F5344CB8AC3E}">
        <p14:creationId xmlns:p14="http://schemas.microsoft.com/office/powerpoint/2010/main" val="845241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lang="en-US" sz="2800" b="1" dirty="0">
                <a:solidFill>
                  <a:srgbClr val="1F3864"/>
                </a:solidFill>
              </a:rPr>
              <a:t>TTS Accuracy Results — Hindi</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13</a:t>
            </a:r>
            <a:endParaRPr lang="en-US" sz="1000" dirty="0">
              <a:solidFill>
                <a:srgbClr val="646464"/>
              </a:solidFill>
            </a:endParaRPr>
          </a:p>
        </p:txBody>
      </p:sp>
      <p:sp>
        <p:nvSpPr>
          <p:cNvPr id="7" name="TextBox 6"/>
          <p:cNvSpPr txBox="1"/>
          <p:nvPr/>
        </p:nvSpPr>
        <p:spPr>
          <a:xfrm>
            <a:off x="731520" y="838200"/>
            <a:ext cx="10789920" cy="369332"/>
          </a:xfrm>
          <a:prstGeom prst="rect">
            <a:avLst/>
          </a:prstGeom>
          <a:noFill/>
        </p:spPr>
        <p:txBody>
          <a:bodyPr wrap="none">
            <a:spAutoFit/>
          </a:bodyPr>
          <a:lstStyle/>
          <a:p>
            <a:r>
              <a:rPr sz="1600" b="0" i="1" dirty="0">
                <a:solidFill>
                  <a:srgbClr val="1F3864"/>
                </a:solidFill>
              </a:rPr>
              <a:t>Round-trip word-level accuracy for five Hindi sentences, with romanized pronunciation</a:t>
            </a:r>
          </a:p>
        </p:txBody>
      </p:sp>
      <p:graphicFrame>
        <p:nvGraphicFramePr>
          <p:cNvPr id="8" name="Table 7"/>
          <p:cNvGraphicFramePr>
            <a:graphicFrameLocks noGrp="1"/>
          </p:cNvGraphicFramePr>
          <p:nvPr/>
        </p:nvGraphicFramePr>
        <p:xfrm>
          <a:off x="731520" y="1346200"/>
          <a:ext cx="10789920" cy="38481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3175000">
                  <a:extLst>
                    <a:ext uri="{9D8B030D-6E8A-4147-A177-3AD203B41FA5}">
                      <a16:colId xmlns:a16="http://schemas.microsoft.com/office/drawing/2014/main" val="20001"/>
                    </a:ext>
                  </a:extLst>
                </a:gridCol>
                <a:gridCol w="36779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19100">
                <a:tc>
                  <a:txBody>
                    <a:bodyPr/>
                    <a:lstStyle/>
                    <a:p>
                      <a:r>
                        <a:rPr lang="en-US" sz="1400" b="1" dirty="0">
                          <a:solidFill>
                            <a:srgbClr val="FFFFFF"/>
                          </a:solidFill>
                        </a:rPr>
                        <a:t>#</a:t>
                      </a:r>
                    </a:p>
                  </a:txBody>
                  <a:tcPr marT="25400" marB="25400" anchor="ctr">
                    <a:solidFill>
                      <a:srgbClr val="1F3864"/>
                    </a:solidFill>
                  </a:tcPr>
                </a:tc>
                <a:tc>
                  <a:txBody>
                    <a:bodyPr/>
                    <a:lstStyle/>
                    <a:p>
                      <a:r>
                        <a:rPr lang="en-US" sz="1400" b="1" dirty="0">
                          <a:solidFill>
                            <a:srgbClr val="FFFFFF"/>
                          </a:solidFill>
                        </a:rPr>
                        <a:t>Input Sentence</a:t>
                      </a:r>
                    </a:p>
                  </a:txBody>
                  <a:tcPr marT="25400" marB="25400" anchor="ctr">
                    <a:solidFill>
                      <a:srgbClr val="1F3864"/>
                    </a:solidFill>
                  </a:tcPr>
                </a:tc>
                <a:tc>
                  <a:txBody>
                    <a:bodyPr/>
                    <a:lstStyle/>
                    <a:p>
                      <a:r>
                        <a:rPr lang="en-US" sz="1400" b="1" dirty="0">
                          <a:solidFill>
                            <a:srgbClr val="FFFFFF"/>
                          </a:solidFill>
                        </a:rPr>
                        <a:t>Pronunciation</a:t>
                      </a:r>
                    </a:p>
                  </a:txBody>
                  <a:tcPr marT="25400" marB="25400" anchor="ctr">
                    <a:solidFill>
                      <a:srgbClr val="1F3864"/>
                    </a:solidFill>
                  </a:tcPr>
                </a:tc>
                <a:tc>
                  <a:txBody>
                    <a:bodyPr/>
                    <a:lstStyle/>
                    <a:p>
                      <a:pPr algn="r"/>
                      <a:r>
                        <a:rPr lang="en-US" sz="1400" b="1" dirty="0">
                          <a:solidFill>
                            <a:srgbClr val="FFFFFF"/>
                          </a:solidFill>
                        </a:rPr>
                        <a:t>gTTS</a:t>
                      </a:r>
                    </a:p>
                  </a:txBody>
                  <a:tcPr marT="25400" marB="25400" anchor="ctr">
                    <a:solidFill>
                      <a:srgbClr val="1F3864"/>
                    </a:solidFill>
                  </a:tcPr>
                </a:tc>
                <a:tc>
                  <a:txBody>
                    <a:bodyPr/>
                    <a:lstStyle/>
                    <a:p>
                      <a:pPr algn="r"/>
                      <a:r>
                        <a:rPr lang="en-US" sz="1400" b="1" dirty="0">
                          <a:solidFill>
                            <a:srgbClr val="FFFFFF"/>
                          </a:solidFill>
                        </a:rPr>
                        <a:t>edge-tts</a:t>
                      </a:r>
                    </a:p>
                  </a:txBody>
                  <a:tcPr marT="25400" marB="25400" anchor="ctr">
                    <a:solidFill>
                      <a:srgbClr val="1F3864"/>
                    </a:solidFill>
                  </a:tcPr>
                </a:tc>
                <a:tc>
                  <a:txBody>
                    <a:bodyPr/>
                    <a:lstStyle/>
                    <a:p>
                      <a:pPr algn="r"/>
                      <a:r>
                        <a:rPr lang="en-US" sz="1400" b="1" dirty="0">
                          <a:solidFill>
                            <a:srgbClr val="FFFFFF"/>
                          </a:solidFill>
                        </a:rPr>
                        <a:t>MMS-TTS</a:t>
                      </a:r>
                    </a:p>
                  </a:txBody>
                  <a:tcPr marT="25400" marB="25400" anchor="ctr">
                    <a:solidFill>
                      <a:srgbClr val="1F3864"/>
                    </a:solidFill>
                  </a:tcPr>
                </a:tc>
                <a:extLst>
                  <a:ext uri="{0D108BD9-81ED-4DB2-BD59-A6C34878D82A}">
                    <a16:rowId xmlns:a16="http://schemas.microsoft.com/office/drawing/2014/main" val="10000"/>
                  </a:ext>
                </a:extLst>
              </a:tr>
              <a:tr h="520700">
                <a:tc>
                  <a:txBody>
                    <a:bodyPr/>
                    <a:lstStyle/>
                    <a:p>
                      <a:r>
                        <a:rPr lang="en-US" sz="1400" b="0" dirty="0"/>
                        <a:t>H1</a:t>
                      </a:r>
                    </a:p>
                  </a:txBody>
                  <a:tcPr marT="25400" marB="25400" anchor="ctr">
                    <a:solidFill>
                      <a:srgbClr val="FFFFFF"/>
                    </a:solidFill>
                  </a:tcPr>
                </a:tc>
                <a:tc>
                  <a:txBody>
                    <a:bodyPr/>
                    <a:lstStyle/>
                    <a:p>
                      <a:pPr>
                        <a:lnSpc>
                          <a:spcPct val="115000"/>
                        </a:lnSpc>
                      </a:pPr>
                      <a:r>
                        <a:rPr lang="hi-IN" sz="1400" b="0" dirty="0"/>
                        <a:t>कच्चा पापड़ पक्का पापड़।</a:t>
                      </a:r>
                    </a:p>
                  </a:txBody>
                  <a:tcPr marT="25400" marB="25400" anchor="ctr">
                    <a:solidFill>
                      <a:srgbClr val="FFFFFF"/>
                    </a:solidFill>
                  </a:tcPr>
                </a:tc>
                <a:tc>
                  <a:txBody>
                    <a:bodyPr/>
                    <a:lstStyle/>
                    <a:p>
                      <a:r>
                        <a:rPr lang="en-US" sz="1400" b="0" i="1" dirty="0">
                          <a:solidFill>
                            <a:srgbClr val="595959"/>
                          </a:solidFill>
                        </a:rPr>
                        <a:t>kachchā pāpaṛ pakkā pāpaṛ</a:t>
                      </a:r>
                    </a:p>
                  </a:txBody>
                  <a:tcPr marT="25400" marB="25400" anchor="ctr">
                    <a:solidFill>
                      <a:srgbClr val="FFFFFF"/>
                    </a:solidFill>
                  </a:tcPr>
                </a:tc>
                <a:tc>
                  <a:txBody>
                    <a:bodyPr/>
                    <a:lstStyle/>
                    <a:p>
                      <a:pPr algn="r"/>
                      <a:r>
                        <a:rPr lang="en-US" sz="1400" b="0" dirty="0"/>
                        <a:t>50%</a:t>
                      </a:r>
                    </a:p>
                  </a:txBody>
                  <a:tcPr marT="25400" marB="25400" anchor="ctr">
                    <a:solidFill>
                      <a:srgbClr val="FFFFFF"/>
                    </a:solidFill>
                  </a:tcPr>
                </a:tc>
                <a:tc>
                  <a:txBody>
                    <a:bodyPr/>
                    <a:lstStyle/>
                    <a:p>
                      <a:pPr algn="r"/>
                      <a:r>
                        <a:rPr lang="en-US" sz="1400" b="0" dirty="0"/>
                        <a:t>50%</a:t>
                      </a:r>
                    </a:p>
                  </a:txBody>
                  <a:tcPr marT="25400" marB="25400" anchor="ctr">
                    <a:solidFill>
                      <a:srgbClr val="FFFFFF"/>
                    </a:solidFill>
                  </a:tcPr>
                </a:tc>
                <a:tc>
                  <a:txBody>
                    <a:bodyPr/>
                    <a:lstStyle/>
                    <a:p>
                      <a:pPr algn="r"/>
                      <a:r>
                        <a:rPr lang="en-US" sz="1400" b="0" dirty="0"/>
                        <a:t>0%</a:t>
                      </a:r>
                    </a:p>
                  </a:txBody>
                  <a:tcPr marT="25400" marB="25400" anchor="ctr">
                    <a:solidFill>
                      <a:srgbClr val="FFFFFF"/>
                    </a:solidFill>
                  </a:tcPr>
                </a:tc>
                <a:extLst>
                  <a:ext uri="{0D108BD9-81ED-4DB2-BD59-A6C34878D82A}">
                    <a16:rowId xmlns:a16="http://schemas.microsoft.com/office/drawing/2014/main" val="10001"/>
                  </a:ext>
                </a:extLst>
              </a:tr>
              <a:tr h="622300">
                <a:tc>
                  <a:txBody>
                    <a:bodyPr/>
                    <a:lstStyle/>
                    <a:p>
                      <a:r>
                        <a:rPr lang="en-US" sz="1400" b="0" dirty="0"/>
                        <a:t>H2</a:t>
                      </a:r>
                    </a:p>
                  </a:txBody>
                  <a:tcPr marT="25400" marB="25400" anchor="ctr">
                    <a:solidFill>
                      <a:srgbClr val="E8F0FE"/>
                    </a:solidFill>
                  </a:tcPr>
                </a:tc>
                <a:tc>
                  <a:txBody>
                    <a:bodyPr/>
                    <a:lstStyle/>
                    <a:p>
                      <a:pPr>
                        <a:lnSpc>
                          <a:spcPct val="115000"/>
                        </a:lnSpc>
                      </a:pPr>
                      <a:r>
                        <a:rPr lang="hi-IN" sz="1400" b="0" dirty="0"/>
                        <a:t>चंदू के चाचा ने चंदू की चाची को चांदी के चम्मच से चटनी चटाई।</a:t>
                      </a:r>
                    </a:p>
                  </a:txBody>
                  <a:tcPr marT="25400" marB="25400" anchor="ctr">
                    <a:solidFill>
                      <a:srgbClr val="E8F0FE"/>
                    </a:solidFill>
                  </a:tcPr>
                </a:tc>
                <a:tc>
                  <a:txBody>
                    <a:bodyPr/>
                    <a:lstStyle/>
                    <a:p>
                      <a:r>
                        <a:rPr lang="en-US" sz="1400" b="0" i="1" dirty="0">
                          <a:solidFill>
                            <a:srgbClr val="595959"/>
                          </a:solidFill>
                        </a:rPr>
                        <a:t>Chandū ke chāchā ne Chandū kī chāchī ko chāndī ke chammach se chaṭnī chaṭāī</a:t>
                      </a:r>
                    </a:p>
                  </a:txBody>
                  <a:tcPr marT="25400" marB="25400" anchor="ctr">
                    <a:solidFill>
                      <a:srgbClr val="E8F0FE"/>
                    </a:solidFill>
                  </a:tcPr>
                </a:tc>
                <a:tc>
                  <a:txBody>
                    <a:bodyPr/>
                    <a:lstStyle/>
                    <a:p>
                      <a:pPr algn="r"/>
                      <a:r>
                        <a:rPr lang="en-US" sz="1400" b="0" dirty="0"/>
                        <a:t>50%</a:t>
                      </a:r>
                    </a:p>
                  </a:txBody>
                  <a:tcPr marT="25400" marB="25400" anchor="ctr">
                    <a:solidFill>
                      <a:srgbClr val="E8F0FE"/>
                    </a:solidFill>
                  </a:tcPr>
                </a:tc>
                <a:tc>
                  <a:txBody>
                    <a:bodyPr/>
                    <a:lstStyle/>
                    <a:p>
                      <a:pPr algn="r"/>
                      <a:r>
                        <a:rPr lang="en-US" sz="1400" b="0" dirty="0"/>
                        <a:t>50%</a:t>
                      </a:r>
                    </a:p>
                  </a:txBody>
                  <a:tcPr marT="25400" marB="25400" anchor="ctr">
                    <a:solidFill>
                      <a:srgbClr val="E8F0FE"/>
                    </a:solidFill>
                  </a:tcPr>
                </a:tc>
                <a:tc>
                  <a:txBody>
                    <a:bodyPr/>
                    <a:lstStyle/>
                    <a:p>
                      <a:pPr algn="r"/>
                      <a:r>
                        <a:rPr lang="en-US" sz="1400" b="0" dirty="0"/>
                        <a:t>42.9%</a:t>
                      </a:r>
                    </a:p>
                  </a:txBody>
                  <a:tcPr marT="25400" marB="25400" anchor="ctr">
                    <a:solidFill>
                      <a:srgbClr val="E8F0FE"/>
                    </a:solidFill>
                  </a:tcPr>
                </a:tc>
                <a:extLst>
                  <a:ext uri="{0D108BD9-81ED-4DB2-BD59-A6C34878D82A}">
                    <a16:rowId xmlns:a16="http://schemas.microsoft.com/office/drawing/2014/main" val="10002"/>
                  </a:ext>
                </a:extLst>
              </a:tr>
              <a:tr h="622300">
                <a:tc>
                  <a:txBody>
                    <a:bodyPr/>
                    <a:lstStyle/>
                    <a:p>
                      <a:r>
                        <a:rPr lang="en-US" sz="1400" b="0" dirty="0"/>
                        <a:t>H3</a:t>
                      </a:r>
                    </a:p>
                  </a:txBody>
                  <a:tcPr marT="25400" marB="25400" anchor="ctr">
                    <a:solidFill>
                      <a:srgbClr val="FFFFFF"/>
                    </a:solidFill>
                  </a:tcPr>
                </a:tc>
                <a:tc>
                  <a:txBody>
                    <a:bodyPr/>
                    <a:lstStyle/>
                    <a:p>
                      <a:pPr>
                        <a:lnSpc>
                          <a:spcPct val="115000"/>
                        </a:lnSpc>
                      </a:pPr>
                      <a:r>
                        <a:rPr lang="hi-IN" sz="1400" b="0" dirty="0"/>
                        <a:t>कौन कुम्हार कुरकुरे कुल्हड़ कब कहाँ कैसे बनाता है?</a:t>
                      </a:r>
                    </a:p>
                  </a:txBody>
                  <a:tcPr marT="25400" marB="25400" anchor="ctr">
                    <a:solidFill>
                      <a:srgbClr val="FFFFFF"/>
                    </a:solidFill>
                  </a:tcPr>
                </a:tc>
                <a:tc>
                  <a:txBody>
                    <a:bodyPr/>
                    <a:lstStyle/>
                    <a:p>
                      <a:r>
                        <a:rPr lang="en-US" sz="1400" b="0" i="1" dirty="0">
                          <a:solidFill>
                            <a:srgbClr val="595959"/>
                          </a:solidFill>
                        </a:rPr>
                        <a:t>kaun kumhār kurkure kulhaṛ kab kahāṃ kaise banātā hai?</a:t>
                      </a:r>
                    </a:p>
                  </a:txBody>
                  <a:tcPr marT="25400" marB="25400" anchor="ctr">
                    <a:solidFill>
                      <a:srgbClr val="FFFFFF"/>
                    </a:solidFill>
                  </a:tcPr>
                </a:tc>
                <a:tc>
                  <a:txBody>
                    <a:bodyPr/>
                    <a:lstStyle/>
                    <a:p>
                      <a:pPr algn="r"/>
                      <a:r>
                        <a:rPr lang="en-US" sz="1400" b="0" dirty="0"/>
                        <a:t>55.6%</a:t>
                      </a:r>
                    </a:p>
                  </a:txBody>
                  <a:tcPr marT="25400" marB="25400" anchor="ctr">
                    <a:solidFill>
                      <a:srgbClr val="FFFFFF"/>
                    </a:solidFill>
                  </a:tcPr>
                </a:tc>
                <a:tc>
                  <a:txBody>
                    <a:bodyPr/>
                    <a:lstStyle/>
                    <a:p>
                      <a:pPr algn="r"/>
                      <a:r>
                        <a:rPr lang="en-US" sz="1400" b="0" dirty="0"/>
                        <a:t>55.6%</a:t>
                      </a:r>
                    </a:p>
                  </a:txBody>
                  <a:tcPr marT="25400" marB="25400" anchor="ctr">
                    <a:solidFill>
                      <a:srgbClr val="FFFFFF"/>
                    </a:solidFill>
                  </a:tcPr>
                </a:tc>
                <a:tc>
                  <a:txBody>
                    <a:bodyPr/>
                    <a:lstStyle/>
                    <a:p>
                      <a:pPr algn="r"/>
                      <a:r>
                        <a:rPr lang="en-US" sz="1400" b="0" dirty="0"/>
                        <a:t>44.4%</a:t>
                      </a:r>
                    </a:p>
                  </a:txBody>
                  <a:tcPr marT="25400" marB="25400" anchor="ctr">
                    <a:solidFill>
                      <a:srgbClr val="FFFFFF"/>
                    </a:solidFill>
                  </a:tcPr>
                </a:tc>
                <a:extLst>
                  <a:ext uri="{0D108BD9-81ED-4DB2-BD59-A6C34878D82A}">
                    <a16:rowId xmlns:a16="http://schemas.microsoft.com/office/drawing/2014/main" val="10003"/>
                  </a:ext>
                </a:extLst>
              </a:tr>
              <a:tr h="622300">
                <a:tc>
                  <a:txBody>
                    <a:bodyPr/>
                    <a:lstStyle/>
                    <a:p>
                      <a:r>
                        <a:rPr lang="en-US" sz="1400" b="0" dirty="0"/>
                        <a:t>H4</a:t>
                      </a:r>
                    </a:p>
                  </a:txBody>
                  <a:tcPr marT="25400" marB="25400" anchor="ctr">
                    <a:solidFill>
                      <a:srgbClr val="E8F0FE"/>
                    </a:solidFill>
                  </a:tcPr>
                </a:tc>
                <a:tc>
                  <a:txBody>
                    <a:bodyPr/>
                    <a:lstStyle/>
                    <a:p>
                      <a:pPr>
                        <a:lnSpc>
                          <a:spcPct val="115000"/>
                        </a:lnSpc>
                      </a:pPr>
                      <a:r>
                        <a:rPr lang="hi-IN" sz="1400" b="0" dirty="0"/>
                        <a:t>श्याम शर्मा के शहर में शक्करपारे की शानदार दुकान है।</a:t>
                      </a:r>
                    </a:p>
                  </a:txBody>
                  <a:tcPr marT="25400" marB="25400" anchor="ctr">
                    <a:solidFill>
                      <a:srgbClr val="E8F0FE"/>
                    </a:solidFill>
                  </a:tcPr>
                </a:tc>
                <a:tc>
                  <a:txBody>
                    <a:bodyPr/>
                    <a:lstStyle/>
                    <a:p>
                      <a:r>
                        <a:rPr lang="en-US" sz="1400" b="0" i="1" dirty="0">
                          <a:solidFill>
                            <a:srgbClr val="595959"/>
                          </a:solidFill>
                        </a:rPr>
                        <a:t>Shyām Sharmā ke shahar meṃ shakkarpāre kī shāndār dukān hai</a:t>
                      </a:r>
                    </a:p>
                  </a:txBody>
                  <a:tcPr marT="25400" marB="25400" anchor="ctr">
                    <a:solidFill>
                      <a:srgbClr val="E8F0FE"/>
                    </a:solidFill>
                  </a:tcPr>
                </a:tc>
                <a:tc>
                  <a:txBody>
                    <a:bodyPr/>
                    <a:lstStyle/>
                    <a:p>
                      <a:pPr algn="r"/>
                      <a:r>
                        <a:rPr lang="en-US" sz="1400" b="0" dirty="0"/>
                        <a:t>70%</a:t>
                      </a:r>
                    </a:p>
                  </a:txBody>
                  <a:tcPr marT="25400" marB="25400" anchor="ctr">
                    <a:solidFill>
                      <a:srgbClr val="E8F0FE"/>
                    </a:solidFill>
                  </a:tcPr>
                </a:tc>
                <a:tc>
                  <a:txBody>
                    <a:bodyPr/>
                    <a:lstStyle/>
                    <a:p>
                      <a:pPr algn="r"/>
                      <a:r>
                        <a:rPr lang="en-US" sz="1400" b="0" dirty="0"/>
                        <a:t>70%</a:t>
                      </a:r>
                    </a:p>
                  </a:txBody>
                  <a:tcPr marT="25400" marB="25400" anchor="ctr">
                    <a:solidFill>
                      <a:srgbClr val="E8F0FE"/>
                    </a:solidFill>
                  </a:tcPr>
                </a:tc>
                <a:tc>
                  <a:txBody>
                    <a:bodyPr/>
                    <a:lstStyle/>
                    <a:p>
                      <a:pPr algn="r"/>
                      <a:r>
                        <a:rPr lang="en-US" sz="1400" b="0" dirty="0"/>
                        <a:t>60%</a:t>
                      </a:r>
                    </a:p>
                  </a:txBody>
                  <a:tcPr marT="25400" marB="25400" anchor="ctr">
                    <a:solidFill>
                      <a:srgbClr val="E8F0FE"/>
                    </a:solidFill>
                  </a:tcPr>
                </a:tc>
                <a:extLst>
                  <a:ext uri="{0D108BD9-81ED-4DB2-BD59-A6C34878D82A}">
                    <a16:rowId xmlns:a16="http://schemas.microsoft.com/office/drawing/2014/main" val="10004"/>
                  </a:ext>
                </a:extLst>
              </a:tr>
              <a:tr h="622300">
                <a:tc>
                  <a:txBody>
                    <a:bodyPr/>
                    <a:lstStyle/>
                    <a:p>
                      <a:r>
                        <a:rPr lang="en-US" sz="1400" b="0" dirty="0"/>
                        <a:t>H5</a:t>
                      </a:r>
                    </a:p>
                  </a:txBody>
                  <a:tcPr marT="25400" marB="25400" anchor="ctr">
                    <a:solidFill>
                      <a:srgbClr val="FFFFFF"/>
                    </a:solidFill>
                  </a:tcPr>
                </a:tc>
                <a:tc>
                  <a:txBody>
                    <a:bodyPr/>
                    <a:lstStyle/>
                    <a:p>
                      <a:pPr>
                        <a:lnSpc>
                          <a:spcPct val="115000"/>
                        </a:lnSpc>
                      </a:pPr>
                      <a:r>
                        <a:rPr lang="hi-IN" sz="1400" b="0" dirty="0"/>
                        <a:t>गुरु घंटाल घंटी बजाकर गधों को गिनने लगा।</a:t>
                      </a:r>
                    </a:p>
                  </a:txBody>
                  <a:tcPr marT="25400" marB="25400" anchor="ctr">
                    <a:solidFill>
                      <a:srgbClr val="FFFFFF"/>
                    </a:solidFill>
                  </a:tcPr>
                </a:tc>
                <a:tc>
                  <a:txBody>
                    <a:bodyPr/>
                    <a:lstStyle/>
                    <a:p>
                      <a:r>
                        <a:rPr lang="en-US" sz="1400" b="0" i="1" dirty="0">
                          <a:solidFill>
                            <a:srgbClr val="595959"/>
                          </a:solidFill>
                        </a:rPr>
                        <a:t>Guru ghaṇṭāl ghaṇṭī bajākar gadhoṃ ko ginne lagā</a:t>
                      </a:r>
                    </a:p>
                  </a:txBody>
                  <a:tcPr marT="25400" marB="25400" anchor="ctr">
                    <a:solidFill>
                      <a:srgbClr val="FFFFFF"/>
                    </a:solidFill>
                  </a:tcPr>
                </a:tc>
                <a:tc>
                  <a:txBody>
                    <a:bodyPr/>
                    <a:lstStyle/>
                    <a:p>
                      <a:pPr algn="r"/>
                      <a:r>
                        <a:rPr lang="en-US" sz="1400" b="0" dirty="0"/>
                        <a:t>62.5%</a:t>
                      </a:r>
                    </a:p>
                  </a:txBody>
                  <a:tcPr marT="25400" marB="25400" anchor="ctr">
                    <a:solidFill>
                      <a:srgbClr val="FFFFFF"/>
                    </a:solidFill>
                  </a:tcPr>
                </a:tc>
                <a:tc>
                  <a:txBody>
                    <a:bodyPr/>
                    <a:lstStyle/>
                    <a:p>
                      <a:pPr algn="r"/>
                      <a:r>
                        <a:rPr lang="en-US" sz="1400" b="0" dirty="0"/>
                        <a:t>62.5%</a:t>
                      </a:r>
                    </a:p>
                  </a:txBody>
                  <a:tcPr marT="25400" marB="25400" anchor="ctr">
                    <a:solidFill>
                      <a:srgbClr val="FFFFFF"/>
                    </a:solidFill>
                  </a:tcPr>
                </a:tc>
                <a:tc>
                  <a:txBody>
                    <a:bodyPr/>
                    <a:lstStyle/>
                    <a:p>
                      <a:pPr algn="r"/>
                      <a:r>
                        <a:rPr lang="en-US" sz="1400" b="0" dirty="0"/>
                        <a:t>37.5%</a:t>
                      </a:r>
                    </a:p>
                  </a:txBody>
                  <a:tcPr marT="25400" marB="25400" anchor="ctr">
                    <a:solidFill>
                      <a:srgbClr val="FFFFFF"/>
                    </a:solidFill>
                  </a:tcPr>
                </a:tc>
                <a:extLst>
                  <a:ext uri="{0D108BD9-81ED-4DB2-BD59-A6C34878D82A}">
                    <a16:rowId xmlns:a16="http://schemas.microsoft.com/office/drawing/2014/main" val="10005"/>
                  </a:ext>
                </a:extLst>
              </a:tr>
              <a:tr h="419100">
                <a:tc>
                  <a:txBody>
                    <a:bodyPr/>
                    <a:lstStyle/>
                    <a:p>
                      <a:endParaRPr lang="en-US" sz="1400" dirty="0"/>
                    </a:p>
                  </a:txBody>
                  <a:tcPr marT="25400" marB="25400" anchor="ctr">
                    <a:solidFill>
                      <a:srgbClr val="E8F0FE"/>
                    </a:solidFill>
                  </a:tcPr>
                </a:tc>
                <a:tc>
                  <a:txBody>
                    <a:bodyPr/>
                    <a:lstStyle/>
                    <a:p>
                      <a:r>
                        <a:rPr lang="en-US" sz="1400" b="0" dirty="0"/>
                        <a:t>Average</a:t>
                      </a:r>
                    </a:p>
                  </a:txBody>
                  <a:tcPr marT="25400" marB="25400" anchor="ctr">
                    <a:solidFill>
                      <a:srgbClr val="E8F0FE"/>
                    </a:solidFill>
                  </a:tcPr>
                </a:tc>
                <a:tc>
                  <a:txBody>
                    <a:bodyPr/>
                    <a:lstStyle/>
                    <a:p>
                      <a:endParaRPr lang="en-US" sz="1400" dirty="0"/>
                    </a:p>
                  </a:txBody>
                  <a:tcPr marT="25400" marB="25400" anchor="ctr">
                    <a:solidFill>
                      <a:srgbClr val="E8F0FE"/>
                    </a:solidFill>
                  </a:tcPr>
                </a:tc>
                <a:tc>
                  <a:txBody>
                    <a:bodyPr/>
                    <a:lstStyle/>
                    <a:p>
                      <a:pPr algn="r"/>
                      <a:r>
                        <a:rPr lang="en-US" sz="1400" b="0" dirty="0"/>
                        <a:t>57.6%</a:t>
                      </a:r>
                    </a:p>
                  </a:txBody>
                  <a:tcPr marT="25400" marB="25400" anchor="ctr">
                    <a:solidFill>
                      <a:srgbClr val="E8F0FE"/>
                    </a:solidFill>
                  </a:tcPr>
                </a:tc>
                <a:tc>
                  <a:txBody>
                    <a:bodyPr/>
                    <a:lstStyle/>
                    <a:p>
                      <a:pPr algn="r"/>
                      <a:r>
                        <a:rPr lang="en-US" sz="1400" b="0" dirty="0"/>
                        <a:t>57.6%</a:t>
                      </a:r>
                    </a:p>
                  </a:txBody>
                  <a:tcPr marT="25400" marB="25400" anchor="ctr">
                    <a:solidFill>
                      <a:srgbClr val="E8F0FE"/>
                    </a:solidFill>
                  </a:tcPr>
                </a:tc>
                <a:tc>
                  <a:txBody>
                    <a:bodyPr/>
                    <a:lstStyle/>
                    <a:p>
                      <a:pPr algn="r"/>
                      <a:r>
                        <a:rPr lang="en-US" sz="1400" b="0" dirty="0"/>
                        <a:t>37.0%</a:t>
                      </a:r>
                    </a:p>
                  </a:txBody>
                  <a:tcPr marT="25400" marB="25400" anchor="ctr">
                    <a:solidFill>
                      <a:srgbClr val="E8F0FE"/>
                    </a:solidFill>
                  </a:tcPr>
                </a:tc>
                <a:extLst>
                  <a:ext uri="{0D108BD9-81ED-4DB2-BD59-A6C34878D82A}">
                    <a16:rowId xmlns:a16="http://schemas.microsoft.com/office/drawing/2014/main" val="10006"/>
                  </a:ext>
                </a:extLst>
              </a:tr>
            </a:tbl>
          </a:graphicData>
        </a:graphic>
      </p:graphicFrame>
      <p:sp>
        <p:nvSpPr>
          <p:cNvPr id="30" name="Key finding"/>
          <p:cNvSpPr txBox="1"/>
          <p:nvPr/>
        </p:nvSpPr>
        <p:spPr>
          <a:xfrm>
            <a:off x="731520" y="5473700"/>
            <a:ext cx="10789920" cy="711200"/>
          </a:xfrm>
          <a:prstGeom prst="rect">
            <a:avLst/>
          </a:prstGeom>
          <a:solidFill>
            <a:srgbClr val="E8F0FE"/>
          </a:solidFill>
        </p:spPr>
        <p:txBody>
          <a:bodyPr wrap="square" lIns="152400" tIns="91440" rIns="152400" bIns="91440" anchor="ctr">
            <a:noAutofit/>
          </a:bodyPr>
          <a:lstStyle/>
          <a:p>
            <a:r>
              <a:rPr lang="en-US" sz="1600" b="1" dirty="0">
                <a:solidFill>
                  <a:srgbClr val="1F3864"/>
                </a:solidFill>
              </a:rPr>
              <a:t>Key finding: </a:t>
            </a:r>
            <a:r>
              <a:rPr lang="en-US" sz="1600" b="0" dirty="0">
                <a:solidFill>
                  <a:srgbClr val="1F3864"/>
                </a:solidFill>
              </a:rPr>
              <a:t>gTTS and edge-tts tied on all five Hindi sentences (57.6% average); MMS-TTS averaged 37.0%. H1 was hardest: both cloud tools heard ड़ as र.</a:t>
            </a:r>
          </a:p>
        </p:txBody>
      </p:sp>
    </p:spTree>
    <p:extLst>
      <p:ext uri="{BB962C8B-B14F-4D97-AF65-F5344CB8AC3E}">
        <p14:creationId xmlns:p14="http://schemas.microsoft.com/office/powerpoint/2010/main" val="445901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lang="en-US" sz="2800" b="1" dirty="0">
                <a:solidFill>
                  <a:srgbClr val="1F3864"/>
                </a:solidFill>
              </a:rPr>
              <a:t>TTS Accuracy Results — Bangla (Bengali ASR Model)</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14</a:t>
            </a:r>
            <a:endParaRPr lang="en-US" sz="1000" dirty="0">
              <a:solidFill>
                <a:srgbClr val="646464"/>
              </a:solidFill>
            </a:endParaRPr>
          </a:p>
        </p:txBody>
      </p:sp>
      <p:sp>
        <p:nvSpPr>
          <p:cNvPr id="5" name="TextBox 4"/>
          <p:cNvSpPr txBox="1"/>
          <p:nvPr/>
        </p:nvSpPr>
        <p:spPr>
          <a:xfrm>
            <a:off x="731520" y="838200"/>
            <a:ext cx="9584932" cy="338554"/>
          </a:xfrm>
          <a:prstGeom prst="rect">
            <a:avLst/>
          </a:prstGeom>
          <a:noFill/>
        </p:spPr>
        <p:txBody>
          <a:bodyPr wrap="none">
            <a:spAutoFit/>
          </a:bodyPr>
          <a:lstStyle/>
          <a:p>
            <a:r>
              <a:rPr sz="1600" i="1">
                <a:solidFill>
                  <a:srgbClr val="1F3864"/>
                </a:solidFill>
              </a:rPr>
              <a:t>Scored with bengaliAI/tugstugi_bengaliai-asr_whisper-medium (outputs correct Bengali script; see Methodology)</a:t>
            </a:r>
          </a:p>
        </p:txBody>
      </p:sp>
      <p:graphicFrame>
        <p:nvGraphicFramePr>
          <p:cNvPr id="6" name="Table 5"/>
          <p:cNvGraphicFramePr>
            <a:graphicFrameLocks noGrp="1"/>
          </p:cNvGraphicFramePr>
          <p:nvPr/>
        </p:nvGraphicFramePr>
        <p:xfrm>
          <a:off x="731520" y="1270000"/>
          <a:ext cx="10789920" cy="3784600"/>
        </p:xfrm>
        <a:graphic>
          <a:graphicData uri="http://schemas.openxmlformats.org/drawingml/2006/table">
            <a:tbl>
              <a:tblPr firstRow="1" bandRow="1">
                <a:tableStyleId>{5C22544A-7EE6-4342-B048-85BDC9FD1C3A}</a:tableStyleId>
              </a:tblPr>
              <a:tblGrid>
                <a:gridCol w="45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950000">
                  <a:extLst>
                    <a:ext uri="{9D8B030D-6E8A-4147-A177-3AD203B41FA5}">
                      <a16:colId xmlns:a16="http://schemas.microsoft.com/office/drawing/2014/main" val="20004"/>
                    </a:ext>
                  </a:extLst>
                </a:gridCol>
                <a:gridCol w="3189920">
                  <a:extLst>
                    <a:ext uri="{9D8B030D-6E8A-4147-A177-3AD203B41FA5}">
                      <a16:colId xmlns:a16="http://schemas.microsoft.com/office/drawing/2014/main" val="20005"/>
                    </a:ext>
                  </a:extLst>
                </a:gridCol>
              </a:tblGrid>
              <a:tr h="457200">
                <a:tc>
                  <a:txBody>
                    <a:bodyPr/>
                    <a:lstStyle/>
                    <a:p>
                      <a:r>
                        <a:rPr sz="1400" b="1">
                          <a:solidFill>
                            <a:srgbClr val="FFFFFF"/>
                          </a:solidFill>
                        </a:rPr>
                        <a:t>#</a:t>
                      </a:r>
                    </a:p>
                  </a:txBody>
                  <a:tcPr anchor="ctr">
                    <a:solidFill>
                      <a:srgbClr val="1F3864"/>
                    </a:solidFill>
                  </a:tcPr>
                </a:tc>
                <a:tc>
                  <a:txBody>
                    <a:bodyPr/>
                    <a:lstStyle/>
                    <a:p>
                      <a:r>
                        <a:rPr sz="1400" b="1">
                          <a:solidFill>
                            <a:srgbClr val="FFFFFF"/>
                          </a:solidFill>
                        </a:rPr>
                        <a:t>Input Sentence</a:t>
                      </a:r>
                    </a:p>
                  </a:txBody>
                  <a:tcPr anchor="ctr">
                    <a:solidFill>
                      <a:srgbClr val="1F3864"/>
                    </a:solidFill>
                  </a:tcPr>
                </a:tc>
                <a:tc>
                  <a:txBody>
                    <a:bodyPr/>
                    <a:lstStyle/>
                    <a:p>
                      <a:pPr algn="r"/>
                      <a:r>
                        <a:rPr sz="1400" b="1">
                          <a:solidFill>
                            <a:srgbClr val="FFFFFF"/>
                          </a:solidFill>
                        </a:rPr>
                        <a:t>gTTS</a:t>
                      </a:r>
                    </a:p>
                  </a:txBody>
                  <a:tcPr anchor="ctr">
                    <a:solidFill>
                      <a:srgbClr val="1F3864"/>
                    </a:solidFill>
                  </a:tcPr>
                </a:tc>
                <a:tc>
                  <a:txBody>
                    <a:bodyPr/>
                    <a:lstStyle/>
                    <a:p>
                      <a:pPr algn="r"/>
                      <a:r>
                        <a:rPr sz="1400" b="1">
                          <a:solidFill>
                            <a:srgbClr val="FFFFFF"/>
                          </a:solidFill>
                        </a:rPr>
                        <a:t>edge-tts</a:t>
                      </a:r>
                    </a:p>
                  </a:txBody>
                  <a:tcPr anchor="ctr">
                    <a:solidFill>
                      <a:srgbClr val="1F3864"/>
                    </a:solidFill>
                  </a:tcPr>
                </a:tc>
                <a:tc>
                  <a:txBody>
                    <a:bodyPr/>
                    <a:lstStyle/>
                    <a:p>
                      <a:pPr algn="r"/>
                      <a:r>
                        <a:rPr sz="1400" b="1">
                          <a:solidFill>
                            <a:srgbClr val="FFFFFF"/>
                          </a:solidFill>
                        </a:rPr>
                        <a:t>MMS-TTS</a:t>
                      </a:r>
                    </a:p>
                  </a:txBody>
                  <a:tcPr anchor="ctr">
                    <a:solidFill>
                      <a:srgbClr val="1F3864"/>
                    </a:solidFill>
                  </a:tcPr>
                </a:tc>
                <a:tc>
                  <a:txBody>
                    <a:bodyPr/>
                    <a:lstStyle/>
                    <a:p>
                      <a:r>
                        <a:rPr sz="1400" b="1">
                          <a:solidFill>
                            <a:srgbClr val="FFFFFF"/>
                          </a:solidFill>
                        </a:rPr>
                        <a:t>Hardest challenge</a:t>
                      </a:r>
                    </a:p>
                  </a:txBody>
                  <a:tcPr anchor="ctr">
                    <a:solidFill>
                      <a:srgbClr val="1F3864"/>
                    </a:solidFill>
                  </a:tcPr>
                </a:tc>
                <a:extLst>
                  <a:ext uri="{0D108BD9-81ED-4DB2-BD59-A6C34878D82A}">
                    <a16:rowId xmlns:a16="http://schemas.microsoft.com/office/drawing/2014/main" val="10000"/>
                  </a:ext>
                </a:extLst>
              </a:tr>
              <a:tr h="584200">
                <a:tc>
                  <a:txBody>
                    <a:bodyPr/>
                    <a:lstStyle/>
                    <a:p>
                      <a:r>
                        <a:rPr sz="1400" b="0"/>
                        <a:t>B1</a:t>
                      </a:r>
                    </a:p>
                  </a:txBody>
                  <a:tcPr anchor="ctr">
                    <a:solidFill>
                      <a:srgbClr val="FFFFFF"/>
                    </a:solidFill>
                  </a:tcPr>
                </a:tc>
                <a:tc>
                  <a:txBody>
                    <a:bodyPr/>
                    <a:lstStyle/>
                    <a:p>
                      <a:r>
                        <a:rPr lang="bn-BD" sz="1600" b="0"/>
                        <a:t>কাঁচা কাঁঠাল পাকা কাঁঠাল খেতে বড় মিষ্টি।</a:t>
                      </a:r>
                    </a:p>
                  </a:txBody>
                  <a:tcPr anchor="ctr">
                    <a:solidFill>
                      <a:srgbClr val="FFFFFF"/>
                    </a:solidFill>
                  </a:tcPr>
                </a:tc>
                <a:tc>
                  <a:txBody>
                    <a:bodyPr/>
                    <a:lstStyle/>
                    <a:p>
                      <a:pPr algn="r"/>
                      <a:r>
                        <a:rPr sz="1400" b="0"/>
                        <a:t>85.7%</a:t>
                      </a:r>
                    </a:p>
                  </a:txBody>
                  <a:tcPr anchor="ctr">
                    <a:solidFill>
                      <a:srgbClr val="FFFFFF"/>
                    </a:solidFill>
                  </a:tcPr>
                </a:tc>
                <a:tc>
                  <a:txBody>
                    <a:bodyPr/>
                    <a:lstStyle/>
                    <a:p>
                      <a:pPr algn="r"/>
                      <a:r>
                        <a:rPr sz="1400" b="0"/>
                        <a:t>85.7%</a:t>
                      </a:r>
                    </a:p>
                  </a:txBody>
                  <a:tcPr anchor="ctr">
                    <a:solidFill>
                      <a:srgbClr val="FFFFFF"/>
                    </a:solidFill>
                  </a:tcPr>
                </a:tc>
                <a:tc>
                  <a:txBody>
                    <a:bodyPr/>
                    <a:lstStyle/>
                    <a:p>
                      <a:pPr algn="r"/>
                      <a:r>
                        <a:rPr sz="1400" b="0"/>
                        <a:t>71.4%</a:t>
                      </a:r>
                    </a:p>
                  </a:txBody>
                  <a:tcPr anchor="ctr">
                    <a:solidFill>
                      <a:srgbClr val="FFFFFF"/>
                    </a:solidFill>
                  </a:tcPr>
                </a:tc>
                <a:tc>
                  <a:txBody>
                    <a:bodyPr/>
                    <a:lstStyle/>
                    <a:p>
                      <a:r>
                        <a:rPr sz="1400" b="0"/>
                        <a:t>Nasalized কাঁ, aspirated ঠ</a:t>
                      </a:r>
                    </a:p>
                  </a:txBody>
                  <a:tcPr anchor="ctr">
                    <a:solidFill>
                      <a:srgbClr val="FFFFFF"/>
                    </a:solidFill>
                  </a:tcPr>
                </a:tc>
                <a:extLst>
                  <a:ext uri="{0D108BD9-81ED-4DB2-BD59-A6C34878D82A}">
                    <a16:rowId xmlns:a16="http://schemas.microsoft.com/office/drawing/2014/main" val="10001"/>
                  </a:ext>
                </a:extLst>
              </a:tr>
              <a:tr h="584200">
                <a:tc>
                  <a:txBody>
                    <a:bodyPr/>
                    <a:lstStyle/>
                    <a:p>
                      <a:r>
                        <a:rPr sz="1400" b="0"/>
                        <a:t>B2</a:t>
                      </a:r>
                    </a:p>
                  </a:txBody>
                  <a:tcPr anchor="ctr">
                    <a:solidFill>
                      <a:srgbClr val="E8F0FE"/>
                    </a:solidFill>
                  </a:tcPr>
                </a:tc>
                <a:tc>
                  <a:txBody>
                    <a:bodyPr/>
                    <a:lstStyle/>
                    <a:p>
                      <a:r>
                        <a:rPr lang="bn-BD" sz="1600" b="0"/>
                        <a:t>শরৎকালে শিউলি ফুলের সুবাস চারিদিকে ছড়িয়ে পড়ে।</a:t>
                      </a:r>
                    </a:p>
                  </a:txBody>
                  <a:tcPr anchor="ctr">
                    <a:solidFill>
                      <a:srgbClr val="E8F0FE"/>
                    </a:solidFill>
                  </a:tcPr>
                </a:tc>
                <a:tc>
                  <a:txBody>
                    <a:bodyPr/>
                    <a:lstStyle/>
                    <a:p>
                      <a:pPr algn="r"/>
                      <a:r>
                        <a:rPr sz="1400" b="0"/>
                        <a:t>57.1%</a:t>
                      </a:r>
                    </a:p>
                  </a:txBody>
                  <a:tcPr anchor="ctr">
                    <a:solidFill>
                      <a:srgbClr val="E8F0FE"/>
                    </a:solidFill>
                  </a:tcPr>
                </a:tc>
                <a:tc>
                  <a:txBody>
                    <a:bodyPr/>
                    <a:lstStyle/>
                    <a:p>
                      <a:pPr algn="r"/>
                      <a:r>
                        <a:rPr sz="1400" b="0"/>
                        <a:t>57.1%</a:t>
                      </a:r>
                    </a:p>
                  </a:txBody>
                  <a:tcPr anchor="ctr">
                    <a:solidFill>
                      <a:srgbClr val="E8F0FE"/>
                    </a:solidFill>
                  </a:tcPr>
                </a:tc>
                <a:tc>
                  <a:txBody>
                    <a:bodyPr/>
                    <a:lstStyle/>
                    <a:p>
                      <a:pPr algn="r"/>
                      <a:r>
                        <a:rPr sz="1400" b="0"/>
                        <a:t>57.1%</a:t>
                      </a:r>
                    </a:p>
                  </a:txBody>
                  <a:tcPr anchor="ctr">
                    <a:solidFill>
                      <a:srgbClr val="E8F0FE"/>
                    </a:solidFill>
                  </a:tcPr>
                </a:tc>
                <a:tc>
                  <a:txBody>
                    <a:bodyPr/>
                    <a:lstStyle/>
                    <a:p>
                      <a:r>
                        <a:rPr sz="1400" b="0"/>
                        <a:t>Khanda ta ৎ in শরৎ — all tools approximate</a:t>
                      </a:r>
                    </a:p>
                  </a:txBody>
                  <a:tcPr anchor="ctr">
                    <a:solidFill>
                      <a:srgbClr val="E8F0FE"/>
                    </a:solidFill>
                  </a:tcPr>
                </a:tc>
                <a:extLst>
                  <a:ext uri="{0D108BD9-81ED-4DB2-BD59-A6C34878D82A}">
                    <a16:rowId xmlns:a16="http://schemas.microsoft.com/office/drawing/2014/main" val="10002"/>
                  </a:ext>
                </a:extLst>
              </a:tr>
              <a:tr h="584200">
                <a:tc>
                  <a:txBody>
                    <a:bodyPr/>
                    <a:lstStyle/>
                    <a:p>
                      <a:r>
                        <a:rPr sz="1400" b="0"/>
                        <a:t>B3</a:t>
                      </a:r>
                    </a:p>
                  </a:txBody>
                  <a:tcPr anchor="ctr">
                    <a:solidFill>
                      <a:srgbClr val="FFFFFF"/>
                    </a:solidFill>
                  </a:tcPr>
                </a:tc>
                <a:tc>
                  <a:txBody>
                    <a:bodyPr/>
                    <a:lstStyle/>
                    <a:p>
                      <a:r>
                        <a:rPr lang="bn-BD" sz="1600" b="0"/>
                        <a:t>রাস্তার ধারে ছড়ানো ছিটানো কাঁচের টুকরো।</a:t>
                      </a:r>
                    </a:p>
                  </a:txBody>
                  <a:tcPr anchor="ctr">
                    <a:solidFill>
                      <a:srgbClr val="FFFFFF"/>
                    </a:solidFill>
                  </a:tcPr>
                </a:tc>
                <a:tc>
                  <a:txBody>
                    <a:bodyPr/>
                    <a:lstStyle/>
                    <a:p>
                      <a:pPr algn="r"/>
                      <a:r>
                        <a:rPr sz="1400" b="0"/>
                        <a:t>50.0%</a:t>
                      </a:r>
                    </a:p>
                  </a:txBody>
                  <a:tcPr anchor="ctr">
                    <a:solidFill>
                      <a:srgbClr val="FFFFFF"/>
                    </a:solidFill>
                  </a:tcPr>
                </a:tc>
                <a:tc>
                  <a:txBody>
                    <a:bodyPr/>
                    <a:lstStyle/>
                    <a:p>
                      <a:pPr algn="r"/>
                      <a:r>
                        <a:rPr sz="1400" b="0"/>
                        <a:t>66.7%</a:t>
                      </a:r>
                    </a:p>
                  </a:txBody>
                  <a:tcPr anchor="ctr">
                    <a:solidFill>
                      <a:srgbClr val="FFFFFF"/>
                    </a:solidFill>
                  </a:tcPr>
                </a:tc>
                <a:tc>
                  <a:txBody>
                    <a:bodyPr/>
                    <a:lstStyle/>
                    <a:p>
                      <a:pPr algn="r"/>
                      <a:r>
                        <a:rPr sz="1400" b="0"/>
                        <a:t>66.7%</a:t>
                      </a:r>
                    </a:p>
                  </a:txBody>
                  <a:tcPr anchor="ctr">
                    <a:solidFill>
                      <a:srgbClr val="FFFFFF"/>
                    </a:solidFill>
                  </a:tcPr>
                </a:tc>
                <a:tc>
                  <a:txBody>
                    <a:bodyPr/>
                    <a:lstStyle/>
                    <a:p>
                      <a:r>
                        <a:rPr sz="1400" b="0"/>
                        <a:t>Retroflex ছিটানো vs ছিতানো</a:t>
                      </a:r>
                    </a:p>
                  </a:txBody>
                  <a:tcPr anchor="ctr">
                    <a:solidFill>
                      <a:srgbClr val="FFFFFF"/>
                    </a:solidFill>
                  </a:tcPr>
                </a:tc>
                <a:extLst>
                  <a:ext uri="{0D108BD9-81ED-4DB2-BD59-A6C34878D82A}">
                    <a16:rowId xmlns:a16="http://schemas.microsoft.com/office/drawing/2014/main" val="10003"/>
                  </a:ext>
                </a:extLst>
              </a:tr>
              <a:tr h="584200">
                <a:tc>
                  <a:txBody>
                    <a:bodyPr/>
                    <a:lstStyle/>
                    <a:p>
                      <a:r>
                        <a:rPr sz="1400" b="0"/>
                        <a:t>B4</a:t>
                      </a:r>
                    </a:p>
                  </a:txBody>
                  <a:tcPr anchor="ctr">
                    <a:solidFill>
                      <a:srgbClr val="E8F0FE"/>
                    </a:solidFill>
                  </a:tcPr>
                </a:tc>
                <a:tc>
                  <a:txBody>
                    <a:bodyPr/>
                    <a:lstStyle/>
                    <a:p>
                      <a:r>
                        <a:rPr lang="bn-BD" sz="1600" b="0"/>
                        <a:t>তেলাপোকা তিন তলায় তিড়িং করে লাফ দিল।</a:t>
                      </a:r>
                    </a:p>
                  </a:txBody>
                  <a:tcPr anchor="ctr">
                    <a:solidFill>
                      <a:srgbClr val="E8F0FE"/>
                    </a:solidFill>
                  </a:tcPr>
                </a:tc>
                <a:tc>
                  <a:txBody>
                    <a:bodyPr/>
                    <a:lstStyle/>
                    <a:p>
                      <a:pPr algn="r"/>
                      <a:r>
                        <a:rPr sz="1400" b="0"/>
                        <a:t>71.4%</a:t>
                      </a:r>
                    </a:p>
                  </a:txBody>
                  <a:tcPr anchor="ctr">
                    <a:solidFill>
                      <a:srgbClr val="E8F0FE"/>
                    </a:solidFill>
                  </a:tcPr>
                </a:tc>
                <a:tc>
                  <a:txBody>
                    <a:bodyPr/>
                    <a:lstStyle/>
                    <a:p>
                      <a:pPr algn="r"/>
                      <a:r>
                        <a:rPr sz="1400" b="0"/>
                        <a:t>71.4%</a:t>
                      </a:r>
                    </a:p>
                  </a:txBody>
                  <a:tcPr anchor="ctr">
                    <a:solidFill>
                      <a:srgbClr val="E8F0FE"/>
                    </a:solidFill>
                  </a:tcPr>
                </a:tc>
                <a:tc>
                  <a:txBody>
                    <a:bodyPr/>
                    <a:lstStyle/>
                    <a:p>
                      <a:pPr algn="r"/>
                      <a:r>
                        <a:rPr sz="1400" b="0"/>
                        <a:t>71.4%</a:t>
                      </a:r>
                    </a:p>
                  </a:txBody>
                  <a:tcPr anchor="ctr">
                    <a:solidFill>
                      <a:srgbClr val="E8F0FE"/>
                    </a:solidFill>
                  </a:tcPr>
                </a:tc>
                <a:tc>
                  <a:txBody>
                    <a:bodyPr/>
                    <a:lstStyle/>
                    <a:p>
                      <a:r>
                        <a:rPr sz="1400" b="0"/>
                        <a:t>Retroflex flap ড়ি → ড/র substitution</a:t>
                      </a:r>
                    </a:p>
                  </a:txBody>
                  <a:tcPr anchor="ctr">
                    <a:solidFill>
                      <a:srgbClr val="E8F0FE"/>
                    </a:solidFill>
                  </a:tcPr>
                </a:tc>
                <a:extLst>
                  <a:ext uri="{0D108BD9-81ED-4DB2-BD59-A6C34878D82A}">
                    <a16:rowId xmlns:a16="http://schemas.microsoft.com/office/drawing/2014/main" val="10004"/>
                  </a:ext>
                </a:extLst>
              </a:tr>
              <a:tr h="584200">
                <a:tc>
                  <a:txBody>
                    <a:bodyPr/>
                    <a:lstStyle/>
                    <a:p>
                      <a:r>
                        <a:rPr sz="1400" b="0"/>
                        <a:t>B5</a:t>
                      </a:r>
                    </a:p>
                  </a:txBody>
                  <a:tcPr anchor="ctr">
                    <a:solidFill>
                      <a:srgbClr val="FFFFFF"/>
                    </a:solidFill>
                  </a:tcPr>
                </a:tc>
                <a:tc>
                  <a:txBody>
                    <a:bodyPr/>
                    <a:lstStyle/>
                    <a:p>
                      <a:r>
                        <a:rPr lang="bn-BD" sz="1600" b="0"/>
                        <a:t>তিনি ঋণ শোধ করে নিশ্চিন্ত হলেন।</a:t>
                      </a:r>
                    </a:p>
                  </a:txBody>
                  <a:tcPr anchor="ctr">
                    <a:solidFill>
                      <a:srgbClr val="FFFFFF"/>
                    </a:solidFill>
                  </a:tcPr>
                </a:tc>
                <a:tc>
                  <a:txBody>
                    <a:bodyPr/>
                    <a:lstStyle/>
                    <a:p>
                      <a:pPr algn="r"/>
                      <a:r>
                        <a:rPr sz="1400" b="0"/>
                        <a:t>100%</a:t>
                      </a:r>
                    </a:p>
                  </a:txBody>
                  <a:tcPr anchor="ctr">
                    <a:solidFill>
                      <a:srgbClr val="FFFFFF"/>
                    </a:solidFill>
                  </a:tcPr>
                </a:tc>
                <a:tc>
                  <a:txBody>
                    <a:bodyPr/>
                    <a:lstStyle/>
                    <a:p>
                      <a:pPr algn="r"/>
                      <a:r>
                        <a:rPr sz="1400" b="0"/>
                        <a:t>83.3%</a:t>
                      </a:r>
                    </a:p>
                  </a:txBody>
                  <a:tcPr anchor="ctr">
                    <a:solidFill>
                      <a:srgbClr val="FFFFFF"/>
                    </a:solidFill>
                  </a:tcPr>
                </a:tc>
                <a:tc>
                  <a:txBody>
                    <a:bodyPr/>
                    <a:lstStyle/>
                    <a:p>
                      <a:pPr algn="r"/>
                      <a:r>
                        <a:rPr sz="1400" b="0"/>
                        <a:t>100%</a:t>
                      </a:r>
                    </a:p>
                  </a:txBody>
                  <a:tcPr anchor="ctr">
                    <a:solidFill>
                      <a:srgbClr val="FFFFFF"/>
                    </a:solidFill>
                  </a:tcPr>
                </a:tc>
                <a:tc>
                  <a:txBody>
                    <a:bodyPr/>
                    <a:lstStyle/>
                    <a:p>
                      <a:r>
                        <a:rPr sz="1400" b="0"/>
                        <a:t>Vocalic ঋ — gTTS/MMS perfect</a:t>
                      </a:r>
                    </a:p>
                  </a:txBody>
                  <a:tcPr anchor="ctr">
                    <a:solidFill>
                      <a:srgbClr val="FFFFFF"/>
                    </a:solidFill>
                  </a:tcPr>
                </a:tc>
                <a:extLst>
                  <a:ext uri="{0D108BD9-81ED-4DB2-BD59-A6C34878D82A}">
                    <a16:rowId xmlns:a16="http://schemas.microsoft.com/office/drawing/2014/main" val="10005"/>
                  </a:ext>
                </a:extLst>
              </a:tr>
              <a:tr h="406400">
                <a:tc>
                  <a:txBody>
                    <a:bodyPr/>
                    <a:lstStyle/>
                    <a:p>
                      <a:endParaRPr sz="1600"/>
                    </a:p>
                  </a:txBody>
                  <a:tcPr anchor="ctr">
                    <a:solidFill>
                      <a:srgbClr val="E8F0FE"/>
                    </a:solidFill>
                  </a:tcPr>
                </a:tc>
                <a:tc>
                  <a:txBody>
                    <a:bodyPr/>
                    <a:lstStyle/>
                    <a:p>
                      <a:r>
                        <a:rPr sz="1400" b="0"/>
                        <a:t>Average</a:t>
                      </a:r>
                    </a:p>
                  </a:txBody>
                  <a:tcPr anchor="ctr">
                    <a:solidFill>
                      <a:srgbClr val="E8F0FE"/>
                    </a:solidFill>
                  </a:tcPr>
                </a:tc>
                <a:tc>
                  <a:txBody>
                    <a:bodyPr/>
                    <a:lstStyle/>
                    <a:p>
                      <a:pPr algn="r"/>
                      <a:r>
                        <a:rPr sz="1400" b="0"/>
                        <a:t>72.8%</a:t>
                      </a:r>
                    </a:p>
                  </a:txBody>
                  <a:tcPr anchor="ctr">
                    <a:solidFill>
                      <a:srgbClr val="E8F0FE"/>
                    </a:solidFill>
                  </a:tcPr>
                </a:tc>
                <a:tc>
                  <a:txBody>
                    <a:bodyPr/>
                    <a:lstStyle/>
                    <a:p>
                      <a:pPr algn="r"/>
                      <a:r>
                        <a:rPr sz="1400" b="0"/>
                        <a:t>72.8%</a:t>
                      </a:r>
                    </a:p>
                  </a:txBody>
                  <a:tcPr anchor="ctr">
                    <a:solidFill>
                      <a:srgbClr val="E8F0FE"/>
                    </a:solidFill>
                  </a:tcPr>
                </a:tc>
                <a:tc>
                  <a:txBody>
                    <a:bodyPr/>
                    <a:lstStyle/>
                    <a:p>
                      <a:pPr algn="r"/>
                      <a:r>
                        <a:rPr sz="1400" b="0"/>
                        <a:t>73.3%</a:t>
                      </a:r>
                    </a:p>
                  </a:txBody>
                  <a:tcPr anchor="ctr">
                    <a:solidFill>
                      <a:srgbClr val="E8F0FE"/>
                    </a:solidFill>
                  </a:tcPr>
                </a:tc>
                <a:tc>
                  <a:txBody>
                    <a:bodyPr/>
                    <a:lstStyle/>
                    <a:p>
                      <a:r>
                        <a:rPr sz="1400" b="0"/>
                        <a:t>All three tools broadly similar</a:t>
                      </a:r>
                    </a:p>
                  </a:txBody>
                  <a:tcPr anchor="ctr">
                    <a:solidFill>
                      <a:srgbClr val="E8F0FE"/>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731520" y="5384800"/>
            <a:ext cx="10789920" cy="812800"/>
          </a:xfrm>
          <a:prstGeom prst="rect">
            <a:avLst/>
          </a:prstGeom>
          <a:solidFill>
            <a:srgbClr val="E8F0FE"/>
          </a:solidFill>
        </p:spPr>
        <p:txBody>
          <a:bodyPr wrap="square" lIns="152400" tIns="91440" rIns="152400" bIns="91440" anchor="ctr">
            <a:noAutofit/>
          </a:bodyPr>
          <a:lstStyle/>
          <a:p>
            <a:r>
              <a:rPr lang="en-US" sz="1600" b="1" dirty="0">
                <a:solidFill>
                  <a:srgbClr val="1F3864"/>
                </a:solidFill>
              </a:rPr>
              <a:t>Key finding: </a:t>
            </a:r>
            <a:r>
              <a:rPr lang="en-US" sz="1600" b="0" dirty="0">
                <a:solidFill>
                  <a:srgbClr val="1F3864"/>
                </a:solidFill>
              </a:rPr>
              <a:t>all three tools score 72–73% on Bangla, well above the earlier flat-0% artifact. B2 (শরৎকালে) was hardest: each engine rendered the khanda ta ৎ differently from the reference.</a:t>
            </a:r>
          </a:p>
        </p:txBody>
      </p:sp>
    </p:spTree>
    <p:extLst>
      <p:ext uri="{BB962C8B-B14F-4D97-AF65-F5344CB8AC3E}">
        <p14:creationId xmlns:p14="http://schemas.microsoft.com/office/powerpoint/2010/main" val="1396723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lang="en-US" sz="2800" b="1" dirty="0">
                <a:solidFill>
                  <a:srgbClr val="1F3864"/>
                </a:solidFill>
              </a:rPr>
              <a:t>TTS — Notable Errors &amp; Key Analysis</a:t>
            </a:r>
          </a:p>
        </p:txBody>
      </p:sp>
      <p:sp>
        <p:nvSpPr>
          <p:cNvPr id="3" name="Rectangle 2"/>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US" sz="1000">
                <a:solidFill>
                  <a:srgbClr val="646464"/>
                </a:solidFill>
              </a:rPr>
              <a:t>15</a:t>
            </a:r>
            <a:endParaRPr lang="en-US" sz="1000" dirty="0">
              <a:solidFill>
                <a:srgbClr val="646464"/>
              </a:solidFill>
            </a:endParaRPr>
          </a:p>
        </p:txBody>
      </p:sp>
      <p:sp>
        <p:nvSpPr>
          <p:cNvPr id="5" name="TextBox 4"/>
          <p:cNvSpPr txBox="1"/>
          <p:nvPr/>
        </p:nvSpPr>
        <p:spPr>
          <a:xfrm>
            <a:off x="508000" y="812800"/>
            <a:ext cx="10922000" cy="2870200"/>
          </a:xfrm>
          <a:prstGeom prst="rect">
            <a:avLst/>
          </a:prstGeom>
          <a:noFill/>
        </p:spPr>
        <p:txBody>
          <a:bodyPr wrap="square" rtlCol="0">
            <a:noAutofit/>
          </a:bodyPr>
          <a:lstStyle/>
          <a:p>
            <a:r>
              <a:rPr lang="en-US" sz="2000" b="1" dirty="0">
                <a:solidFill>
                  <a:srgbClr val="1F3864"/>
                </a:solidFill>
              </a:rPr>
              <a:t>Notable errors on the hard sentences</a:t>
            </a:r>
          </a:p>
          <a:p>
            <a:pPr>
              <a:spcBef>
                <a:spcPts val="600"/>
              </a:spcBef>
            </a:pPr>
            <a:endParaRPr lang="en-US" sz="600" dirty="0"/>
          </a:p>
          <a:p>
            <a:pPr marL="285750" indent="-285750">
              <a:spcBef>
                <a:spcPts val="0"/>
              </a:spcBef>
              <a:buFont typeface="Arial"/>
              <a:buChar char="•"/>
            </a:pPr>
            <a:r>
              <a:rPr lang="en-US" sz="1600" b="1" dirty="0">
                <a:solidFill>
                  <a:srgbClr val="1F3864"/>
                </a:solidFill>
              </a:rPr>
              <a:t>English E3: </a:t>
            </a:r>
            <a:r>
              <a:rPr lang="en-US" sz="1600" b="0" dirty="0">
                <a:solidFill>
                  <a:srgbClr val="000000"/>
                </a:solidFill>
              </a:rPr>
              <a:t>hardest for every tool (“The sixth sick sheikh’s sixth sheep’s sick”). gTTS 85.7%, MMS-TTS 57.1%, edge-tts 42.9% (heard “The 6th 6-Sixth 6th Sheep Sick”).</a:t>
            </a:r>
          </a:p>
          <a:p>
            <a:pPr marL="285750" indent="-285750">
              <a:spcBef>
                <a:spcPts val="1400"/>
              </a:spcBef>
              <a:buFont typeface="Arial"/>
              <a:buChar char="•"/>
            </a:pPr>
            <a:r>
              <a:rPr lang="en-US" sz="1600" b="1" dirty="0">
                <a:solidFill>
                  <a:srgbClr val="1F3864"/>
                </a:solidFill>
              </a:rPr>
              <a:t>English E2: </a:t>
            </a:r>
            <a:r>
              <a:rPr lang="en-US" sz="1600" b="0" dirty="0">
                <a:solidFill>
                  <a:srgbClr val="000000"/>
                </a:solidFill>
              </a:rPr>
              <a:t>MMS-TTS scored 0%. Its output, “Ear-bipper-pickety-pickety-pickling-pippers”, was unintelligible.</a:t>
            </a:r>
          </a:p>
          <a:p>
            <a:pPr marL="285750" indent="-285750">
              <a:spcBef>
                <a:spcPts val="1400"/>
              </a:spcBef>
              <a:buFont typeface="Arial"/>
              <a:buChar char="•"/>
            </a:pPr>
            <a:r>
              <a:rPr lang="en-US" sz="1600" b="1" dirty="0">
                <a:solidFill>
                  <a:srgbClr val="1F3864"/>
                </a:solidFill>
              </a:rPr>
              <a:t>Hindi H1 (कच्चा पापड़, kachchā pāpaṛ): </a:t>
            </a:r>
            <a:r>
              <a:rPr lang="en-US" sz="1600" b="0" dirty="0">
                <a:solidFill>
                  <a:srgbClr val="000000"/>
                </a:solidFill>
              </a:rPr>
              <a:t>all three scored 50% or less. gTTS and edge-tts heard ड़ as र; MMS-TTS got 0%.</a:t>
            </a:r>
          </a:p>
          <a:p>
            <a:pPr marL="285750" indent="-285750">
              <a:spcBef>
                <a:spcPts val="1400"/>
              </a:spcBef>
              <a:buFont typeface="Arial"/>
              <a:buChar char="•"/>
            </a:pPr>
            <a:r>
              <a:rPr lang="en-US" sz="1600" b="1" dirty="0">
                <a:solidFill>
                  <a:srgbClr val="1F3864"/>
                </a:solidFill>
              </a:rPr>
              <a:t>Bangla B2 (শরৎকালে): </a:t>
            </a:r>
            <a:r>
              <a:rPr lang="en-US" sz="1600" b="0" dirty="0">
                <a:solidFill>
                  <a:srgbClr val="000000"/>
                </a:solidFill>
              </a:rPr>
              <a:t>each engine approximated the khanda ta ৎ differently (শরত / তৎকালে / স্বল্টকালে), and all scored 57.1%.</a:t>
            </a:r>
          </a:p>
        </p:txBody>
      </p:sp>
      <p:graphicFrame>
        <p:nvGraphicFramePr>
          <p:cNvPr id="6" name="Table 5"/>
          <p:cNvGraphicFramePr>
            <a:graphicFrameLocks noGrp="1"/>
          </p:cNvGraphicFramePr>
          <p:nvPr/>
        </p:nvGraphicFramePr>
        <p:xfrm>
          <a:off x="596900" y="3784600"/>
          <a:ext cx="10789920" cy="2438400"/>
        </p:xfrm>
        <a:graphic>
          <a:graphicData uri="http://schemas.openxmlformats.org/drawingml/2006/table">
            <a:tbl>
              <a:tblPr firstRow="1" bandRow="1">
                <a:tableStyleId>{5C22544A-7EE6-4342-B048-85BDC9FD1C3A}</a:tableStyleId>
              </a:tblPr>
              <a:tblGrid>
                <a:gridCol w="2900000">
                  <a:extLst>
                    <a:ext uri="{9D8B030D-6E8A-4147-A177-3AD203B41FA5}">
                      <a16:colId xmlns:a16="http://schemas.microsoft.com/office/drawing/2014/main" val="20000"/>
                    </a:ext>
                  </a:extLst>
                </a:gridCol>
                <a:gridCol w="2630000">
                  <a:extLst>
                    <a:ext uri="{9D8B030D-6E8A-4147-A177-3AD203B41FA5}">
                      <a16:colId xmlns:a16="http://schemas.microsoft.com/office/drawing/2014/main" val="20001"/>
                    </a:ext>
                  </a:extLst>
                </a:gridCol>
                <a:gridCol w="2630000">
                  <a:extLst>
                    <a:ext uri="{9D8B030D-6E8A-4147-A177-3AD203B41FA5}">
                      <a16:colId xmlns:a16="http://schemas.microsoft.com/office/drawing/2014/main" val="20002"/>
                    </a:ext>
                  </a:extLst>
                </a:gridCol>
                <a:gridCol w="2629920">
                  <a:extLst>
                    <a:ext uri="{9D8B030D-6E8A-4147-A177-3AD203B41FA5}">
                      <a16:colId xmlns:a16="http://schemas.microsoft.com/office/drawing/2014/main" val="20003"/>
                    </a:ext>
                  </a:extLst>
                </a:gridCol>
              </a:tblGrid>
              <a:tr h="406400">
                <a:tc>
                  <a:txBody>
                    <a:bodyPr/>
                    <a:lstStyle/>
                    <a:p>
                      <a:r>
                        <a:rPr sz="1600" b="1" dirty="0">
                          <a:solidFill>
                            <a:srgbClr val="FFFFFF"/>
                          </a:solidFill>
                        </a:rPr>
                        <a:t>Factor</a:t>
                      </a:r>
                    </a:p>
                  </a:txBody>
                  <a:tcPr marT="25400" marB="25400" anchor="ctr">
                    <a:solidFill>
                      <a:srgbClr val="1F3864"/>
                    </a:solidFill>
                  </a:tcPr>
                </a:tc>
                <a:tc>
                  <a:txBody>
                    <a:bodyPr/>
                    <a:lstStyle/>
                    <a:p>
                      <a:pPr algn="r"/>
                      <a:r>
                        <a:rPr sz="1600" b="1" dirty="0">
                          <a:solidFill>
                            <a:srgbClr val="FFFFFF"/>
                          </a:solidFill>
                        </a:rPr>
                        <a:t>gTTS (Google)</a:t>
                      </a:r>
                    </a:p>
                  </a:txBody>
                  <a:tcPr marT="25400" marB="25400" anchor="ctr">
                    <a:solidFill>
                      <a:srgbClr val="1F3864"/>
                    </a:solidFill>
                  </a:tcPr>
                </a:tc>
                <a:tc>
                  <a:txBody>
                    <a:bodyPr/>
                    <a:lstStyle/>
                    <a:p>
                      <a:pPr algn="r"/>
                      <a:r>
                        <a:rPr sz="1600" b="1">
                          <a:solidFill>
                            <a:srgbClr val="FFFFFF"/>
                          </a:solidFill>
                        </a:rPr>
                        <a:t>edge-tts (Microsoft)</a:t>
                      </a:r>
                    </a:p>
                  </a:txBody>
                  <a:tcPr marT="25400" marB="25400" anchor="ctr">
                    <a:solidFill>
                      <a:srgbClr val="1F3864"/>
                    </a:solidFill>
                  </a:tcPr>
                </a:tc>
                <a:tc>
                  <a:txBody>
                    <a:bodyPr/>
                    <a:lstStyle/>
                    <a:p>
                      <a:pPr algn="r"/>
                      <a:r>
                        <a:rPr sz="1600" b="1">
                          <a:solidFill>
                            <a:srgbClr val="FFFFFF"/>
                          </a:solidFill>
                        </a:rPr>
                        <a:t>MMS-TTS (Facebook)</a:t>
                      </a:r>
                    </a:p>
                  </a:txBody>
                  <a:tcPr marT="25400" marB="25400" anchor="ctr">
                    <a:solidFill>
                      <a:srgbClr val="1F3864"/>
                    </a:solidFill>
                  </a:tcPr>
                </a:tc>
                <a:extLst>
                  <a:ext uri="{0D108BD9-81ED-4DB2-BD59-A6C34878D82A}">
                    <a16:rowId xmlns:a16="http://schemas.microsoft.com/office/drawing/2014/main" val="10000"/>
                  </a:ext>
                </a:extLst>
              </a:tr>
              <a:tr h="406400">
                <a:tc>
                  <a:txBody>
                    <a:bodyPr/>
                    <a:lstStyle/>
                    <a:p>
                      <a:r>
                        <a:rPr sz="1600" b="0"/>
                        <a:t>Avg. English accuracy</a:t>
                      </a:r>
                    </a:p>
                  </a:txBody>
                  <a:tcPr marT="25400" marB="25400" anchor="ctr">
                    <a:solidFill>
                      <a:srgbClr val="FFFFFF"/>
                    </a:solidFill>
                  </a:tcPr>
                </a:tc>
                <a:tc>
                  <a:txBody>
                    <a:bodyPr/>
                    <a:lstStyle/>
                    <a:p>
                      <a:pPr algn="r"/>
                      <a:r>
                        <a:rPr sz="1600" b="0"/>
                        <a:t>97.1%</a:t>
                      </a:r>
                    </a:p>
                  </a:txBody>
                  <a:tcPr marT="25400" marB="25400" anchor="ctr">
                    <a:solidFill>
                      <a:srgbClr val="FFFFFF"/>
                    </a:solidFill>
                  </a:tcPr>
                </a:tc>
                <a:tc>
                  <a:txBody>
                    <a:bodyPr/>
                    <a:lstStyle/>
                    <a:p>
                      <a:pPr algn="r"/>
                      <a:r>
                        <a:rPr sz="1600" b="0"/>
                        <a:t>76.1%</a:t>
                      </a:r>
                    </a:p>
                  </a:txBody>
                  <a:tcPr marT="25400" marB="25400" anchor="ctr">
                    <a:solidFill>
                      <a:srgbClr val="FFFFFF"/>
                    </a:solidFill>
                  </a:tcPr>
                </a:tc>
                <a:tc>
                  <a:txBody>
                    <a:bodyPr/>
                    <a:lstStyle/>
                    <a:p>
                      <a:pPr algn="r"/>
                      <a:r>
                        <a:rPr sz="1600" b="0"/>
                        <a:t>57.4%</a:t>
                      </a:r>
                    </a:p>
                  </a:txBody>
                  <a:tcPr marT="25400" marB="25400" anchor="ctr">
                    <a:solidFill>
                      <a:srgbClr val="FFFFFF"/>
                    </a:solidFill>
                  </a:tcPr>
                </a:tc>
                <a:extLst>
                  <a:ext uri="{0D108BD9-81ED-4DB2-BD59-A6C34878D82A}">
                    <a16:rowId xmlns:a16="http://schemas.microsoft.com/office/drawing/2014/main" val="10001"/>
                  </a:ext>
                </a:extLst>
              </a:tr>
              <a:tr h="406400">
                <a:tc>
                  <a:txBody>
                    <a:bodyPr/>
                    <a:lstStyle/>
                    <a:p>
                      <a:r>
                        <a:rPr sz="1600" b="0"/>
                        <a:t>Avg. Hindi accuracy</a:t>
                      </a:r>
                    </a:p>
                  </a:txBody>
                  <a:tcPr marT="25400" marB="25400" anchor="ctr">
                    <a:solidFill>
                      <a:srgbClr val="E8F0FE"/>
                    </a:solidFill>
                  </a:tcPr>
                </a:tc>
                <a:tc>
                  <a:txBody>
                    <a:bodyPr/>
                    <a:lstStyle/>
                    <a:p>
                      <a:pPr algn="r"/>
                      <a:r>
                        <a:rPr sz="1600" b="0"/>
                        <a:t>57.6%</a:t>
                      </a:r>
                    </a:p>
                  </a:txBody>
                  <a:tcPr marT="25400" marB="25400" anchor="ctr">
                    <a:solidFill>
                      <a:srgbClr val="E8F0FE"/>
                    </a:solidFill>
                  </a:tcPr>
                </a:tc>
                <a:tc>
                  <a:txBody>
                    <a:bodyPr/>
                    <a:lstStyle/>
                    <a:p>
                      <a:pPr algn="r"/>
                      <a:r>
                        <a:rPr sz="1600" b="0"/>
                        <a:t>57.6%</a:t>
                      </a:r>
                    </a:p>
                  </a:txBody>
                  <a:tcPr marT="25400" marB="25400" anchor="ctr">
                    <a:solidFill>
                      <a:srgbClr val="E8F0FE"/>
                    </a:solidFill>
                  </a:tcPr>
                </a:tc>
                <a:tc>
                  <a:txBody>
                    <a:bodyPr/>
                    <a:lstStyle/>
                    <a:p>
                      <a:pPr algn="r"/>
                      <a:r>
                        <a:rPr sz="1600" b="0"/>
                        <a:t>37.0%</a:t>
                      </a:r>
                    </a:p>
                  </a:txBody>
                  <a:tcPr marT="25400" marB="25400" anchor="ctr">
                    <a:solidFill>
                      <a:srgbClr val="E8F0FE"/>
                    </a:solidFill>
                  </a:tcPr>
                </a:tc>
                <a:extLst>
                  <a:ext uri="{0D108BD9-81ED-4DB2-BD59-A6C34878D82A}">
                    <a16:rowId xmlns:a16="http://schemas.microsoft.com/office/drawing/2014/main" val="10002"/>
                  </a:ext>
                </a:extLst>
              </a:tr>
              <a:tr h="406400">
                <a:tc>
                  <a:txBody>
                    <a:bodyPr/>
                    <a:lstStyle/>
                    <a:p>
                      <a:r>
                        <a:rPr sz="1600" b="0"/>
                        <a:t>Avg. Bangla accuracy</a:t>
                      </a:r>
                    </a:p>
                  </a:txBody>
                  <a:tcPr marT="25400" marB="25400" anchor="ctr">
                    <a:solidFill>
                      <a:srgbClr val="FFFFFF"/>
                    </a:solidFill>
                  </a:tcPr>
                </a:tc>
                <a:tc>
                  <a:txBody>
                    <a:bodyPr/>
                    <a:lstStyle/>
                    <a:p>
                      <a:pPr algn="r"/>
                      <a:r>
                        <a:rPr sz="1600" b="0"/>
                        <a:t>72.8%</a:t>
                      </a:r>
                    </a:p>
                  </a:txBody>
                  <a:tcPr marT="25400" marB="25400" anchor="ctr">
                    <a:solidFill>
                      <a:srgbClr val="FFFFFF"/>
                    </a:solidFill>
                  </a:tcPr>
                </a:tc>
                <a:tc>
                  <a:txBody>
                    <a:bodyPr/>
                    <a:lstStyle/>
                    <a:p>
                      <a:pPr algn="r"/>
                      <a:r>
                        <a:rPr sz="1600" b="0"/>
                        <a:t>72.8%</a:t>
                      </a:r>
                    </a:p>
                  </a:txBody>
                  <a:tcPr marT="25400" marB="25400" anchor="ctr">
                    <a:solidFill>
                      <a:srgbClr val="FFFFFF"/>
                    </a:solidFill>
                  </a:tcPr>
                </a:tc>
                <a:tc>
                  <a:txBody>
                    <a:bodyPr/>
                    <a:lstStyle/>
                    <a:p>
                      <a:pPr algn="r"/>
                      <a:r>
                        <a:rPr sz="1600" b="0"/>
                        <a:t>73.3%</a:t>
                      </a:r>
                    </a:p>
                  </a:txBody>
                  <a:tcPr marT="25400" marB="25400" anchor="ctr">
                    <a:solidFill>
                      <a:srgbClr val="FFFFFF"/>
                    </a:solidFill>
                  </a:tcPr>
                </a:tc>
                <a:extLst>
                  <a:ext uri="{0D108BD9-81ED-4DB2-BD59-A6C34878D82A}">
                    <a16:rowId xmlns:a16="http://schemas.microsoft.com/office/drawing/2014/main" val="10003"/>
                  </a:ext>
                </a:extLst>
              </a:tr>
              <a:tr h="406400">
                <a:tc>
                  <a:txBody>
                    <a:bodyPr/>
                    <a:lstStyle/>
                    <a:p>
                      <a:r>
                        <a:rPr sz="1600" b="0"/>
                        <a:t>Works offline</a:t>
                      </a:r>
                    </a:p>
                  </a:txBody>
                  <a:tcPr marT="25400" marB="25400" anchor="ctr">
                    <a:solidFill>
                      <a:srgbClr val="E8F0FE"/>
                    </a:solidFill>
                  </a:tcPr>
                </a:tc>
                <a:tc>
                  <a:txBody>
                    <a:bodyPr/>
                    <a:lstStyle/>
                    <a:p>
                      <a:pPr algn="r"/>
                      <a:r>
                        <a:rPr sz="1600" b="0"/>
                        <a:t>No</a:t>
                      </a:r>
                    </a:p>
                  </a:txBody>
                  <a:tcPr marT="25400" marB="25400" anchor="ctr">
                    <a:solidFill>
                      <a:srgbClr val="E8F0FE"/>
                    </a:solidFill>
                  </a:tcPr>
                </a:tc>
                <a:tc>
                  <a:txBody>
                    <a:bodyPr/>
                    <a:lstStyle/>
                    <a:p>
                      <a:pPr algn="r"/>
                      <a:r>
                        <a:rPr sz="1600" b="0"/>
                        <a:t>No</a:t>
                      </a:r>
                    </a:p>
                  </a:txBody>
                  <a:tcPr marT="25400" marB="25400" anchor="ctr">
                    <a:solidFill>
                      <a:srgbClr val="E8F0FE"/>
                    </a:solidFill>
                  </a:tcPr>
                </a:tc>
                <a:tc>
                  <a:txBody>
                    <a:bodyPr/>
                    <a:lstStyle/>
                    <a:p>
                      <a:pPr algn="r"/>
                      <a:r>
                        <a:rPr sz="1600" b="0"/>
                        <a:t>Yes</a:t>
                      </a:r>
                    </a:p>
                  </a:txBody>
                  <a:tcPr marT="25400" marB="25400" anchor="ctr">
                    <a:solidFill>
                      <a:srgbClr val="E8F0FE"/>
                    </a:solidFill>
                  </a:tcPr>
                </a:tc>
                <a:extLst>
                  <a:ext uri="{0D108BD9-81ED-4DB2-BD59-A6C34878D82A}">
                    <a16:rowId xmlns:a16="http://schemas.microsoft.com/office/drawing/2014/main" val="10004"/>
                  </a:ext>
                </a:extLst>
              </a:tr>
              <a:tr h="406400">
                <a:tc>
                  <a:txBody>
                    <a:bodyPr/>
                    <a:lstStyle/>
                    <a:p>
                      <a:r>
                        <a:rPr sz="1600" b="0"/>
                        <a:t>Best for</a:t>
                      </a:r>
                    </a:p>
                  </a:txBody>
                  <a:tcPr marT="25400" marB="25400" anchor="ctr">
                    <a:solidFill>
                      <a:srgbClr val="FFFFFF"/>
                    </a:solidFill>
                  </a:tcPr>
                </a:tc>
                <a:tc>
                  <a:txBody>
                    <a:bodyPr/>
                    <a:lstStyle/>
                    <a:p>
                      <a:pPr algn="r"/>
                      <a:r>
                        <a:rPr sz="1600" b="0"/>
                        <a:t>English accuracy</a:t>
                      </a:r>
                    </a:p>
                  </a:txBody>
                  <a:tcPr marT="25400" marB="25400" anchor="ctr">
                    <a:solidFill>
                      <a:srgbClr val="FFFFFF"/>
                    </a:solidFill>
                  </a:tcPr>
                </a:tc>
                <a:tc>
                  <a:txBody>
                    <a:bodyPr/>
                    <a:lstStyle/>
                    <a:p>
                      <a:pPr algn="r"/>
                      <a:r>
                        <a:rPr sz="1600" b="0"/>
                        <a:t>Ties gTTS on Hindi, Bangla</a:t>
                      </a:r>
                    </a:p>
                  </a:txBody>
                  <a:tcPr marT="25400" marB="25400" anchor="ctr">
                    <a:solidFill>
                      <a:srgbClr val="FFFFFF"/>
                    </a:solidFill>
                  </a:tcPr>
                </a:tc>
                <a:tc>
                  <a:txBody>
                    <a:bodyPr/>
                    <a:lstStyle/>
                    <a:p>
                      <a:pPr algn="r"/>
                      <a:r>
                        <a:rPr sz="1600" b="0" dirty="0"/>
                        <a:t>Offline use</a:t>
                      </a:r>
                    </a:p>
                  </a:txBody>
                  <a:tcPr marT="25400" marB="25400"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08000" y="3352800"/>
            <a:ext cx="10922000" cy="381000"/>
          </a:xfrm>
          <a:prstGeom prst="rect">
            <a:avLst/>
          </a:prstGeom>
          <a:noFill/>
        </p:spPr>
        <p:txBody>
          <a:bodyPr wrap="square" rtlCol="0">
            <a:noAutofit/>
          </a:bodyPr>
          <a:lstStyle/>
          <a:p>
            <a:r>
              <a:rPr lang="en-US" sz="2000" b="1" dirty="0">
                <a:solidFill>
                  <a:srgbClr val="1F3864"/>
                </a:solidFill>
              </a:rPr>
              <a:t>Summary: tool comparison</a:t>
            </a:r>
          </a:p>
        </p:txBody>
      </p:sp>
    </p:spTree>
    <p:extLst>
      <p:ext uri="{BB962C8B-B14F-4D97-AF65-F5344CB8AC3E}">
        <p14:creationId xmlns:p14="http://schemas.microsoft.com/office/powerpoint/2010/main" val="969569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pPr>
              <a:defRPr sz="2800" b="1">
                <a:solidFill>
                  <a:srgbClr val="1F3864"/>
                </a:solidFill>
              </a:defRPr>
            </a:pPr>
            <a:r>
              <a:t>4. Machine Translation</a:t>
            </a:r>
          </a:p>
        </p:txBody>
      </p:sp>
      <p:sp>
        <p:nvSpPr>
          <p:cNvPr id="3" name="TextBox 2"/>
          <p:cNvSpPr txBox="1"/>
          <p:nvPr/>
        </p:nvSpPr>
        <p:spPr>
          <a:xfrm>
            <a:off x="731520" y="1234440"/>
            <a:ext cx="10789920" cy="4057521"/>
          </a:xfrm>
          <a:prstGeom prst="rect">
            <a:avLst/>
          </a:prstGeom>
          <a:noFill/>
        </p:spPr>
        <p:txBody>
          <a:bodyPr wrap="square">
            <a:spAutoFit/>
          </a:bodyPr>
          <a:lstStyle/>
          <a:p>
            <a:pPr>
              <a:spcAft>
                <a:spcPts val="1000"/>
              </a:spcAft>
              <a:defRPr sz="2000">
                <a:solidFill>
                  <a:srgbClr val="232323"/>
                </a:solidFill>
              </a:defRPr>
            </a:pPr>
            <a:r>
              <a:rPr sz="2400" dirty="0"/>
              <a:t>• Machine Translation automatically translates text from one language into another.</a:t>
            </a:r>
          </a:p>
          <a:p>
            <a:pPr>
              <a:spcAft>
                <a:spcPts val="1000"/>
              </a:spcAft>
              <a:defRPr sz="2000">
                <a:solidFill>
                  <a:srgbClr val="232323"/>
                </a:solidFill>
              </a:defRPr>
            </a:pPr>
            <a:r>
              <a:rPr sz="2400" dirty="0"/>
              <a:t>• </a:t>
            </a:r>
            <a:r>
              <a:rPr lang="en-US" sz="2400" dirty="0"/>
              <a:t>Modern MT uses statistical, neural and increasingly large-language-model-based techniques.</a:t>
            </a:r>
          </a:p>
          <a:p>
            <a:pPr>
              <a:spcAft>
                <a:spcPts val="1000"/>
              </a:spcAft>
              <a:defRPr sz="2000">
                <a:solidFill>
                  <a:srgbClr val="232323"/>
                </a:solidFill>
              </a:defRPr>
            </a:pPr>
            <a:r>
              <a:rPr lang="en-US" sz="2400" dirty="0"/>
              <a:t>• Good MT should preserve both meaning and grammatical form.</a:t>
            </a:r>
          </a:p>
          <a:p>
            <a:pPr>
              <a:spcAft>
                <a:spcPts val="1000"/>
              </a:spcAft>
              <a:defRPr sz="2000">
                <a:solidFill>
                  <a:srgbClr val="232323"/>
                </a:solidFill>
              </a:defRPr>
            </a:pPr>
            <a:r>
              <a:rPr lang="en-US" sz="2400" dirty="0"/>
              <a:t>• Major challenges include ambiguity, idioms, context, gender, word order and figurative language.</a:t>
            </a:r>
            <a:endParaRPr sz="2400" dirty="0"/>
          </a:p>
          <a:p>
            <a:pPr>
              <a:spcAft>
                <a:spcPts val="1000"/>
              </a:spcAft>
              <a:defRPr sz="2000">
                <a:solidFill>
                  <a:srgbClr val="232323"/>
                </a:solidFill>
              </a:defRPr>
            </a:pPr>
            <a:r>
              <a:rPr sz="2400" dirty="0"/>
              <a:t>• Benefits: global communication, cross-language information access, business and education support.</a:t>
            </a:r>
            <a:endParaRPr lang="en-US" sz="2400" dirty="0"/>
          </a:p>
          <a:p>
            <a:pPr>
              <a:spcAft>
                <a:spcPts val="1000"/>
              </a:spcAft>
              <a:defRPr sz="2000">
                <a:solidFill>
                  <a:srgbClr val="232323"/>
                </a:solidFill>
              </a:defRPr>
            </a:pPr>
            <a:endParaRPr sz="2400" dirty="0"/>
          </a:p>
        </p:txBody>
      </p:sp>
      <p:sp>
        <p:nvSpPr>
          <p:cNvPr id="4" name="Rectangle 3"/>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629758-AAE5-82E0-6EA2-3AB113065A7E}"/>
              </a:ext>
            </a:extLst>
          </p:cNvPr>
          <p:cNvSpPr txBox="1"/>
          <p:nvPr/>
        </p:nvSpPr>
        <p:spPr>
          <a:xfrm>
            <a:off x="502920" y="274320"/>
            <a:ext cx="5797677" cy="523220"/>
          </a:xfrm>
          <a:prstGeom prst="rect">
            <a:avLst/>
          </a:prstGeom>
          <a:noFill/>
        </p:spPr>
        <p:txBody>
          <a:bodyPr wrap="none">
            <a:spAutoFit/>
          </a:bodyPr>
          <a:lstStyle/>
          <a:p>
            <a:pPr>
              <a:defRPr sz="2800" b="1">
                <a:solidFill>
                  <a:srgbClr val="1F3864"/>
                </a:solidFill>
              </a:defRPr>
            </a:pPr>
            <a:r>
              <a:rPr dirty="0"/>
              <a:t>MT</a:t>
            </a:r>
            <a:r>
              <a:rPr lang="en-US" dirty="0"/>
              <a:t> Experimental Design &amp; Evaluation</a:t>
            </a:r>
            <a:endParaRPr dirty="0"/>
          </a:p>
        </p:txBody>
      </p:sp>
      <p:sp>
        <p:nvSpPr>
          <p:cNvPr id="5" name="TextBox 4">
            <a:extLst>
              <a:ext uri="{FF2B5EF4-FFF2-40B4-BE49-F238E27FC236}">
                <a16:creationId xmlns:a16="http://schemas.microsoft.com/office/drawing/2014/main" id="{213A357A-7F37-F816-606A-5A388002E16B}"/>
              </a:ext>
            </a:extLst>
          </p:cNvPr>
          <p:cNvSpPr txBox="1"/>
          <p:nvPr/>
        </p:nvSpPr>
        <p:spPr>
          <a:xfrm>
            <a:off x="731520" y="1234440"/>
            <a:ext cx="10789920" cy="4057521"/>
          </a:xfrm>
          <a:prstGeom prst="rect">
            <a:avLst/>
          </a:prstGeom>
          <a:noFill/>
        </p:spPr>
        <p:txBody>
          <a:bodyPr wrap="square">
            <a:spAutoFit/>
          </a:bodyPr>
          <a:lstStyle/>
          <a:p>
            <a:pPr>
              <a:spcAft>
                <a:spcPts val="1000"/>
              </a:spcAft>
              <a:defRPr sz="2000">
                <a:solidFill>
                  <a:srgbClr val="232323"/>
                </a:solidFill>
              </a:defRPr>
            </a:pPr>
            <a:r>
              <a:rPr sz="2400" dirty="0"/>
              <a:t>• </a:t>
            </a:r>
            <a:r>
              <a:rPr lang="en-US" sz="2400" dirty="0"/>
              <a:t>Languages: Bangla, English and Hindi.</a:t>
            </a:r>
            <a:endParaRPr sz="2400" dirty="0"/>
          </a:p>
          <a:p>
            <a:pPr>
              <a:spcAft>
                <a:spcPts val="1000"/>
              </a:spcAft>
              <a:defRPr sz="2000">
                <a:solidFill>
                  <a:srgbClr val="232323"/>
                </a:solidFill>
              </a:defRPr>
            </a:pPr>
            <a:r>
              <a:rPr sz="2400" dirty="0"/>
              <a:t>• </a:t>
            </a:r>
            <a:r>
              <a:rPr lang="en-US" sz="2400" dirty="0"/>
              <a:t>Directions: English → Hindi, Hindi → English, English → Bangla and Bangla → English.</a:t>
            </a:r>
          </a:p>
          <a:p>
            <a:pPr>
              <a:spcAft>
                <a:spcPts val="1000"/>
              </a:spcAft>
              <a:defRPr sz="2000">
                <a:solidFill>
                  <a:srgbClr val="232323"/>
                </a:solidFill>
              </a:defRPr>
            </a:pPr>
            <a:r>
              <a:rPr lang="en-US" sz="2400" dirty="0"/>
              <a:t>• Systems: Google Translate, SYSTRAN, Yandex Translate and Bing Translator.</a:t>
            </a:r>
          </a:p>
          <a:p>
            <a:pPr>
              <a:spcAft>
                <a:spcPts val="1000"/>
              </a:spcAft>
              <a:defRPr sz="2000">
                <a:solidFill>
                  <a:srgbClr val="232323"/>
                </a:solidFill>
              </a:defRPr>
            </a:pPr>
            <a:r>
              <a:rPr lang="en-US" sz="2400" dirty="0"/>
              <a:t>• Dataset: 20 collected examples; each direction includes easy and difficult sentences.</a:t>
            </a:r>
            <a:endParaRPr sz="2400" dirty="0"/>
          </a:p>
          <a:p>
            <a:pPr>
              <a:spcAft>
                <a:spcPts val="1000"/>
              </a:spcAft>
              <a:defRPr sz="2000">
                <a:solidFill>
                  <a:srgbClr val="232323"/>
                </a:solidFill>
              </a:defRPr>
            </a:pPr>
            <a:r>
              <a:rPr sz="2400" dirty="0"/>
              <a:t>• </a:t>
            </a:r>
            <a:r>
              <a:rPr lang="en-US" sz="2400" dirty="0"/>
              <a:t>Easy examples test basic vocabulary/grammar; difficult examples test ambiguity, idioms and contextual meaning.</a:t>
            </a:r>
          </a:p>
          <a:p>
            <a:pPr>
              <a:spcAft>
                <a:spcPts val="1000"/>
              </a:spcAft>
              <a:defRPr sz="2000">
                <a:solidFill>
                  <a:srgbClr val="232323"/>
                </a:solidFill>
              </a:defRPr>
            </a:pPr>
            <a:r>
              <a:rPr lang="en-US" sz="2400" dirty="0"/>
              <a:t>• Criteria: meaning preservation, grammatical correctness, lexical accuracy and contextual/idiomatic interpretation.</a:t>
            </a:r>
          </a:p>
        </p:txBody>
      </p:sp>
      <p:sp>
        <p:nvSpPr>
          <p:cNvPr id="7" name="Rectangle 6">
            <a:extLst>
              <a:ext uri="{FF2B5EF4-FFF2-40B4-BE49-F238E27FC236}">
                <a16:creationId xmlns:a16="http://schemas.microsoft.com/office/drawing/2014/main" id="{31405505-3C02-CF7C-EC57-5F627C5F2DE6}"/>
              </a:ext>
            </a:extLst>
          </p:cNvPr>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1317C7C-3AF4-EC5D-2D18-C53B7AE8EA9A}"/>
              </a:ext>
            </a:extLst>
          </p:cNvPr>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17</a:t>
            </a:r>
            <a:endParaRPr/>
          </a:p>
        </p:txBody>
      </p:sp>
    </p:spTree>
    <p:extLst>
      <p:ext uri="{BB962C8B-B14F-4D97-AF65-F5344CB8AC3E}">
        <p14:creationId xmlns:p14="http://schemas.microsoft.com/office/powerpoint/2010/main" val="878906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 y="269240"/>
            <a:ext cx="11155680" cy="594360"/>
          </a:xfrm>
          <a:prstGeom prst="rect">
            <a:avLst/>
          </a:prstGeom>
          <a:noFill/>
        </p:spPr>
        <p:txBody>
          <a:bodyPr wrap="none">
            <a:spAutoFit/>
          </a:bodyPr>
          <a:lstStyle/>
          <a:p>
            <a:pPr>
              <a:defRPr sz="2800" b="1">
                <a:solidFill>
                  <a:srgbClr val="1F3864"/>
                </a:solidFill>
              </a:defRPr>
            </a:pPr>
            <a:r>
              <a:rPr dirty="0"/>
              <a:t>MT Practic</a:t>
            </a:r>
            <a:r>
              <a:rPr lang="en-US" dirty="0"/>
              <a:t>al Experiment</a:t>
            </a:r>
            <a:endParaRPr dirty="0"/>
          </a:p>
        </p:txBody>
      </p:sp>
      <p:sp>
        <p:nvSpPr>
          <p:cNvPr id="5" name="Rectangle 4"/>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18</a:t>
            </a:r>
            <a:endParaRPr/>
          </a:p>
        </p:txBody>
      </p:sp>
      <p:graphicFrame>
        <p:nvGraphicFramePr>
          <p:cNvPr id="8" name="Table 7">
            <a:extLst>
              <a:ext uri="{FF2B5EF4-FFF2-40B4-BE49-F238E27FC236}">
                <a16:creationId xmlns:a16="http://schemas.microsoft.com/office/drawing/2014/main" id="{BCD8CC96-7ED5-5967-9156-727D8B2A7CEB}"/>
              </a:ext>
            </a:extLst>
          </p:cNvPr>
          <p:cNvGraphicFramePr>
            <a:graphicFrameLocks noGrp="1"/>
          </p:cNvGraphicFramePr>
          <p:nvPr>
            <p:extLst>
              <p:ext uri="{D42A27DB-BD31-4B8C-83A1-F6EECF244321}">
                <p14:modId xmlns:p14="http://schemas.microsoft.com/office/powerpoint/2010/main" val="2224875160"/>
              </p:ext>
            </p:extLst>
          </p:nvPr>
        </p:nvGraphicFramePr>
        <p:xfrm>
          <a:off x="297180" y="782659"/>
          <a:ext cx="11567158" cy="4971518"/>
        </p:xfrm>
        <a:graphic>
          <a:graphicData uri="http://schemas.openxmlformats.org/drawingml/2006/table">
            <a:tbl>
              <a:tblPr firstRow="1" bandRow="1">
                <a:tableStyleId>{5C22544A-7EE6-4342-B048-85BDC9FD1C3A}</a:tableStyleId>
              </a:tblPr>
              <a:tblGrid>
                <a:gridCol w="849135">
                  <a:extLst>
                    <a:ext uri="{9D8B030D-6E8A-4147-A177-3AD203B41FA5}">
                      <a16:colId xmlns:a16="http://schemas.microsoft.com/office/drawing/2014/main" val="20001"/>
                    </a:ext>
                  </a:extLst>
                </a:gridCol>
                <a:gridCol w="960728">
                  <a:extLst>
                    <a:ext uri="{9D8B030D-6E8A-4147-A177-3AD203B41FA5}">
                      <a16:colId xmlns:a16="http://schemas.microsoft.com/office/drawing/2014/main" val="20002"/>
                    </a:ext>
                  </a:extLst>
                </a:gridCol>
                <a:gridCol w="1204604">
                  <a:extLst>
                    <a:ext uri="{9D8B030D-6E8A-4147-A177-3AD203B41FA5}">
                      <a16:colId xmlns:a16="http://schemas.microsoft.com/office/drawing/2014/main" val="20003"/>
                    </a:ext>
                  </a:extLst>
                </a:gridCol>
                <a:gridCol w="1470652">
                  <a:extLst>
                    <a:ext uri="{9D8B030D-6E8A-4147-A177-3AD203B41FA5}">
                      <a16:colId xmlns:a16="http://schemas.microsoft.com/office/drawing/2014/main" val="2367758005"/>
                    </a:ext>
                  </a:extLst>
                </a:gridCol>
                <a:gridCol w="1470652">
                  <a:extLst>
                    <a:ext uri="{9D8B030D-6E8A-4147-A177-3AD203B41FA5}">
                      <a16:colId xmlns:a16="http://schemas.microsoft.com/office/drawing/2014/main" val="20004"/>
                    </a:ext>
                  </a:extLst>
                </a:gridCol>
                <a:gridCol w="1211994">
                  <a:extLst>
                    <a:ext uri="{9D8B030D-6E8A-4147-A177-3AD203B41FA5}">
                      <a16:colId xmlns:a16="http://schemas.microsoft.com/office/drawing/2014/main" val="20005"/>
                    </a:ext>
                  </a:extLst>
                </a:gridCol>
                <a:gridCol w="1130702">
                  <a:extLst>
                    <a:ext uri="{9D8B030D-6E8A-4147-A177-3AD203B41FA5}">
                      <a16:colId xmlns:a16="http://schemas.microsoft.com/office/drawing/2014/main" val="20006"/>
                    </a:ext>
                  </a:extLst>
                </a:gridCol>
                <a:gridCol w="1345019">
                  <a:extLst>
                    <a:ext uri="{9D8B030D-6E8A-4147-A177-3AD203B41FA5}">
                      <a16:colId xmlns:a16="http://schemas.microsoft.com/office/drawing/2014/main" val="20007"/>
                    </a:ext>
                  </a:extLst>
                </a:gridCol>
                <a:gridCol w="1923672">
                  <a:extLst>
                    <a:ext uri="{9D8B030D-6E8A-4147-A177-3AD203B41FA5}">
                      <a16:colId xmlns:a16="http://schemas.microsoft.com/office/drawing/2014/main" val="20008"/>
                    </a:ext>
                  </a:extLst>
                </a:gridCol>
              </a:tblGrid>
              <a:tr h="863369">
                <a:tc>
                  <a:txBody>
                    <a:bodyPr/>
                    <a:lstStyle/>
                    <a:p>
                      <a:pPr algn="ctr">
                        <a:defRPr sz="800" b="1"/>
                      </a:pPr>
                      <a:r>
                        <a:rPr sz="1400" dirty="0"/>
                        <a:t>Direction</a:t>
                      </a:r>
                    </a:p>
                  </a:txBody>
                  <a:tcPr/>
                </a:tc>
                <a:tc>
                  <a:txBody>
                    <a:bodyPr/>
                    <a:lstStyle/>
                    <a:p>
                      <a:pPr algn="ctr">
                        <a:defRPr sz="800" b="1"/>
                      </a:pPr>
                      <a:r>
                        <a:rPr sz="1400"/>
                        <a:t>Level</a:t>
                      </a:r>
                    </a:p>
                  </a:txBody>
                  <a:tcPr/>
                </a:tc>
                <a:tc>
                  <a:txBody>
                    <a:bodyPr/>
                    <a:lstStyle/>
                    <a:p>
                      <a:pPr algn="ctr">
                        <a:defRPr sz="800" b="1"/>
                      </a:pPr>
                      <a:r>
                        <a:rPr sz="1400" dirty="0"/>
                        <a:t>Source</a:t>
                      </a:r>
                    </a:p>
                  </a:txBody>
                  <a:tcPr/>
                </a:tc>
                <a:tc>
                  <a:txBody>
                    <a:bodyPr/>
                    <a:lstStyle/>
                    <a:p>
                      <a:pPr algn="ctr">
                        <a:defRPr sz="800" b="1"/>
                      </a:pPr>
                      <a:r>
                        <a:rPr lang="en-US" sz="1400" dirty="0"/>
                        <a:t>Expected Output</a:t>
                      </a:r>
                      <a:endParaRPr sz="1400" dirty="0"/>
                    </a:p>
                  </a:txBody>
                  <a:tcPr/>
                </a:tc>
                <a:tc>
                  <a:txBody>
                    <a:bodyPr/>
                    <a:lstStyle/>
                    <a:p>
                      <a:pPr algn="ctr">
                        <a:defRPr sz="800" b="1"/>
                      </a:pPr>
                      <a:r>
                        <a:rPr sz="1400" dirty="0"/>
                        <a:t>Google</a:t>
                      </a:r>
                    </a:p>
                  </a:txBody>
                  <a:tcPr/>
                </a:tc>
                <a:tc>
                  <a:txBody>
                    <a:bodyPr/>
                    <a:lstStyle/>
                    <a:p>
                      <a:pPr algn="ctr">
                        <a:defRPr sz="800" b="1"/>
                      </a:pPr>
                      <a:r>
                        <a:rPr sz="1400" dirty="0"/>
                        <a:t>SYSTRAN</a:t>
                      </a:r>
                    </a:p>
                  </a:txBody>
                  <a:tcPr/>
                </a:tc>
                <a:tc>
                  <a:txBody>
                    <a:bodyPr/>
                    <a:lstStyle/>
                    <a:p>
                      <a:pPr algn="ctr">
                        <a:defRPr sz="800" b="1"/>
                      </a:pPr>
                      <a:r>
                        <a:rPr sz="1400" dirty="0"/>
                        <a:t>Yandex</a:t>
                      </a:r>
                    </a:p>
                  </a:txBody>
                  <a:tcPr/>
                </a:tc>
                <a:tc>
                  <a:txBody>
                    <a:bodyPr/>
                    <a:lstStyle/>
                    <a:p>
                      <a:pPr algn="ctr">
                        <a:defRPr sz="800" b="1"/>
                      </a:pPr>
                      <a:r>
                        <a:rPr sz="1400"/>
                        <a:t>Bing</a:t>
                      </a:r>
                    </a:p>
                  </a:txBody>
                  <a:tcPr/>
                </a:tc>
                <a:tc>
                  <a:txBody>
                    <a:bodyPr/>
                    <a:lstStyle/>
                    <a:p>
                      <a:pPr algn="ctr">
                        <a:defRPr sz="800" b="1"/>
                      </a:pPr>
                      <a:r>
                        <a:rPr sz="1400" dirty="0"/>
                        <a:t>Short analysis</a:t>
                      </a:r>
                    </a:p>
                  </a:txBody>
                  <a:tcPr/>
                </a:tc>
                <a:extLst>
                  <a:ext uri="{0D108BD9-81ED-4DB2-BD59-A6C34878D82A}">
                    <a16:rowId xmlns:a16="http://schemas.microsoft.com/office/drawing/2014/main" val="10000"/>
                  </a:ext>
                </a:extLst>
              </a:tr>
              <a:tr h="863369">
                <a:tc>
                  <a:txBody>
                    <a:bodyPr/>
                    <a:lstStyle/>
                    <a:p>
                      <a:pPr algn="ctr">
                        <a:defRPr sz="720"/>
                      </a:pPr>
                      <a:r>
                        <a:rPr sz="1400"/>
                        <a:t>English→Bangla</a:t>
                      </a:r>
                    </a:p>
                  </a:txBody>
                  <a:tcPr/>
                </a:tc>
                <a:tc>
                  <a:txBody>
                    <a:bodyPr/>
                    <a:lstStyle/>
                    <a:p>
                      <a:pPr algn="ctr">
                        <a:defRPr sz="720"/>
                      </a:pPr>
                      <a:r>
                        <a:rPr sz="1400" dirty="0"/>
                        <a:t>Easy</a:t>
                      </a:r>
                    </a:p>
                  </a:txBody>
                  <a:tcPr/>
                </a:tc>
                <a:tc>
                  <a:txBody>
                    <a:bodyPr/>
                    <a:lstStyle/>
                    <a:p>
                      <a:pPr algn="l">
                        <a:defRPr sz="720"/>
                      </a:pPr>
                      <a:r>
                        <a:rPr sz="1400" dirty="0"/>
                        <a:t>The boy is reading a book.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720"/>
                      </a:pPr>
                      <a:r>
                        <a:rPr lang="bn-IN" sz="1400" dirty="0"/>
                        <a:t>ছেলেটি একটি বই পড়ছে।</a:t>
                      </a:r>
                    </a:p>
                  </a:txBody>
                  <a:tcPr/>
                </a:tc>
                <a:tc>
                  <a:txBody>
                    <a:bodyPr/>
                    <a:lstStyle/>
                    <a:p>
                      <a:pPr algn="l">
                        <a:defRPr sz="720"/>
                      </a:pPr>
                      <a:r>
                        <a:rPr sz="1400" dirty="0" err="1"/>
                        <a:t>ছেলেটি</a:t>
                      </a:r>
                      <a:r>
                        <a:rPr sz="1400" dirty="0"/>
                        <a:t> </a:t>
                      </a:r>
                      <a:r>
                        <a:rPr sz="1400" dirty="0" err="1"/>
                        <a:t>একটি</a:t>
                      </a:r>
                      <a:r>
                        <a:rPr sz="1400" dirty="0"/>
                        <a:t> </a:t>
                      </a:r>
                      <a:r>
                        <a:rPr sz="1400" dirty="0" err="1"/>
                        <a:t>বই</a:t>
                      </a:r>
                      <a:r>
                        <a:rPr sz="1400" dirty="0"/>
                        <a:t> </a:t>
                      </a:r>
                      <a:r>
                        <a:rPr sz="1400" dirty="0" err="1"/>
                        <a:t>পড়ছে</a:t>
                      </a:r>
                      <a:r>
                        <a:rPr sz="1400" dirty="0"/>
                        <a:t>।</a:t>
                      </a:r>
                    </a:p>
                  </a:txBody>
                  <a:tcPr/>
                </a:tc>
                <a:tc>
                  <a:txBody>
                    <a:bodyPr/>
                    <a:lstStyle/>
                    <a:p>
                      <a:pPr algn="l">
                        <a:defRPr sz="720"/>
                      </a:pPr>
                      <a:r>
                        <a:rPr sz="1400"/>
                        <a:t>ছেলেটি বই পড়ছে।</a:t>
                      </a:r>
                    </a:p>
                  </a:txBody>
                  <a:tcPr/>
                </a:tc>
                <a:tc>
                  <a:txBody>
                    <a:bodyPr/>
                    <a:lstStyle/>
                    <a:p>
                      <a:pPr algn="l">
                        <a:defRPr sz="720"/>
                      </a:pPr>
                      <a:r>
                        <a:rPr sz="1400"/>
                        <a:t>ছেলেটি একটা বই পড়ছে</a:t>
                      </a:r>
                    </a:p>
                  </a:txBody>
                  <a:tcPr/>
                </a:tc>
                <a:tc>
                  <a:txBody>
                    <a:bodyPr/>
                    <a:lstStyle/>
                    <a:p>
                      <a:pPr algn="l">
                        <a:defRPr sz="720"/>
                      </a:pPr>
                      <a:r>
                        <a:rPr sz="1400"/>
                        <a:t>ছেলেটা একটা বই পড়ছে।</a:t>
                      </a:r>
                    </a:p>
                  </a:txBody>
                  <a:tcPr/>
                </a:tc>
                <a:tc>
                  <a:txBody>
                    <a:bodyPr/>
                    <a:lstStyle/>
                    <a:p>
                      <a:pPr algn="l">
                        <a:defRPr sz="720"/>
                      </a:pPr>
                      <a:r>
                        <a:rPr sz="1400" dirty="0"/>
                        <a:t>All preserve meaning; wording differs slightly.</a:t>
                      </a:r>
                    </a:p>
                  </a:txBody>
                  <a:tcPr/>
                </a:tc>
                <a:extLst>
                  <a:ext uri="{0D108BD9-81ED-4DB2-BD59-A6C34878D82A}">
                    <a16:rowId xmlns:a16="http://schemas.microsoft.com/office/drawing/2014/main" val="10005"/>
                  </a:ext>
                </a:extLst>
              </a:tr>
              <a:tr h="863369">
                <a:tc>
                  <a:txBody>
                    <a:bodyPr/>
                    <a:lstStyle/>
                    <a:p>
                      <a:pPr algn="ctr">
                        <a:defRPr sz="720"/>
                      </a:pPr>
                      <a:r>
                        <a:rPr sz="1400"/>
                        <a:t>English→Bangla</a:t>
                      </a:r>
                    </a:p>
                  </a:txBody>
                  <a:tcPr/>
                </a:tc>
                <a:tc>
                  <a:txBody>
                    <a:bodyPr/>
                    <a:lstStyle/>
                    <a:p>
                      <a:pPr algn="ctr">
                        <a:defRPr sz="720"/>
                      </a:pPr>
                      <a:r>
                        <a:rPr sz="1400"/>
                        <a:t>Difficult</a:t>
                      </a:r>
                    </a:p>
                  </a:txBody>
                  <a:tcPr/>
                </a:tc>
                <a:tc>
                  <a:txBody>
                    <a:bodyPr/>
                    <a:lstStyle/>
                    <a:p>
                      <a:pPr algn="l">
                        <a:defRPr sz="720"/>
                      </a:pPr>
                      <a:r>
                        <a:rPr sz="1400" dirty="0"/>
                        <a:t>He kicked the bucket.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720"/>
                      </a:pPr>
                      <a:r>
                        <a:rPr lang="bn-IN" sz="1400" dirty="0"/>
                        <a:t>তিনি মারা গেলেন।</a:t>
                      </a:r>
                      <a:r>
                        <a:rPr lang="en-US" sz="1400" dirty="0"/>
                        <a:t> or</a:t>
                      </a:r>
                    </a:p>
                    <a:p>
                      <a:pPr marL="0" marR="0" lvl="0" indent="0" algn="l" defTabSz="457200" rtl="0" eaLnBrk="1" fontAlgn="auto" latinLnBrk="0" hangingPunct="1">
                        <a:lnSpc>
                          <a:spcPct val="100000"/>
                        </a:lnSpc>
                        <a:spcBef>
                          <a:spcPts val="0"/>
                        </a:spcBef>
                        <a:spcAft>
                          <a:spcPts val="0"/>
                        </a:spcAft>
                        <a:buClrTx/>
                        <a:buSzTx/>
                        <a:buFontTx/>
                        <a:buNone/>
                        <a:tabLst/>
                        <a:defRPr sz="720"/>
                      </a:pPr>
                      <a:r>
                        <a:rPr lang="bn-IN" sz="1400" dirty="0"/>
                        <a:t>সে মারা গেল।</a:t>
                      </a:r>
                    </a:p>
                  </a:txBody>
                  <a:tcPr/>
                </a:tc>
                <a:tc>
                  <a:txBody>
                    <a:bodyPr/>
                    <a:lstStyle/>
                    <a:p>
                      <a:pPr algn="l">
                        <a:defRPr sz="720"/>
                      </a:pPr>
                      <a:r>
                        <a:rPr sz="1400" dirty="0" err="1"/>
                        <a:t>তিনি</a:t>
                      </a:r>
                      <a:r>
                        <a:rPr sz="1400" dirty="0"/>
                        <a:t> </a:t>
                      </a:r>
                      <a:r>
                        <a:rPr sz="1400" dirty="0" err="1"/>
                        <a:t>মারা</a:t>
                      </a:r>
                      <a:r>
                        <a:rPr sz="1400" dirty="0"/>
                        <a:t> </a:t>
                      </a:r>
                      <a:r>
                        <a:rPr sz="1400" dirty="0" err="1"/>
                        <a:t>গেলেন</a:t>
                      </a:r>
                      <a:r>
                        <a:rPr sz="1400" dirty="0"/>
                        <a:t>।</a:t>
                      </a:r>
                    </a:p>
                  </a:txBody>
                  <a:tcPr/>
                </a:tc>
                <a:tc>
                  <a:txBody>
                    <a:bodyPr/>
                    <a:lstStyle/>
                    <a:p>
                      <a:pPr algn="l">
                        <a:defRPr sz="720"/>
                      </a:pPr>
                      <a:r>
                        <a:rPr sz="1400"/>
                        <a:t>সে বালতি লাথি মেরেছে।</a:t>
                      </a:r>
                    </a:p>
                  </a:txBody>
                  <a:tcPr/>
                </a:tc>
                <a:tc>
                  <a:txBody>
                    <a:bodyPr/>
                    <a:lstStyle/>
                    <a:p>
                      <a:pPr algn="l">
                        <a:defRPr sz="720"/>
                      </a:pPr>
                      <a:r>
                        <a:rPr sz="1400"/>
                        <a:t>তিনি বালতি লাথি</a:t>
                      </a:r>
                    </a:p>
                  </a:txBody>
                  <a:tcPr/>
                </a:tc>
                <a:tc>
                  <a:txBody>
                    <a:bodyPr/>
                    <a:lstStyle/>
                    <a:p>
                      <a:pPr algn="l">
                        <a:defRPr sz="720"/>
                      </a:pPr>
                      <a:r>
                        <a:rPr sz="1400" dirty="0" err="1"/>
                        <a:t>সে</a:t>
                      </a:r>
                      <a:r>
                        <a:rPr sz="1400" dirty="0"/>
                        <a:t> </a:t>
                      </a:r>
                      <a:r>
                        <a:rPr sz="1400" dirty="0" err="1"/>
                        <a:t>মারা</a:t>
                      </a:r>
                      <a:r>
                        <a:rPr sz="1400" dirty="0"/>
                        <a:t> </a:t>
                      </a:r>
                      <a:r>
                        <a:rPr sz="1400" dirty="0" err="1"/>
                        <a:t>গেল</a:t>
                      </a:r>
                      <a:r>
                        <a:rPr sz="1400" dirty="0"/>
                        <a:t>।</a:t>
                      </a:r>
                    </a:p>
                  </a:txBody>
                  <a:tcPr/>
                </a:tc>
                <a:tc>
                  <a:txBody>
                    <a:bodyPr/>
                    <a:lstStyle/>
                    <a:p>
                      <a:pPr algn="l">
                        <a:defRPr sz="720"/>
                      </a:pPr>
                      <a:r>
                        <a:rPr sz="1400"/>
                        <a:t>Google and Bing interpret the idiom correctly; others are literal.</a:t>
                      </a:r>
                    </a:p>
                  </a:txBody>
                  <a:tcPr/>
                </a:tc>
                <a:extLst>
                  <a:ext uri="{0D108BD9-81ED-4DB2-BD59-A6C34878D82A}">
                    <a16:rowId xmlns:a16="http://schemas.microsoft.com/office/drawing/2014/main" val="10006"/>
                  </a:ext>
                </a:extLst>
              </a:tr>
              <a:tr h="863369">
                <a:tc>
                  <a:txBody>
                    <a:bodyPr/>
                    <a:lstStyle/>
                    <a:p>
                      <a:pPr algn="ctr">
                        <a:defRPr sz="720"/>
                      </a:pPr>
                      <a:r>
                        <a:rPr sz="1400"/>
                        <a:t>Bangla→English</a:t>
                      </a:r>
                    </a:p>
                  </a:txBody>
                  <a:tcPr/>
                </a:tc>
                <a:tc>
                  <a:txBody>
                    <a:bodyPr/>
                    <a:lstStyle/>
                    <a:p>
                      <a:pPr algn="ctr">
                        <a:defRPr sz="720"/>
                      </a:pPr>
                      <a:r>
                        <a:rPr sz="1400"/>
                        <a:t>Easy</a:t>
                      </a:r>
                    </a:p>
                  </a:txBody>
                  <a:tcPr/>
                </a:tc>
                <a:tc>
                  <a:txBody>
                    <a:bodyPr/>
                    <a:lstStyle/>
                    <a:p>
                      <a:pPr algn="l">
                        <a:defRPr sz="720"/>
                      </a:pPr>
                      <a:r>
                        <a:rPr sz="1400"/>
                        <a:t>আমি প্রতিদিন স্কুলে যাই।</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720"/>
                      </a:pPr>
                      <a:r>
                        <a:rPr lang="en-US" sz="1400" dirty="0"/>
                        <a:t>I go to school every day.</a:t>
                      </a:r>
                    </a:p>
                  </a:txBody>
                  <a:tcPr/>
                </a:tc>
                <a:tc>
                  <a:txBody>
                    <a:bodyPr/>
                    <a:lstStyle/>
                    <a:p>
                      <a:pPr algn="l">
                        <a:defRPr sz="720"/>
                      </a:pPr>
                      <a:r>
                        <a:rPr sz="1400" dirty="0"/>
                        <a:t>I go to school every day.</a:t>
                      </a:r>
                    </a:p>
                  </a:txBody>
                  <a:tcPr/>
                </a:tc>
                <a:tc>
                  <a:txBody>
                    <a:bodyPr/>
                    <a:lstStyle/>
                    <a:p>
                      <a:pPr algn="l">
                        <a:defRPr sz="720"/>
                      </a:pPr>
                      <a:r>
                        <a:rPr sz="1400"/>
                        <a:t>I go to school every day.</a:t>
                      </a:r>
                    </a:p>
                  </a:txBody>
                  <a:tcPr/>
                </a:tc>
                <a:tc>
                  <a:txBody>
                    <a:bodyPr/>
                    <a:lstStyle/>
                    <a:p>
                      <a:pPr algn="l">
                        <a:defRPr sz="720"/>
                      </a:pPr>
                      <a:r>
                        <a:rPr sz="1400"/>
                        <a:t>I go to school every day.</a:t>
                      </a:r>
                    </a:p>
                  </a:txBody>
                  <a:tcPr/>
                </a:tc>
                <a:tc>
                  <a:txBody>
                    <a:bodyPr/>
                    <a:lstStyle/>
                    <a:p>
                      <a:pPr algn="l">
                        <a:defRPr sz="720"/>
                      </a:pPr>
                      <a:r>
                        <a:rPr sz="1400"/>
                        <a:t>I go to school every day.</a:t>
                      </a:r>
                    </a:p>
                  </a:txBody>
                  <a:tcPr/>
                </a:tc>
                <a:tc>
                  <a:txBody>
                    <a:bodyPr/>
                    <a:lstStyle/>
                    <a:p>
                      <a:pPr algn="l">
                        <a:defRPr sz="720"/>
                      </a:pPr>
                      <a:r>
                        <a:rPr sz="1400" dirty="0"/>
                        <a:t>All four produce the same correct translation.</a:t>
                      </a:r>
                    </a:p>
                  </a:txBody>
                  <a:tcPr/>
                </a:tc>
                <a:extLst>
                  <a:ext uri="{0D108BD9-81ED-4DB2-BD59-A6C34878D82A}">
                    <a16:rowId xmlns:a16="http://schemas.microsoft.com/office/drawing/2014/main" val="10007"/>
                  </a:ext>
                </a:extLst>
              </a:tr>
              <a:tr h="1436531">
                <a:tc>
                  <a:txBody>
                    <a:bodyPr/>
                    <a:lstStyle/>
                    <a:p>
                      <a:pPr algn="ctr">
                        <a:defRPr sz="720"/>
                      </a:pPr>
                      <a:r>
                        <a:rPr sz="1400" dirty="0" err="1"/>
                        <a:t>Bangla→English</a:t>
                      </a:r>
                      <a:endParaRPr sz="1400" dirty="0"/>
                    </a:p>
                  </a:txBody>
                  <a:tcPr/>
                </a:tc>
                <a:tc>
                  <a:txBody>
                    <a:bodyPr/>
                    <a:lstStyle/>
                    <a:p>
                      <a:pPr algn="ctr">
                        <a:defRPr sz="720"/>
                      </a:pPr>
                      <a:r>
                        <a:rPr sz="1400"/>
                        <a:t>Difficult</a:t>
                      </a:r>
                    </a:p>
                  </a:txBody>
                  <a:tcPr/>
                </a:tc>
                <a:tc>
                  <a:txBody>
                    <a:bodyPr/>
                    <a:lstStyle/>
                    <a:p>
                      <a:pPr algn="l">
                        <a:defRPr sz="720"/>
                      </a:pPr>
                      <a:r>
                        <a:rPr sz="1400"/>
                        <a:t>রহিমকে দেখে মনে হলো তার মাথায় আকাশ ভেঙে পড়েছে।</a:t>
                      </a:r>
                    </a:p>
                  </a:txBody>
                  <a:tcPr/>
                </a:tc>
                <a:tc>
                  <a:txBody>
                    <a:bodyPr/>
                    <a:lstStyle/>
                    <a:p>
                      <a:pPr algn="l">
                        <a:defRPr sz="720"/>
                      </a:pPr>
                      <a:r>
                        <a:rPr lang="en-US" sz="1400" kern="1200" dirty="0">
                          <a:solidFill>
                            <a:schemeClr val="dk1"/>
                          </a:solidFill>
                          <a:effectLst/>
                          <a:latin typeface="+mn-lt"/>
                          <a:ea typeface="+mn-ea"/>
                          <a:cs typeface="+mn-cs"/>
                        </a:rPr>
                        <a:t>Seeing Rahim, it seemed as if he had been hit by a sudden calamity (as if the sky had fallen on him).</a:t>
                      </a:r>
                      <a:endParaRPr sz="1400" dirty="0"/>
                    </a:p>
                  </a:txBody>
                  <a:tcPr/>
                </a:tc>
                <a:tc>
                  <a:txBody>
                    <a:bodyPr/>
                    <a:lstStyle/>
                    <a:p>
                      <a:pPr algn="l">
                        <a:defRPr sz="720"/>
                      </a:pPr>
                      <a:r>
                        <a:rPr sz="1400" dirty="0"/>
                        <a:t>Seeing Rahim, it seemed as though the sky had come crashing down on his head.</a:t>
                      </a:r>
                    </a:p>
                  </a:txBody>
                  <a:tcPr/>
                </a:tc>
                <a:tc>
                  <a:txBody>
                    <a:bodyPr/>
                    <a:lstStyle/>
                    <a:p>
                      <a:pPr algn="l">
                        <a:defRPr sz="720"/>
                      </a:pPr>
                      <a:r>
                        <a:rPr sz="1400"/>
                        <a:t>Rahim looked as if the sky had fallen on his head.</a:t>
                      </a:r>
                    </a:p>
                  </a:txBody>
                  <a:tcPr/>
                </a:tc>
                <a:tc>
                  <a:txBody>
                    <a:bodyPr/>
                    <a:lstStyle/>
                    <a:p>
                      <a:pPr algn="l">
                        <a:defRPr sz="720"/>
                      </a:pPr>
                      <a:r>
                        <a:rPr sz="1400"/>
                        <a:t>Rahim looks like the sky is falling on his head.</a:t>
                      </a:r>
                    </a:p>
                  </a:txBody>
                  <a:tcPr/>
                </a:tc>
                <a:tc>
                  <a:txBody>
                    <a:bodyPr/>
                    <a:lstStyle/>
                    <a:p>
                      <a:pPr algn="l">
                        <a:defRPr sz="720"/>
                      </a:pPr>
                      <a:r>
                        <a:rPr sz="1400"/>
                        <a:t>Seeing Rahim, it felt like the sky had fallen on his head.</a:t>
                      </a:r>
                    </a:p>
                  </a:txBody>
                  <a:tcPr/>
                </a:tc>
                <a:tc>
                  <a:txBody>
                    <a:bodyPr/>
                    <a:lstStyle/>
                    <a:p>
                      <a:pPr algn="l">
                        <a:defRPr sz="720"/>
                      </a:pPr>
                      <a:r>
                        <a:rPr sz="1400" dirty="0"/>
                        <a:t>All are largely literal; extreme-distress meaning is not fully captured.</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DE1549-905E-C5A7-D0DF-D0B63F07CC00}"/>
              </a:ext>
            </a:extLst>
          </p:cNvPr>
          <p:cNvSpPr txBox="1"/>
          <p:nvPr/>
        </p:nvSpPr>
        <p:spPr>
          <a:xfrm>
            <a:off x="198120" y="269240"/>
            <a:ext cx="11155680" cy="594360"/>
          </a:xfrm>
          <a:prstGeom prst="rect">
            <a:avLst/>
          </a:prstGeom>
          <a:noFill/>
        </p:spPr>
        <p:txBody>
          <a:bodyPr wrap="none">
            <a:spAutoFit/>
          </a:bodyPr>
          <a:lstStyle/>
          <a:p>
            <a:pPr>
              <a:defRPr sz="2800" b="1">
                <a:solidFill>
                  <a:srgbClr val="1F3864"/>
                </a:solidFill>
              </a:defRPr>
            </a:pPr>
            <a:r>
              <a:rPr dirty="0"/>
              <a:t>MT Practic</a:t>
            </a:r>
            <a:r>
              <a:rPr lang="en-US" dirty="0"/>
              <a:t>al Experiment</a:t>
            </a:r>
            <a:endParaRPr dirty="0"/>
          </a:p>
        </p:txBody>
      </p:sp>
      <p:sp>
        <p:nvSpPr>
          <p:cNvPr id="5" name="Rectangle 4">
            <a:extLst>
              <a:ext uri="{FF2B5EF4-FFF2-40B4-BE49-F238E27FC236}">
                <a16:creationId xmlns:a16="http://schemas.microsoft.com/office/drawing/2014/main" id="{080E0A5C-E3B9-3DEE-DAEA-63CB75F923A3}"/>
              </a:ext>
            </a:extLst>
          </p:cNvPr>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4755E67-65D4-1B2E-1190-09E38AD709CF}"/>
              </a:ext>
            </a:extLst>
          </p:cNvPr>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19</a:t>
            </a:r>
            <a:endParaRPr/>
          </a:p>
        </p:txBody>
      </p:sp>
      <p:graphicFrame>
        <p:nvGraphicFramePr>
          <p:cNvPr id="11" name="Table 10">
            <a:extLst>
              <a:ext uri="{FF2B5EF4-FFF2-40B4-BE49-F238E27FC236}">
                <a16:creationId xmlns:a16="http://schemas.microsoft.com/office/drawing/2014/main" id="{A471965E-BF7B-AA4D-9043-78A90D0131BC}"/>
              </a:ext>
            </a:extLst>
          </p:cNvPr>
          <p:cNvGraphicFramePr>
            <a:graphicFrameLocks noGrp="1"/>
          </p:cNvGraphicFramePr>
          <p:nvPr>
            <p:extLst>
              <p:ext uri="{D42A27DB-BD31-4B8C-83A1-F6EECF244321}">
                <p14:modId xmlns:p14="http://schemas.microsoft.com/office/powerpoint/2010/main" val="1798555965"/>
              </p:ext>
            </p:extLst>
          </p:nvPr>
        </p:nvGraphicFramePr>
        <p:xfrm>
          <a:off x="296180" y="748792"/>
          <a:ext cx="11599334" cy="5440268"/>
        </p:xfrm>
        <a:graphic>
          <a:graphicData uri="http://schemas.openxmlformats.org/drawingml/2006/table">
            <a:tbl>
              <a:tblPr firstRow="1" bandRow="1">
                <a:tableStyleId>{5C22544A-7EE6-4342-B048-85BDC9FD1C3A}</a:tableStyleId>
              </a:tblPr>
              <a:tblGrid>
                <a:gridCol w="883456">
                  <a:extLst>
                    <a:ext uri="{9D8B030D-6E8A-4147-A177-3AD203B41FA5}">
                      <a16:colId xmlns:a16="http://schemas.microsoft.com/office/drawing/2014/main" val="20001"/>
                    </a:ext>
                  </a:extLst>
                </a:gridCol>
                <a:gridCol w="922058">
                  <a:extLst>
                    <a:ext uri="{9D8B030D-6E8A-4147-A177-3AD203B41FA5}">
                      <a16:colId xmlns:a16="http://schemas.microsoft.com/office/drawing/2014/main" val="20002"/>
                    </a:ext>
                  </a:extLst>
                </a:gridCol>
                <a:gridCol w="1170006">
                  <a:extLst>
                    <a:ext uri="{9D8B030D-6E8A-4147-A177-3AD203B41FA5}">
                      <a16:colId xmlns:a16="http://schemas.microsoft.com/office/drawing/2014/main" val="20003"/>
                    </a:ext>
                  </a:extLst>
                </a:gridCol>
                <a:gridCol w="984045">
                  <a:extLst>
                    <a:ext uri="{9D8B030D-6E8A-4147-A177-3AD203B41FA5}">
                      <a16:colId xmlns:a16="http://schemas.microsoft.com/office/drawing/2014/main" val="3260820434"/>
                    </a:ext>
                  </a:extLst>
                </a:gridCol>
                <a:gridCol w="984045">
                  <a:extLst>
                    <a:ext uri="{9D8B030D-6E8A-4147-A177-3AD203B41FA5}">
                      <a16:colId xmlns:a16="http://schemas.microsoft.com/office/drawing/2014/main" val="20004"/>
                    </a:ext>
                  </a:extLst>
                </a:gridCol>
                <a:gridCol w="1170007">
                  <a:extLst>
                    <a:ext uri="{9D8B030D-6E8A-4147-A177-3AD203B41FA5}">
                      <a16:colId xmlns:a16="http://schemas.microsoft.com/office/drawing/2014/main" val="20005"/>
                    </a:ext>
                  </a:extLst>
                </a:gridCol>
                <a:gridCol w="1371464">
                  <a:extLst>
                    <a:ext uri="{9D8B030D-6E8A-4147-A177-3AD203B41FA5}">
                      <a16:colId xmlns:a16="http://schemas.microsoft.com/office/drawing/2014/main" val="20006"/>
                    </a:ext>
                  </a:extLst>
                </a:gridCol>
                <a:gridCol w="1797625">
                  <a:extLst>
                    <a:ext uri="{9D8B030D-6E8A-4147-A177-3AD203B41FA5}">
                      <a16:colId xmlns:a16="http://schemas.microsoft.com/office/drawing/2014/main" val="20007"/>
                    </a:ext>
                  </a:extLst>
                </a:gridCol>
                <a:gridCol w="2316628">
                  <a:extLst>
                    <a:ext uri="{9D8B030D-6E8A-4147-A177-3AD203B41FA5}">
                      <a16:colId xmlns:a16="http://schemas.microsoft.com/office/drawing/2014/main" val="20008"/>
                    </a:ext>
                  </a:extLst>
                </a:gridCol>
              </a:tblGrid>
              <a:tr h="1001970">
                <a:tc>
                  <a:txBody>
                    <a:bodyPr/>
                    <a:lstStyle/>
                    <a:p>
                      <a:pPr algn="ctr">
                        <a:defRPr sz="800" b="1"/>
                      </a:pPr>
                      <a:r>
                        <a:rPr sz="1400" dirty="0"/>
                        <a:t>Direction</a:t>
                      </a:r>
                    </a:p>
                  </a:txBody>
                  <a:tcPr/>
                </a:tc>
                <a:tc>
                  <a:txBody>
                    <a:bodyPr/>
                    <a:lstStyle/>
                    <a:p>
                      <a:pPr algn="ctr">
                        <a:defRPr sz="800" b="1"/>
                      </a:pPr>
                      <a:r>
                        <a:rPr sz="1400" dirty="0"/>
                        <a:t>Level</a:t>
                      </a:r>
                    </a:p>
                  </a:txBody>
                  <a:tcPr/>
                </a:tc>
                <a:tc>
                  <a:txBody>
                    <a:bodyPr/>
                    <a:lstStyle/>
                    <a:p>
                      <a:pPr algn="ctr">
                        <a:defRPr sz="800" b="1"/>
                      </a:pPr>
                      <a:r>
                        <a:rPr sz="1400" dirty="0"/>
                        <a:t>Source</a:t>
                      </a:r>
                    </a:p>
                  </a:txBody>
                  <a:tcPr/>
                </a:tc>
                <a:tc>
                  <a:txBody>
                    <a:bodyPr/>
                    <a:lstStyle/>
                    <a:p>
                      <a:pPr algn="ctr">
                        <a:defRPr sz="800" b="1"/>
                      </a:pPr>
                      <a:r>
                        <a:rPr lang="en-US" sz="1400" dirty="0"/>
                        <a:t>Expected Output</a:t>
                      </a:r>
                      <a:endParaRPr sz="1400" dirty="0"/>
                    </a:p>
                  </a:txBody>
                  <a:tcPr/>
                </a:tc>
                <a:tc>
                  <a:txBody>
                    <a:bodyPr/>
                    <a:lstStyle/>
                    <a:p>
                      <a:pPr algn="ctr">
                        <a:defRPr sz="800" b="1"/>
                      </a:pPr>
                      <a:r>
                        <a:rPr sz="1400" dirty="0"/>
                        <a:t>Google</a:t>
                      </a:r>
                    </a:p>
                  </a:txBody>
                  <a:tcPr/>
                </a:tc>
                <a:tc>
                  <a:txBody>
                    <a:bodyPr/>
                    <a:lstStyle/>
                    <a:p>
                      <a:pPr algn="ctr">
                        <a:defRPr sz="800" b="1"/>
                      </a:pPr>
                      <a:r>
                        <a:rPr sz="1400"/>
                        <a:t>SYSTRAN</a:t>
                      </a:r>
                    </a:p>
                  </a:txBody>
                  <a:tcPr/>
                </a:tc>
                <a:tc>
                  <a:txBody>
                    <a:bodyPr/>
                    <a:lstStyle/>
                    <a:p>
                      <a:pPr algn="ctr">
                        <a:defRPr sz="800" b="1"/>
                      </a:pPr>
                      <a:r>
                        <a:rPr sz="1400" dirty="0"/>
                        <a:t>Yandex</a:t>
                      </a:r>
                    </a:p>
                  </a:txBody>
                  <a:tcPr/>
                </a:tc>
                <a:tc>
                  <a:txBody>
                    <a:bodyPr/>
                    <a:lstStyle/>
                    <a:p>
                      <a:pPr algn="ctr">
                        <a:defRPr sz="800" b="1"/>
                      </a:pPr>
                      <a:r>
                        <a:rPr sz="1400"/>
                        <a:t>Bing</a:t>
                      </a:r>
                    </a:p>
                  </a:txBody>
                  <a:tcPr/>
                </a:tc>
                <a:tc>
                  <a:txBody>
                    <a:bodyPr/>
                    <a:lstStyle/>
                    <a:p>
                      <a:pPr algn="ctr">
                        <a:defRPr sz="800" b="1"/>
                      </a:pPr>
                      <a:r>
                        <a:rPr sz="1400"/>
                        <a:t>Short analysis</a:t>
                      </a:r>
                    </a:p>
                  </a:txBody>
                  <a:tcPr/>
                </a:tc>
                <a:extLst>
                  <a:ext uri="{0D108BD9-81ED-4DB2-BD59-A6C34878D82A}">
                    <a16:rowId xmlns:a16="http://schemas.microsoft.com/office/drawing/2014/main" val="10000"/>
                  </a:ext>
                </a:extLst>
              </a:tr>
              <a:tr h="1060909">
                <a:tc>
                  <a:txBody>
                    <a:bodyPr/>
                    <a:lstStyle/>
                    <a:p>
                      <a:pPr algn="ctr">
                        <a:defRPr sz="720"/>
                      </a:pPr>
                      <a:r>
                        <a:rPr sz="1400" dirty="0" err="1"/>
                        <a:t>English→Hindi</a:t>
                      </a:r>
                      <a:endParaRPr sz="1400" dirty="0"/>
                    </a:p>
                  </a:txBody>
                  <a:tcPr/>
                </a:tc>
                <a:tc>
                  <a:txBody>
                    <a:bodyPr/>
                    <a:lstStyle/>
                    <a:p>
                      <a:pPr algn="ctr">
                        <a:defRPr sz="720"/>
                      </a:pPr>
                      <a:r>
                        <a:rPr sz="1400"/>
                        <a:t>Easy</a:t>
                      </a:r>
                    </a:p>
                  </a:txBody>
                  <a:tcPr/>
                </a:tc>
                <a:tc>
                  <a:txBody>
                    <a:bodyPr/>
                    <a:lstStyle/>
                    <a:p>
                      <a:pPr algn="l">
                        <a:defRPr sz="720"/>
                      </a:pPr>
                      <a:r>
                        <a:rPr sz="1400" dirty="0"/>
                        <a:t>The boy is reading a book.</a:t>
                      </a:r>
                    </a:p>
                  </a:txBody>
                  <a:tcPr/>
                </a:tc>
                <a:tc>
                  <a:txBody>
                    <a:bodyPr/>
                    <a:lstStyle/>
                    <a:p>
                      <a:pPr algn="l">
                        <a:defRPr sz="720"/>
                      </a:pPr>
                      <a:r>
                        <a:rPr lang="en-US" sz="1400" kern="1200" dirty="0" err="1">
                          <a:solidFill>
                            <a:schemeClr val="dk1"/>
                          </a:solidFill>
                          <a:effectLst/>
                          <a:latin typeface="+mn-lt"/>
                          <a:ea typeface="+mn-ea"/>
                          <a:cs typeface="+mn-cs"/>
                        </a:rPr>
                        <a:t>लड़का</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एक</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किताब</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पढ़</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रहा</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है</a:t>
                      </a:r>
                      <a:r>
                        <a:rPr lang="en-US" sz="1400" kern="1200" dirty="0">
                          <a:solidFill>
                            <a:schemeClr val="dk1"/>
                          </a:solidFill>
                          <a:effectLst/>
                          <a:latin typeface="+mn-lt"/>
                          <a:ea typeface="+mn-ea"/>
                          <a:cs typeface="+mn-cs"/>
                        </a:rPr>
                        <a:t>।</a:t>
                      </a:r>
                      <a:endParaRPr sz="1400" dirty="0"/>
                    </a:p>
                  </a:txBody>
                  <a:tcPr/>
                </a:tc>
                <a:tc>
                  <a:txBody>
                    <a:bodyPr/>
                    <a:lstStyle/>
                    <a:p>
                      <a:pPr algn="l">
                        <a:defRPr sz="720"/>
                      </a:pPr>
                      <a:r>
                        <a:rPr sz="1400" dirty="0" err="1"/>
                        <a:t>यह</a:t>
                      </a:r>
                      <a:r>
                        <a:rPr sz="1400" dirty="0"/>
                        <a:t> </a:t>
                      </a:r>
                      <a:r>
                        <a:rPr sz="1400" dirty="0" err="1"/>
                        <a:t>किताब</a:t>
                      </a:r>
                      <a:r>
                        <a:rPr sz="1400" dirty="0"/>
                        <a:t> </a:t>
                      </a:r>
                      <a:r>
                        <a:rPr sz="1400" dirty="0" err="1"/>
                        <a:t>एक</a:t>
                      </a:r>
                      <a:r>
                        <a:rPr sz="1400" dirty="0"/>
                        <a:t> </a:t>
                      </a:r>
                      <a:r>
                        <a:rPr sz="1400" dirty="0" err="1"/>
                        <a:t>किताब</a:t>
                      </a:r>
                      <a:r>
                        <a:rPr sz="1400" dirty="0"/>
                        <a:t> </a:t>
                      </a:r>
                      <a:r>
                        <a:rPr sz="1400" dirty="0" err="1"/>
                        <a:t>पढ़</a:t>
                      </a:r>
                      <a:r>
                        <a:rPr sz="1400" dirty="0"/>
                        <a:t> </a:t>
                      </a:r>
                      <a:r>
                        <a:rPr sz="1400" dirty="0" err="1"/>
                        <a:t>रही</a:t>
                      </a:r>
                      <a:r>
                        <a:rPr sz="1400" dirty="0"/>
                        <a:t> </a:t>
                      </a:r>
                      <a:r>
                        <a:rPr sz="1400" dirty="0" err="1"/>
                        <a:t>है</a:t>
                      </a:r>
                      <a:r>
                        <a:rPr sz="1400" dirty="0"/>
                        <a:t>।</a:t>
                      </a:r>
                    </a:p>
                  </a:txBody>
                  <a:tcPr/>
                </a:tc>
                <a:tc>
                  <a:txBody>
                    <a:bodyPr/>
                    <a:lstStyle/>
                    <a:p>
                      <a:pPr algn="l">
                        <a:defRPr sz="720"/>
                      </a:pPr>
                      <a:r>
                        <a:rPr sz="1400" dirty="0" err="1"/>
                        <a:t>लड़का</a:t>
                      </a:r>
                      <a:r>
                        <a:rPr sz="1400" dirty="0"/>
                        <a:t> </a:t>
                      </a:r>
                      <a:r>
                        <a:rPr sz="1400" dirty="0" err="1"/>
                        <a:t>एक</a:t>
                      </a:r>
                      <a:r>
                        <a:rPr sz="1400" dirty="0"/>
                        <a:t> </a:t>
                      </a:r>
                      <a:r>
                        <a:rPr sz="1400" dirty="0" err="1"/>
                        <a:t>किताब</a:t>
                      </a:r>
                      <a:r>
                        <a:rPr sz="1400" dirty="0"/>
                        <a:t> </a:t>
                      </a:r>
                      <a:r>
                        <a:rPr sz="1400" dirty="0" err="1"/>
                        <a:t>पढ़</a:t>
                      </a:r>
                      <a:r>
                        <a:rPr sz="1400" dirty="0"/>
                        <a:t> </a:t>
                      </a:r>
                      <a:r>
                        <a:rPr sz="1400" dirty="0" err="1"/>
                        <a:t>रहा</a:t>
                      </a:r>
                      <a:r>
                        <a:rPr sz="1400" dirty="0"/>
                        <a:t> </a:t>
                      </a:r>
                      <a:r>
                        <a:rPr sz="1400" dirty="0" err="1"/>
                        <a:t>है</a:t>
                      </a:r>
                      <a:r>
                        <a:rPr sz="1400" dirty="0"/>
                        <a:t>।</a:t>
                      </a:r>
                    </a:p>
                  </a:txBody>
                  <a:tcPr/>
                </a:tc>
                <a:tc>
                  <a:txBody>
                    <a:bodyPr/>
                    <a:lstStyle/>
                    <a:p>
                      <a:pPr algn="l">
                        <a:defRPr sz="720"/>
                      </a:pPr>
                      <a:r>
                        <a:rPr sz="1400"/>
                        <a:t>लड़का एक किताब पढ़ रहा है।</a:t>
                      </a:r>
                    </a:p>
                  </a:txBody>
                  <a:tcPr/>
                </a:tc>
                <a:tc>
                  <a:txBody>
                    <a:bodyPr/>
                    <a:lstStyle/>
                    <a:p>
                      <a:pPr algn="l">
                        <a:defRPr sz="720"/>
                      </a:pPr>
                      <a:r>
                        <a:rPr sz="1400"/>
                        <a:t>लड़का किताब पढ़ रहा है।</a:t>
                      </a:r>
                    </a:p>
                  </a:txBody>
                  <a:tcPr/>
                </a:tc>
                <a:tc>
                  <a:txBody>
                    <a:bodyPr/>
                    <a:lstStyle/>
                    <a:p>
                      <a:pPr algn="l">
                        <a:defRPr sz="720"/>
                      </a:pPr>
                      <a:r>
                        <a:rPr sz="1400" dirty="0"/>
                        <a:t>Google has a grammatical error; the other three preserve the basic meaning.</a:t>
                      </a:r>
                    </a:p>
                  </a:txBody>
                  <a:tcPr/>
                </a:tc>
                <a:extLst>
                  <a:ext uri="{0D108BD9-81ED-4DB2-BD59-A6C34878D82A}">
                    <a16:rowId xmlns:a16="http://schemas.microsoft.com/office/drawing/2014/main" val="10001"/>
                  </a:ext>
                </a:extLst>
              </a:tr>
              <a:tr h="1060909">
                <a:tc>
                  <a:txBody>
                    <a:bodyPr/>
                    <a:lstStyle/>
                    <a:p>
                      <a:pPr algn="ctr">
                        <a:defRPr sz="720"/>
                      </a:pPr>
                      <a:r>
                        <a:rPr sz="1400" dirty="0" err="1"/>
                        <a:t>English→Hindi</a:t>
                      </a:r>
                      <a:endParaRPr sz="1400" dirty="0"/>
                    </a:p>
                  </a:txBody>
                  <a:tcPr/>
                </a:tc>
                <a:tc>
                  <a:txBody>
                    <a:bodyPr/>
                    <a:lstStyle/>
                    <a:p>
                      <a:pPr algn="ctr">
                        <a:defRPr sz="720"/>
                      </a:pPr>
                      <a:r>
                        <a:rPr sz="1400"/>
                        <a:t>Difficult</a:t>
                      </a:r>
                    </a:p>
                  </a:txBody>
                  <a:tcPr/>
                </a:tc>
                <a:tc>
                  <a:txBody>
                    <a:bodyPr/>
                    <a:lstStyle/>
                    <a:p>
                      <a:pPr algn="l">
                        <a:defRPr sz="720"/>
                      </a:pPr>
                      <a:r>
                        <a:rPr sz="1400" dirty="0"/>
                        <a:t>He kicked the bucket.</a:t>
                      </a:r>
                    </a:p>
                  </a:txBody>
                  <a:tcPr/>
                </a:tc>
                <a:tc>
                  <a:txBody>
                    <a:bodyPr/>
                    <a:lstStyle/>
                    <a:p>
                      <a:pPr algn="l">
                        <a:defRPr sz="720"/>
                      </a:pPr>
                      <a:r>
                        <a:rPr lang="en-US" sz="1400" kern="1200" dirty="0" err="1">
                          <a:solidFill>
                            <a:schemeClr val="dk1"/>
                          </a:solidFill>
                          <a:effectLst/>
                          <a:latin typeface="+mn-lt"/>
                          <a:ea typeface="+mn-ea"/>
                          <a:cs typeface="+mn-cs"/>
                        </a:rPr>
                        <a:t>वह</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मर</a:t>
                      </a:r>
                      <a:r>
                        <a:rPr lang="en-US" sz="1400" kern="1200" dirty="0">
                          <a:solidFill>
                            <a:schemeClr val="dk1"/>
                          </a:solidFill>
                          <a:effectLst/>
                          <a:latin typeface="+mn-lt"/>
                          <a:ea typeface="+mn-ea"/>
                          <a:cs typeface="+mn-cs"/>
                        </a:rPr>
                        <a:t> </a:t>
                      </a:r>
                      <a:r>
                        <a:rPr lang="en-US" sz="1400" kern="1200" dirty="0" err="1">
                          <a:solidFill>
                            <a:schemeClr val="dk1"/>
                          </a:solidFill>
                          <a:effectLst/>
                          <a:latin typeface="+mn-lt"/>
                          <a:ea typeface="+mn-ea"/>
                          <a:cs typeface="+mn-cs"/>
                        </a:rPr>
                        <a:t>गया</a:t>
                      </a:r>
                      <a:r>
                        <a:rPr lang="en-US" sz="1400" kern="1200" dirty="0">
                          <a:solidFill>
                            <a:schemeClr val="dk1"/>
                          </a:solidFill>
                          <a:effectLst/>
                          <a:latin typeface="+mn-lt"/>
                          <a:ea typeface="+mn-ea"/>
                          <a:cs typeface="+mn-cs"/>
                        </a:rPr>
                        <a:t>। (idiom meaning "he died")</a:t>
                      </a:r>
                      <a:endParaRPr sz="1400" dirty="0"/>
                    </a:p>
                  </a:txBody>
                  <a:tcPr/>
                </a:tc>
                <a:tc>
                  <a:txBody>
                    <a:bodyPr/>
                    <a:lstStyle/>
                    <a:p>
                      <a:pPr algn="l">
                        <a:defRPr sz="720"/>
                      </a:pPr>
                      <a:r>
                        <a:rPr sz="1400"/>
                        <a:t>अरे, चाय की बाल्टी को लात मारी।</a:t>
                      </a:r>
                    </a:p>
                  </a:txBody>
                  <a:tcPr/>
                </a:tc>
                <a:tc>
                  <a:txBody>
                    <a:bodyPr/>
                    <a:lstStyle/>
                    <a:p>
                      <a:pPr algn="l">
                        <a:defRPr sz="720"/>
                      </a:pPr>
                      <a:r>
                        <a:rPr sz="1400"/>
                        <a:t>उसने बाल्टी लात मारी।</a:t>
                      </a:r>
                    </a:p>
                  </a:txBody>
                  <a:tcPr/>
                </a:tc>
                <a:tc>
                  <a:txBody>
                    <a:bodyPr/>
                    <a:lstStyle/>
                    <a:p>
                      <a:pPr algn="l">
                        <a:defRPr sz="720"/>
                      </a:pPr>
                      <a:r>
                        <a:rPr sz="1400"/>
                        <a:t>उसने बाल्टी को लात मारी।</a:t>
                      </a:r>
                    </a:p>
                  </a:txBody>
                  <a:tcPr/>
                </a:tc>
                <a:tc>
                  <a:txBody>
                    <a:bodyPr/>
                    <a:lstStyle/>
                    <a:p>
                      <a:pPr algn="l">
                        <a:defRPr sz="720"/>
                      </a:pPr>
                      <a:r>
                        <a:rPr sz="1400" dirty="0" err="1"/>
                        <a:t>उसने</a:t>
                      </a:r>
                      <a:r>
                        <a:rPr sz="1400" dirty="0"/>
                        <a:t> </a:t>
                      </a:r>
                      <a:r>
                        <a:rPr sz="1400" dirty="0" err="1"/>
                        <a:t>बाल्टी</a:t>
                      </a:r>
                      <a:r>
                        <a:rPr sz="1400" dirty="0"/>
                        <a:t> </a:t>
                      </a:r>
                      <a:r>
                        <a:rPr sz="1400" dirty="0" err="1"/>
                        <a:t>को</a:t>
                      </a:r>
                      <a:r>
                        <a:rPr sz="1400" dirty="0"/>
                        <a:t> </a:t>
                      </a:r>
                      <a:r>
                        <a:rPr sz="1400" dirty="0" err="1"/>
                        <a:t>लात</a:t>
                      </a:r>
                      <a:r>
                        <a:rPr sz="1400" dirty="0"/>
                        <a:t> </a:t>
                      </a:r>
                      <a:r>
                        <a:rPr sz="1400" dirty="0" err="1"/>
                        <a:t>मारी</a:t>
                      </a:r>
                      <a:r>
                        <a:rPr sz="1400" dirty="0"/>
                        <a:t>।</a:t>
                      </a:r>
                    </a:p>
                  </a:txBody>
                  <a:tcPr/>
                </a:tc>
                <a:tc>
                  <a:txBody>
                    <a:bodyPr/>
                    <a:lstStyle/>
                    <a:p>
                      <a:pPr algn="l">
                        <a:defRPr sz="720"/>
                      </a:pPr>
                      <a:r>
                        <a:rPr sz="1400" dirty="0"/>
                        <a:t>All translate the idiom literally instead of meaning “He died.”</a:t>
                      </a:r>
                    </a:p>
                  </a:txBody>
                  <a:tcPr/>
                </a:tc>
                <a:extLst>
                  <a:ext uri="{0D108BD9-81ED-4DB2-BD59-A6C34878D82A}">
                    <a16:rowId xmlns:a16="http://schemas.microsoft.com/office/drawing/2014/main" val="10002"/>
                  </a:ext>
                </a:extLst>
              </a:tr>
              <a:tr h="1060909">
                <a:tc>
                  <a:txBody>
                    <a:bodyPr/>
                    <a:lstStyle/>
                    <a:p>
                      <a:pPr algn="ctr">
                        <a:defRPr sz="720"/>
                      </a:pPr>
                      <a:r>
                        <a:rPr sz="1400"/>
                        <a:t>Hindi→English</a:t>
                      </a:r>
                    </a:p>
                  </a:txBody>
                  <a:tcPr/>
                </a:tc>
                <a:tc>
                  <a:txBody>
                    <a:bodyPr/>
                    <a:lstStyle/>
                    <a:p>
                      <a:pPr algn="ctr">
                        <a:defRPr sz="720"/>
                      </a:pPr>
                      <a:r>
                        <a:rPr sz="1400"/>
                        <a:t>Easy</a:t>
                      </a:r>
                    </a:p>
                  </a:txBody>
                  <a:tcPr/>
                </a:tc>
                <a:tc>
                  <a:txBody>
                    <a:bodyPr/>
                    <a:lstStyle/>
                    <a:p>
                      <a:pPr algn="l">
                        <a:defRPr sz="720"/>
                      </a:pPr>
                      <a:r>
                        <a:rPr sz="1400"/>
                        <a:t>मैं रोज़ स्कूल जाता हूँ।</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720"/>
                      </a:pPr>
                      <a:r>
                        <a:rPr lang="en-US" sz="1400" dirty="0"/>
                        <a:t>I go to school every day.</a:t>
                      </a:r>
                    </a:p>
                  </a:txBody>
                  <a:tcPr/>
                </a:tc>
                <a:tc>
                  <a:txBody>
                    <a:bodyPr/>
                    <a:lstStyle/>
                    <a:p>
                      <a:pPr algn="l">
                        <a:defRPr sz="720"/>
                      </a:pPr>
                      <a:r>
                        <a:rPr sz="1400" dirty="0"/>
                        <a:t>I go to school everyday.</a:t>
                      </a:r>
                    </a:p>
                  </a:txBody>
                  <a:tcPr/>
                </a:tc>
                <a:tc>
                  <a:txBody>
                    <a:bodyPr/>
                    <a:lstStyle/>
                    <a:p>
                      <a:pPr algn="l">
                        <a:defRPr sz="720"/>
                      </a:pPr>
                      <a:r>
                        <a:rPr sz="1400" dirty="0"/>
                        <a:t>I go to school every day.</a:t>
                      </a:r>
                    </a:p>
                  </a:txBody>
                  <a:tcPr/>
                </a:tc>
                <a:tc>
                  <a:txBody>
                    <a:bodyPr/>
                    <a:lstStyle/>
                    <a:p>
                      <a:pPr algn="l">
                        <a:defRPr sz="720"/>
                      </a:pPr>
                      <a:r>
                        <a:rPr sz="1400"/>
                        <a:t>I go to school every day.</a:t>
                      </a:r>
                    </a:p>
                  </a:txBody>
                  <a:tcPr/>
                </a:tc>
                <a:tc>
                  <a:txBody>
                    <a:bodyPr/>
                    <a:lstStyle/>
                    <a:p>
                      <a:pPr algn="l">
                        <a:defRPr sz="720"/>
                      </a:pPr>
                      <a:r>
                        <a:rPr sz="1400"/>
                        <a:t>I go to school every day.</a:t>
                      </a:r>
                    </a:p>
                  </a:txBody>
                  <a:tcPr/>
                </a:tc>
                <a:tc>
                  <a:txBody>
                    <a:bodyPr/>
                    <a:lstStyle/>
                    <a:p>
                      <a:pPr algn="l">
                        <a:defRPr sz="720"/>
                      </a:pPr>
                      <a:r>
                        <a:rPr sz="1400" dirty="0"/>
                        <a:t>All preserve meaning; Google has a minor “everyday/every day” error.</a:t>
                      </a:r>
                    </a:p>
                  </a:txBody>
                  <a:tcPr/>
                </a:tc>
                <a:extLst>
                  <a:ext uri="{0D108BD9-81ED-4DB2-BD59-A6C34878D82A}">
                    <a16:rowId xmlns:a16="http://schemas.microsoft.com/office/drawing/2014/main" val="10003"/>
                  </a:ext>
                </a:extLst>
              </a:tr>
              <a:tr h="1060909">
                <a:tc>
                  <a:txBody>
                    <a:bodyPr/>
                    <a:lstStyle/>
                    <a:p>
                      <a:pPr algn="ctr">
                        <a:defRPr sz="720"/>
                      </a:pPr>
                      <a:r>
                        <a:rPr sz="1400" dirty="0" err="1"/>
                        <a:t>Hindi→English</a:t>
                      </a:r>
                      <a:endParaRPr sz="1400" dirty="0"/>
                    </a:p>
                  </a:txBody>
                  <a:tcPr/>
                </a:tc>
                <a:tc>
                  <a:txBody>
                    <a:bodyPr/>
                    <a:lstStyle/>
                    <a:p>
                      <a:pPr algn="ctr">
                        <a:defRPr sz="720"/>
                      </a:pPr>
                      <a:r>
                        <a:rPr sz="1400"/>
                        <a:t>Difficult</a:t>
                      </a:r>
                    </a:p>
                  </a:txBody>
                  <a:tcPr/>
                </a:tc>
                <a:tc>
                  <a:txBody>
                    <a:bodyPr/>
                    <a:lstStyle/>
                    <a:p>
                      <a:pPr algn="l">
                        <a:defRPr sz="720"/>
                      </a:pPr>
                      <a:r>
                        <a:rPr sz="1400"/>
                        <a:t>नौ दो ग्यारह होना आसान नहीं है।</a:t>
                      </a:r>
                    </a:p>
                  </a:txBody>
                  <a:tcPr/>
                </a:tc>
                <a:tc>
                  <a:txBody>
                    <a:bodyPr/>
                    <a:lstStyle/>
                    <a:p>
                      <a:pPr algn="l">
                        <a:defRPr sz="720"/>
                      </a:pPr>
                      <a:r>
                        <a:rPr lang="en-US" sz="1400" kern="1200" dirty="0">
                          <a:solidFill>
                            <a:schemeClr val="dk1"/>
                          </a:solidFill>
                          <a:effectLst/>
                          <a:latin typeface="+mn-lt"/>
                          <a:ea typeface="+mn-ea"/>
                          <a:cs typeface="+mn-cs"/>
                        </a:rPr>
                        <a:t>It is not easy to run away (to flee or vanish).</a:t>
                      </a:r>
                      <a:endParaRPr sz="1400" dirty="0"/>
                    </a:p>
                  </a:txBody>
                  <a:tcPr/>
                </a:tc>
                <a:tc>
                  <a:txBody>
                    <a:bodyPr/>
                    <a:lstStyle/>
                    <a:p>
                      <a:pPr algn="l">
                        <a:defRPr sz="720"/>
                      </a:pPr>
                      <a:r>
                        <a:rPr sz="1400" dirty="0"/>
                        <a:t>Being nine two eleven is not easy.</a:t>
                      </a:r>
                    </a:p>
                  </a:txBody>
                  <a:tcPr/>
                </a:tc>
                <a:tc>
                  <a:txBody>
                    <a:bodyPr/>
                    <a:lstStyle/>
                    <a:p>
                      <a:pPr algn="l">
                        <a:defRPr sz="720"/>
                      </a:pPr>
                      <a:r>
                        <a:rPr sz="1400"/>
                        <a:t>It's not easy to be nine two eleven.</a:t>
                      </a:r>
                    </a:p>
                  </a:txBody>
                  <a:tcPr/>
                </a:tc>
                <a:tc>
                  <a:txBody>
                    <a:bodyPr/>
                    <a:lstStyle/>
                    <a:p>
                      <a:pPr algn="l">
                        <a:defRPr sz="720"/>
                      </a:pPr>
                      <a:r>
                        <a:rPr sz="1400"/>
                        <a:t>Being nine two eleven is not easy.</a:t>
                      </a:r>
                    </a:p>
                  </a:txBody>
                  <a:tcPr/>
                </a:tc>
                <a:tc>
                  <a:txBody>
                    <a:bodyPr/>
                    <a:lstStyle/>
                    <a:p>
                      <a:pPr algn="l">
                        <a:defRPr sz="720"/>
                      </a:pPr>
                      <a:r>
                        <a:rPr sz="1400"/>
                        <a:t>Going missing is not easy.</a:t>
                      </a:r>
                    </a:p>
                  </a:txBody>
                  <a:tcPr/>
                </a:tc>
                <a:tc>
                  <a:txBody>
                    <a:bodyPr/>
                    <a:lstStyle/>
                    <a:p>
                      <a:pPr algn="l">
                        <a:defRPr sz="720"/>
                      </a:pPr>
                      <a:r>
                        <a:rPr sz="1400" dirty="0"/>
                        <a:t>Most are literal; Bing captures part of the idiomatic sense.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2187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364F3-65B0-7A83-1D6A-9A4ADEEC0C8E}"/>
              </a:ext>
            </a:extLst>
          </p:cNvPr>
          <p:cNvSpPr txBox="1"/>
          <p:nvPr/>
        </p:nvSpPr>
        <p:spPr>
          <a:xfrm>
            <a:off x="502920" y="274320"/>
            <a:ext cx="2691571" cy="523220"/>
          </a:xfrm>
          <a:prstGeom prst="rect">
            <a:avLst/>
          </a:prstGeom>
          <a:noFill/>
        </p:spPr>
        <p:txBody>
          <a:bodyPr wrap="none">
            <a:spAutoFit/>
          </a:bodyPr>
          <a:lstStyle/>
          <a:p>
            <a:pPr>
              <a:defRPr sz="2800" b="1">
                <a:solidFill>
                  <a:srgbClr val="1F3864"/>
                </a:solidFill>
              </a:defRPr>
            </a:pPr>
            <a:r>
              <a:rPr dirty="0"/>
              <a:t>MT</a:t>
            </a:r>
            <a:r>
              <a:rPr lang="en-US" dirty="0"/>
              <a:t> Key Findings</a:t>
            </a:r>
            <a:endParaRPr dirty="0"/>
          </a:p>
        </p:txBody>
      </p:sp>
      <p:sp>
        <p:nvSpPr>
          <p:cNvPr id="5" name="TextBox 4">
            <a:extLst>
              <a:ext uri="{FF2B5EF4-FFF2-40B4-BE49-F238E27FC236}">
                <a16:creationId xmlns:a16="http://schemas.microsoft.com/office/drawing/2014/main" id="{3363B220-C785-A740-F30E-235EB35B61EC}"/>
              </a:ext>
            </a:extLst>
          </p:cNvPr>
          <p:cNvSpPr txBox="1"/>
          <p:nvPr/>
        </p:nvSpPr>
        <p:spPr>
          <a:xfrm>
            <a:off x="731520" y="1234440"/>
            <a:ext cx="10789920" cy="4185761"/>
          </a:xfrm>
          <a:prstGeom prst="rect">
            <a:avLst/>
          </a:prstGeom>
          <a:noFill/>
        </p:spPr>
        <p:txBody>
          <a:bodyPr wrap="square">
            <a:spAutoFit/>
          </a:bodyPr>
          <a:lstStyle/>
          <a:p>
            <a:pPr>
              <a:spcAft>
                <a:spcPts val="1000"/>
              </a:spcAft>
              <a:defRPr sz="2000">
                <a:solidFill>
                  <a:srgbClr val="232323"/>
                </a:solidFill>
              </a:defRPr>
            </a:pPr>
            <a:r>
              <a:rPr sz="2400" dirty="0"/>
              <a:t>• </a:t>
            </a:r>
            <a:r>
              <a:rPr lang="en-US" sz="2400" dirty="0"/>
              <a:t>Simple sentences were generally translated accurately across the four systems.</a:t>
            </a:r>
            <a:endParaRPr sz="2400" dirty="0"/>
          </a:p>
          <a:p>
            <a:pPr>
              <a:spcAft>
                <a:spcPts val="1000"/>
              </a:spcAft>
              <a:defRPr sz="2000">
                <a:solidFill>
                  <a:srgbClr val="232323"/>
                </a:solidFill>
              </a:defRPr>
            </a:pPr>
            <a:r>
              <a:rPr sz="2400" dirty="0"/>
              <a:t>• </a:t>
            </a:r>
            <a:r>
              <a:rPr lang="en-US" sz="2400" dirty="0"/>
              <a:t>Idiomatic expressions produced some of the clearest differences between systems.</a:t>
            </a:r>
          </a:p>
          <a:p>
            <a:pPr>
              <a:spcAft>
                <a:spcPts val="1000"/>
              </a:spcAft>
              <a:defRPr sz="2000">
                <a:solidFill>
                  <a:srgbClr val="232323"/>
                </a:solidFill>
              </a:defRPr>
            </a:pPr>
            <a:r>
              <a:rPr lang="en-US" sz="2400" dirty="0"/>
              <a:t>• “He kicked the bucket” showed a contrast between literal translation and idiomatic interpretation.</a:t>
            </a:r>
          </a:p>
          <a:p>
            <a:pPr>
              <a:spcAft>
                <a:spcPts val="1000"/>
              </a:spcAft>
              <a:defRPr sz="2000">
                <a:solidFill>
                  <a:srgbClr val="232323"/>
                </a:solidFill>
              </a:defRPr>
            </a:pPr>
            <a:r>
              <a:rPr lang="en-US" sz="2400" dirty="0"/>
              <a:t>• MT quality depends not only on vocabulary and grammar, but also on syntax, semantics and context.</a:t>
            </a:r>
            <a:endParaRPr sz="2400" dirty="0"/>
          </a:p>
          <a:p>
            <a:pPr>
              <a:spcAft>
                <a:spcPts val="1000"/>
              </a:spcAft>
              <a:defRPr sz="2000">
                <a:solidFill>
                  <a:srgbClr val="232323"/>
                </a:solidFill>
              </a:defRPr>
            </a:pPr>
            <a:endParaRPr lang="en-US" sz="2400" dirty="0"/>
          </a:p>
          <a:p>
            <a:pPr>
              <a:spcAft>
                <a:spcPts val="1000"/>
              </a:spcAft>
              <a:defRPr sz="1800"/>
            </a:pPr>
            <a:endParaRPr lang="en-US" sz="2400" dirty="0"/>
          </a:p>
          <a:p>
            <a:pPr>
              <a:spcAft>
                <a:spcPts val="1000"/>
              </a:spcAft>
              <a:defRPr sz="2000">
                <a:solidFill>
                  <a:srgbClr val="232323"/>
                </a:solidFill>
              </a:defRPr>
            </a:pPr>
            <a:endParaRPr lang="en-US" sz="2400" dirty="0"/>
          </a:p>
        </p:txBody>
      </p:sp>
      <p:sp>
        <p:nvSpPr>
          <p:cNvPr id="7" name="Rectangle 6">
            <a:extLst>
              <a:ext uri="{FF2B5EF4-FFF2-40B4-BE49-F238E27FC236}">
                <a16:creationId xmlns:a16="http://schemas.microsoft.com/office/drawing/2014/main" id="{82DA1CB9-9985-A0B8-BA60-2392E7AED114}"/>
              </a:ext>
            </a:extLst>
          </p:cNvPr>
          <p:cNvSpPr/>
          <p:nvPr/>
        </p:nvSpPr>
        <p:spPr>
          <a:xfrm>
            <a:off x="0" y="6629400"/>
            <a:ext cx="12191695" cy="228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AB48C0A-8DE3-F3E0-C66A-CFFB3C619012}"/>
              </a:ext>
            </a:extLst>
          </p:cNvPr>
          <p:cNvSpPr txBox="1"/>
          <p:nvPr/>
        </p:nvSpPr>
        <p:spPr>
          <a:xfrm>
            <a:off x="10972800" y="6400800"/>
            <a:ext cx="548640" cy="228600"/>
          </a:xfrm>
          <a:prstGeom prst="rect">
            <a:avLst/>
          </a:prstGeom>
          <a:noFill/>
        </p:spPr>
        <p:txBody>
          <a:bodyPr wrap="none">
            <a:spAutoFit/>
          </a:bodyPr>
          <a:lstStyle/>
          <a:p>
            <a:pPr algn="r">
              <a:defRPr sz="1000">
                <a:solidFill>
                  <a:srgbClr val="646464"/>
                </a:solidFill>
              </a:defRPr>
            </a:pPr>
            <a:r>
              <a:rPr lang="en-GB"/>
              <a:t>20</a:t>
            </a:r>
            <a:endParaRPr/>
          </a:p>
        </p:txBody>
      </p:sp>
      <p:sp>
        <p:nvSpPr>
          <p:cNvPr id="11" name="Rounded Rectangle 3">
            <a:extLst>
              <a:ext uri="{FF2B5EF4-FFF2-40B4-BE49-F238E27FC236}">
                <a16:creationId xmlns:a16="http://schemas.microsoft.com/office/drawing/2014/main" id="{5B555A12-9156-8BD7-18C9-B6134873D464}"/>
              </a:ext>
            </a:extLst>
          </p:cNvPr>
          <p:cNvSpPr/>
          <p:nvPr/>
        </p:nvSpPr>
        <p:spPr>
          <a:xfrm>
            <a:off x="929487" y="4345093"/>
            <a:ext cx="10332720" cy="7315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t>Main takeaway: Easy sentences are relatively reliable; difficult linguistic phenomena reveal important MT challenges.</a:t>
            </a:r>
          </a:p>
        </p:txBody>
      </p:sp>
    </p:spTree>
    <p:extLst>
      <p:ext uri="{BB962C8B-B14F-4D97-AF65-F5344CB8AC3E}">
        <p14:creationId xmlns:p14="http://schemas.microsoft.com/office/powerpoint/2010/main" val="3425744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5. Question Answering System (QAS)</a:t>
            </a:r>
          </a:p>
        </p:txBody>
      </p:sp>
      <p:sp>
        <p:nvSpPr>
          <p:cNvPr id="3" name="TextBox 2"/>
          <p:cNvSpPr txBox="1"/>
          <p:nvPr/>
        </p:nvSpPr>
        <p:spPr>
          <a:xfrm>
            <a:off x="530352" y="960120"/>
            <a:ext cx="10058400" cy="4937760"/>
          </a:xfrm>
          <a:prstGeom prst="rect">
            <a:avLst/>
          </a:prstGeom>
          <a:noFill/>
        </p:spPr>
        <p:txBody>
          <a:bodyPr wrap="square">
            <a:spAutoFit/>
          </a:bodyPr>
          <a:lstStyle/>
          <a:p>
            <a:pPr>
              <a:spcAft>
                <a:spcPts val="700"/>
              </a:spcAft>
              <a:defRPr sz="2200"/>
            </a:pPr>
            <a:r>
              <a:t>5.1 What is a Question Answering System?</a:t>
            </a:r>
          </a:p>
          <a:p>
            <a:pPr>
              <a:spcAft>
                <a:spcPts val="700"/>
              </a:spcAft>
              <a:defRPr sz="2200"/>
            </a:pPr>
            <a:endParaRPr/>
          </a:p>
          <a:p>
            <a:pPr>
              <a:spcAft>
                <a:spcPts val="700"/>
              </a:spcAft>
              <a:defRPr sz="2200"/>
            </a:pPr>
            <a:r>
              <a:t>A Question Answering System (QAS) automatically answers user questions using stored knowledge, search engines, or language models.</a:t>
            </a:r>
          </a:p>
          <a:p>
            <a:pPr>
              <a:spcAft>
                <a:spcPts val="700"/>
              </a:spcAft>
              <a:defRPr sz="2200"/>
            </a:pPr>
            <a:endParaRPr/>
          </a:p>
          <a:p>
            <a:pPr>
              <a:spcAft>
                <a:spcPts val="700"/>
              </a:spcAft>
              <a:defRPr sz="2200"/>
            </a:pPr>
            <a:r>
              <a:t>Systems tested:</a:t>
            </a:r>
          </a:p>
          <a:p>
            <a:pPr>
              <a:spcAft>
                <a:spcPts val="700"/>
              </a:spcAft>
              <a:defRPr sz="2200"/>
            </a:pPr>
            <a:r>
              <a:t>• Google Search</a:t>
            </a:r>
          </a:p>
          <a:p>
            <a:pPr>
              <a:spcAft>
                <a:spcPts val="700"/>
              </a:spcAft>
              <a:defRPr sz="2200"/>
            </a:pPr>
            <a:r>
              <a:t>• ChatGPT</a:t>
            </a:r>
          </a:p>
          <a:p>
            <a:pPr>
              <a:spcAft>
                <a:spcPts val="700"/>
              </a:spcAft>
              <a:defRPr sz="2200"/>
            </a:pPr>
            <a:r>
              <a:t>• START</a:t>
            </a:r>
          </a:p>
          <a:p>
            <a:pPr>
              <a:spcAft>
                <a:spcPts val="700"/>
              </a:spcAft>
              <a:defRPr sz="2200"/>
            </a:pPr>
            <a:r>
              <a:t>• BERT-based QA (BERT-Insight)</a:t>
            </a:r>
          </a:p>
          <a:p>
            <a:pPr>
              <a:spcAft>
                <a:spcPts val="700"/>
              </a:spcAft>
              <a:defRPr sz="2200"/>
            </a:pPr>
            <a:endParaRPr/>
          </a:p>
          <a:p>
            <a:pPr>
              <a:spcAft>
                <a:spcPts val="700"/>
              </a:spcAft>
              <a:defRPr sz="2200"/>
            </a:pPr>
            <a:r>
              <a:t>Practical evaluation: 4 systems × 5 questions = 20 observations</a:t>
            </a:r>
          </a:p>
        </p:txBody>
      </p:sp>
      <p:sp>
        <p:nvSpPr>
          <p:cNvPr id="4" name="TextBox 3"/>
          <p:cNvSpPr txBox="1"/>
          <p:nvPr/>
        </p:nvSpPr>
        <p:spPr>
          <a:xfrm>
            <a:off x="9784080" y="5897880"/>
            <a:ext cx="502920" cy="228600"/>
          </a:xfrm>
          <a:prstGeom prst="rect">
            <a:avLst/>
          </a:prstGeom>
          <a:noFill/>
        </p:spPr>
        <p:txBody>
          <a:bodyPr wrap="none">
            <a:spAutoFit/>
          </a:bodyPr>
          <a:lstStyle/>
          <a:p>
            <a:pPr algn="r">
              <a:defRPr sz="1000"/>
            </a:pPr>
            <a:r>
              <a:rPr lang="en-GB"/>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5.2 Practical Experiment</a:t>
            </a:r>
          </a:p>
        </p:txBody>
      </p:sp>
      <p:sp>
        <p:nvSpPr>
          <p:cNvPr id="3" name="TextBox 2"/>
          <p:cNvSpPr txBox="1"/>
          <p:nvPr/>
        </p:nvSpPr>
        <p:spPr>
          <a:xfrm>
            <a:off x="530352" y="960120"/>
            <a:ext cx="10058400" cy="4937760"/>
          </a:xfrm>
          <a:prstGeom prst="rect">
            <a:avLst/>
          </a:prstGeom>
          <a:noFill/>
        </p:spPr>
        <p:txBody>
          <a:bodyPr wrap="square">
            <a:spAutoFit/>
          </a:bodyPr>
          <a:lstStyle/>
          <a:p>
            <a:pPr>
              <a:spcAft>
                <a:spcPts val="700"/>
              </a:spcAft>
              <a:defRPr sz="1800"/>
            </a:pPr>
            <a:r>
              <a:t>Tools Used</a:t>
            </a:r>
          </a:p>
          <a:p>
            <a:pPr>
              <a:spcAft>
                <a:spcPts val="700"/>
              </a:spcAft>
              <a:defRPr sz="1800"/>
            </a:pPr>
            <a:r>
              <a:t>• Google Search / AI Overview</a:t>
            </a:r>
          </a:p>
          <a:p>
            <a:pPr>
              <a:spcAft>
                <a:spcPts val="700"/>
              </a:spcAft>
              <a:defRPr sz="1800"/>
            </a:pPr>
            <a:r>
              <a:t>• ChatGPT</a:t>
            </a:r>
          </a:p>
          <a:p>
            <a:pPr>
              <a:spcAft>
                <a:spcPts val="700"/>
              </a:spcAft>
              <a:defRPr sz="1800"/>
            </a:pPr>
            <a:r>
              <a:t>• START – Natural Language Question Answering System</a:t>
            </a:r>
          </a:p>
          <a:p>
            <a:pPr>
              <a:spcAft>
                <a:spcPts val="700"/>
              </a:spcAft>
              <a:defRPr sz="1800"/>
            </a:pPr>
            <a:r>
              <a:t>• BERT-Insight – BERT-based Extractive QA</a:t>
            </a:r>
          </a:p>
          <a:p>
            <a:pPr>
              <a:spcAft>
                <a:spcPts val="700"/>
              </a:spcAft>
              <a:defRPr sz="1800"/>
            </a:pPr>
            <a:endParaRPr/>
          </a:p>
          <a:p>
            <a:pPr>
              <a:spcAft>
                <a:spcPts val="700"/>
              </a:spcAft>
              <a:defRPr sz="1800"/>
            </a:pPr>
            <a:r>
              <a:t>Method</a:t>
            </a:r>
          </a:p>
          <a:p>
            <a:pPr>
              <a:spcAft>
                <a:spcPts val="700"/>
              </a:spcAft>
              <a:defRPr sz="1800"/>
            </a:pPr>
            <a:r>
              <a:t>• Actual outputs were recorded from screenshots.</a:t>
            </a:r>
          </a:p>
          <a:p>
            <a:pPr>
              <a:spcAft>
                <a:spcPts val="700"/>
              </a:spcAft>
              <a:defRPr sz="1800"/>
            </a:pPr>
            <a:r>
              <a:t>• Responses were examined for correctness, ambiguity handling, clarification, and answer behavior.</a:t>
            </a:r>
          </a:p>
          <a:p>
            <a:pPr>
              <a:spcAft>
                <a:spcPts val="700"/>
              </a:spcAft>
              <a:defRPr sz="1800"/>
            </a:pPr>
            <a:r>
              <a:t>• BERT-Insight was tested with a passage + question because it is an extractive QA system.</a:t>
            </a:r>
          </a:p>
          <a:p>
            <a:pPr>
              <a:spcAft>
                <a:spcPts val="700"/>
              </a:spcAft>
              <a:defRPr sz="1800"/>
            </a:pPr>
            <a:r>
              <a:t>• Five questions covered factual, knowledge-based, ambiguous and subjective cases.</a:t>
            </a:r>
          </a:p>
        </p:txBody>
      </p:sp>
      <p:sp>
        <p:nvSpPr>
          <p:cNvPr id="4" name="TextBox 3"/>
          <p:cNvSpPr txBox="1"/>
          <p:nvPr/>
        </p:nvSpPr>
        <p:spPr>
          <a:xfrm>
            <a:off x="9784080" y="5897880"/>
            <a:ext cx="502920" cy="228600"/>
          </a:xfrm>
          <a:prstGeom prst="rect">
            <a:avLst/>
          </a:prstGeom>
          <a:noFill/>
        </p:spPr>
        <p:txBody>
          <a:bodyPr wrap="none">
            <a:spAutoFit/>
          </a:bodyPr>
          <a:lstStyle/>
          <a:p>
            <a:pPr algn="r">
              <a:defRPr sz="1000"/>
            </a:pPr>
            <a:r>
              <a:rPr lang="en-GB"/>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QAS Practical Results — Questions 1 &amp; 2</a:t>
            </a:r>
          </a:p>
        </p:txBody>
      </p:sp>
      <p:graphicFrame>
        <p:nvGraphicFramePr>
          <p:cNvPr id="3" name="Table 2"/>
          <p:cNvGraphicFramePr>
            <a:graphicFrameLocks noGrp="1"/>
          </p:cNvGraphicFramePr>
          <p:nvPr>
            <p:extLst>
              <p:ext uri="{D42A27DB-BD31-4B8C-83A1-F6EECF244321}">
                <p14:modId xmlns:p14="http://schemas.microsoft.com/office/powerpoint/2010/main" val="197728472"/>
              </p:ext>
            </p:extLst>
          </p:nvPr>
        </p:nvGraphicFramePr>
        <p:xfrm>
          <a:off x="320040" y="1051560"/>
          <a:ext cx="10332720" cy="4709160"/>
        </p:xfrm>
        <a:graphic>
          <a:graphicData uri="http://schemas.openxmlformats.org/drawingml/2006/table">
            <a:tbl>
              <a:tblPr firstRow="1" bandRow="1">
                <a:tableStyleId>{5C22544A-7EE6-4342-B048-85BDC9FD1C3A}</a:tableStyleId>
              </a:tblPr>
              <a:tblGrid>
                <a:gridCol w="3444240">
                  <a:extLst>
                    <a:ext uri="{9D8B030D-6E8A-4147-A177-3AD203B41FA5}">
                      <a16:colId xmlns:a16="http://schemas.microsoft.com/office/drawing/2014/main" val="20000"/>
                    </a:ext>
                  </a:extLst>
                </a:gridCol>
                <a:gridCol w="3444240">
                  <a:extLst>
                    <a:ext uri="{9D8B030D-6E8A-4147-A177-3AD203B41FA5}">
                      <a16:colId xmlns:a16="http://schemas.microsoft.com/office/drawing/2014/main" val="20001"/>
                    </a:ext>
                  </a:extLst>
                </a:gridCol>
                <a:gridCol w="3444240">
                  <a:extLst>
                    <a:ext uri="{9D8B030D-6E8A-4147-A177-3AD203B41FA5}">
                      <a16:colId xmlns:a16="http://schemas.microsoft.com/office/drawing/2014/main" val="20002"/>
                    </a:ext>
                  </a:extLst>
                </a:gridCol>
              </a:tblGrid>
              <a:tr h="1569720">
                <a:tc>
                  <a:txBody>
                    <a:bodyPr/>
                    <a:lstStyle/>
                    <a:p>
                      <a:pPr algn="ctr">
                        <a:defRPr sz="1200" b="1"/>
                      </a:pPr>
                      <a:r>
                        <a:rPr sz="1400" dirty="0"/>
                        <a:t>Question</a:t>
                      </a:r>
                    </a:p>
                  </a:txBody>
                  <a:tcPr anchor="ctr"/>
                </a:tc>
                <a:tc>
                  <a:txBody>
                    <a:bodyPr/>
                    <a:lstStyle/>
                    <a:p>
                      <a:pPr algn="ctr">
                        <a:defRPr sz="1200" b="1"/>
                      </a:pPr>
                      <a:r>
                        <a:rPr sz="1400"/>
                        <a:t>Key observation</a:t>
                      </a:r>
                    </a:p>
                  </a:txBody>
                  <a:tcPr anchor="ctr"/>
                </a:tc>
                <a:tc>
                  <a:txBody>
                    <a:bodyPr/>
                    <a:lstStyle/>
                    <a:p>
                      <a:pPr algn="ctr">
                        <a:defRPr sz="1200" b="1"/>
                      </a:pPr>
                      <a:r>
                        <a:rPr sz="1400"/>
                        <a:t>Result</a:t>
                      </a:r>
                    </a:p>
                  </a:txBody>
                  <a:tcPr anchor="ctr"/>
                </a:tc>
                <a:extLst>
                  <a:ext uri="{0D108BD9-81ED-4DB2-BD59-A6C34878D82A}">
                    <a16:rowId xmlns:a16="http://schemas.microsoft.com/office/drawing/2014/main" val="10000"/>
                  </a:ext>
                </a:extLst>
              </a:tr>
              <a:tr h="1569720">
                <a:tc>
                  <a:txBody>
                    <a:bodyPr/>
                    <a:lstStyle/>
                    <a:p>
                      <a:pPr>
                        <a:defRPr sz="1200"/>
                      </a:pPr>
                      <a:r>
                        <a:rPr sz="1400"/>
                        <a:t>Q1. Which bank has the highest interest?</a:t>
                      </a:r>
                    </a:p>
                  </a:txBody>
                  <a:tcPr anchor="ctr"/>
                </a:tc>
                <a:tc>
                  <a:txBody>
                    <a:bodyPr/>
                    <a:lstStyle/>
                    <a:p>
                      <a:pPr>
                        <a:defRPr sz="1200"/>
                      </a:pPr>
                      <a:r>
                        <a:rPr sz="1400"/>
                        <a:t>Google requested country/account clarification; ChatGPT interpreted Bangladesh FDR context; START could not answer; BERT extracted “ICB Islamic Bank PLC” from the supplied context.</a:t>
                      </a:r>
                    </a:p>
                  </a:txBody>
                  <a:tcPr anchor="ctr"/>
                </a:tc>
                <a:tc>
                  <a:txBody>
                    <a:bodyPr/>
                    <a:lstStyle/>
                    <a:p>
                      <a:pPr>
                        <a:defRPr sz="1200"/>
                      </a:pPr>
                      <a:r>
                        <a:rPr sz="1400" dirty="0"/>
                        <a:t>Underspecified question; responses differed.</a:t>
                      </a:r>
                    </a:p>
                  </a:txBody>
                  <a:tcPr anchor="ctr"/>
                </a:tc>
                <a:extLst>
                  <a:ext uri="{0D108BD9-81ED-4DB2-BD59-A6C34878D82A}">
                    <a16:rowId xmlns:a16="http://schemas.microsoft.com/office/drawing/2014/main" val="10001"/>
                  </a:ext>
                </a:extLst>
              </a:tr>
              <a:tr h="1569720">
                <a:tc>
                  <a:txBody>
                    <a:bodyPr/>
                    <a:lstStyle/>
                    <a:p>
                      <a:pPr>
                        <a:defRPr sz="1200"/>
                      </a:pPr>
                      <a:r>
                        <a:rPr sz="1400"/>
                        <a:t>Q2. Can penguins fly?</a:t>
                      </a:r>
                    </a:p>
                  </a:txBody>
                  <a:tcPr anchor="ctr"/>
                </a:tc>
                <a:tc>
                  <a:txBody>
                    <a:bodyPr/>
                    <a:lstStyle/>
                    <a:p>
                      <a:pPr>
                        <a:defRPr sz="1200"/>
                      </a:pPr>
                      <a:r>
                        <a:rPr sz="1400"/>
                        <a:t>Google, ChatGPT and START answered correctly. BERT extracted “They cannot fly through the air” (score 12.075).</a:t>
                      </a:r>
                    </a:p>
                  </a:txBody>
                  <a:tcPr anchor="ctr"/>
                </a:tc>
                <a:tc>
                  <a:txBody>
                    <a:bodyPr/>
                    <a:lstStyle/>
                    <a:p>
                      <a:pPr>
                        <a:defRPr sz="1200"/>
                      </a:pPr>
                      <a:r>
                        <a:rPr sz="1400" dirty="0"/>
                        <a:t>All four produced a correct factual result.</a:t>
                      </a:r>
                    </a:p>
                  </a:txBody>
                  <a:tcPr anchor="ctr"/>
                </a:tc>
                <a:extLst>
                  <a:ext uri="{0D108BD9-81ED-4DB2-BD59-A6C34878D82A}">
                    <a16:rowId xmlns:a16="http://schemas.microsoft.com/office/drawing/2014/main" val="10002"/>
                  </a:ext>
                </a:extLst>
              </a:tr>
            </a:tbl>
          </a:graphicData>
        </a:graphic>
      </p:graphicFrame>
      <p:sp>
        <p:nvSpPr>
          <p:cNvPr id="4" name="TextBox 3"/>
          <p:cNvSpPr txBox="1"/>
          <p:nvPr/>
        </p:nvSpPr>
        <p:spPr>
          <a:xfrm>
            <a:off x="9784080" y="5897880"/>
            <a:ext cx="502920" cy="228600"/>
          </a:xfrm>
          <a:prstGeom prst="rect">
            <a:avLst/>
          </a:prstGeom>
          <a:noFill/>
        </p:spPr>
        <p:txBody>
          <a:bodyPr wrap="none">
            <a:spAutoFit/>
          </a:bodyPr>
          <a:lstStyle/>
          <a:p>
            <a:pPr algn="r">
              <a:defRPr sz="1000"/>
            </a:pPr>
            <a:r>
              <a:rPr lang="en-GB"/>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QAS Practical Results — Question 3</a:t>
            </a:r>
          </a:p>
        </p:txBody>
      </p:sp>
      <p:sp>
        <p:nvSpPr>
          <p:cNvPr id="3" name="TextBox 2"/>
          <p:cNvSpPr txBox="1"/>
          <p:nvPr/>
        </p:nvSpPr>
        <p:spPr>
          <a:xfrm>
            <a:off x="530352" y="960120"/>
            <a:ext cx="10058400" cy="4937760"/>
          </a:xfrm>
          <a:prstGeom prst="rect">
            <a:avLst/>
          </a:prstGeom>
          <a:noFill/>
        </p:spPr>
        <p:txBody>
          <a:bodyPr wrap="square">
            <a:spAutoFit/>
          </a:bodyPr>
          <a:lstStyle/>
          <a:p>
            <a:pPr>
              <a:spcAft>
                <a:spcPts val="700"/>
              </a:spcAft>
              <a:defRPr sz="2000"/>
            </a:pPr>
            <a:r>
              <a:t>Question 3</a:t>
            </a:r>
          </a:p>
          <a:p>
            <a:pPr>
              <a:spcAft>
                <a:spcPts val="700"/>
              </a:spcAft>
              <a:defRPr sz="2000"/>
            </a:pPr>
            <a:r>
              <a:t>Who is the father of Artificial Intelligence?</a:t>
            </a:r>
          </a:p>
          <a:p>
            <a:pPr>
              <a:spcAft>
                <a:spcPts val="700"/>
              </a:spcAft>
              <a:defRPr sz="2000"/>
            </a:pPr>
            <a:endParaRPr/>
          </a:p>
          <a:p>
            <a:pPr>
              <a:spcAft>
                <a:spcPts val="700"/>
              </a:spcAft>
              <a:defRPr sz="2000"/>
            </a:pPr>
            <a:r>
              <a:t>Results</a:t>
            </a:r>
          </a:p>
          <a:p>
            <a:pPr>
              <a:spcAft>
                <a:spcPts val="700"/>
              </a:spcAft>
              <a:defRPr sz="2000"/>
            </a:pPr>
            <a:r>
              <a:t>• Google → John McCarthy</a:t>
            </a:r>
          </a:p>
          <a:p>
            <a:pPr>
              <a:spcAft>
                <a:spcPts val="700"/>
              </a:spcAft>
              <a:defRPr sz="2000"/>
            </a:pPr>
            <a:r>
              <a:t>• ChatGPT → John McCarthy</a:t>
            </a:r>
          </a:p>
          <a:p>
            <a:pPr>
              <a:spcAft>
                <a:spcPts val="700"/>
              </a:spcAft>
              <a:defRPr sz="2000"/>
            </a:pPr>
            <a:r>
              <a:t>• START → Unable to find an answer within a reasonable amount of time</a:t>
            </a:r>
          </a:p>
          <a:p>
            <a:pPr>
              <a:spcAft>
                <a:spcPts val="700"/>
              </a:spcAft>
              <a:defRPr sz="2000"/>
            </a:pPr>
            <a:r>
              <a:t>• BERT-Insight → John McCarthy (highest score: 19.314)</a:t>
            </a:r>
          </a:p>
          <a:p>
            <a:pPr>
              <a:spcAft>
                <a:spcPts val="700"/>
              </a:spcAft>
              <a:defRPr sz="2000"/>
            </a:pPr>
            <a:endParaRPr/>
          </a:p>
          <a:p>
            <a:pPr>
              <a:spcAft>
                <a:spcPts val="700"/>
              </a:spcAft>
              <a:defRPr sz="2000"/>
            </a:pPr>
            <a:r>
              <a:t>Observation</a:t>
            </a:r>
          </a:p>
          <a:p>
            <a:pPr>
              <a:spcAft>
                <a:spcPts val="700"/>
              </a:spcAft>
              <a:defRPr sz="2000"/>
            </a:pPr>
            <a:r>
              <a:t>Google, ChatGPT and BERT identified the same answer. BERT successfully extracted the expected answer span from the supplied context.</a:t>
            </a:r>
          </a:p>
        </p:txBody>
      </p:sp>
      <p:sp>
        <p:nvSpPr>
          <p:cNvPr id="4" name="TextBox 3"/>
          <p:cNvSpPr txBox="1"/>
          <p:nvPr/>
        </p:nvSpPr>
        <p:spPr>
          <a:xfrm>
            <a:off x="9784080" y="5897880"/>
            <a:ext cx="502920" cy="228600"/>
          </a:xfrm>
          <a:prstGeom prst="rect">
            <a:avLst/>
          </a:prstGeom>
          <a:noFill/>
        </p:spPr>
        <p:txBody>
          <a:bodyPr wrap="none">
            <a:spAutoFit/>
          </a:bodyPr>
          <a:lstStyle/>
          <a:p>
            <a:pPr algn="r">
              <a:defRPr sz="1000"/>
            </a:pPr>
            <a:r>
              <a:rPr lang="en-GB"/>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QAS Practical Results — Questions 4 &amp; 5</a:t>
            </a:r>
          </a:p>
        </p:txBody>
      </p:sp>
      <p:graphicFrame>
        <p:nvGraphicFramePr>
          <p:cNvPr id="3" name="Table 2"/>
          <p:cNvGraphicFramePr>
            <a:graphicFrameLocks noGrp="1"/>
          </p:cNvGraphicFramePr>
          <p:nvPr/>
        </p:nvGraphicFramePr>
        <p:xfrm>
          <a:off x="320040" y="1051560"/>
          <a:ext cx="10332720" cy="4709160"/>
        </p:xfrm>
        <a:graphic>
          <a:graphicData uri="http://schemas.openxmlformats.org/drawingml/2006/table">
            <a:tbl>
              <a:tblPr firstRow="1" bandRow="1">
                <a:tableStyleId>{5C22544A-7EE6-4342-B048-85BDC9FD1C3A}</a:tableStyleId>
              </a:tblPr>
              <a:tblGrid>
                <a:gridCol w="3444240">
                  <a:extLst>
                    <a:ext uri="{9D8B030D-6E8A-4147-A177-3AD203B41FA5}">
                      <a16:colId xmlns:a16="http://schemas.microsoft.com/office/drawing/2014/main" val="20000"/>
                    </a:ext>
                  </a:extLst>
                </a:gridCol>
                <a:gridCol w="3444240">
                  <a:extLst>
                    <a:ext uri="{9D8B030D-6E8A-4147-A177-3AD203B41FA5}">
                      <a16:colId xmlns:a16="http://schemas.microsoft.com/office/drawing/2014/main" val="20001"/>
                    </a:ext>
                  </a:extLst>
                </a:gridCol>
                <a:gridCol w="3444240">
                  <a:extLst>
                    <a:ext uri="{9D8B030D-6E8A-4147-A177-3AD203B41FA5}">
                      <a16:colId xmlns:a16="http://schemas.microsoft.com/office/drawing/2014/main" val="20002"/>
                    </a:ext>
                  </a:extLst>
                </a:gridCol>
              </a:tblGrid>
              <a:tr h="1569720">
                <a:tc>
                  <a:txBody>
                    <a:bodyPr/>
                    <a:lstStyle/>
                    <a:p>
                      <a:pPr algn="ctr">
                        <a:defRPr sz="1200" b="1"/>
                      </a:pPr>
                      <a:r>
                        <a:t>Question</a:t>
                      </a:r>
                    </a:p>
                  </a:txBody>
                  <a:tcPr anchor="ctr"/>
                </a:tc>
                <a:tc>
                  <a:txBody>
                    <a:bodyPr/>
                    <a:lstStyle/>
                    <a:p>
                      <a:pPr algn="ctr">
                        <a:defRPr sz="1200" b="1"/>
                      </a:pPr>
                      <a:r>
                        <a:t>Key observation</a:t>
                      </a:r>
                    </a:p>
                  </a:txBody>
                  <a:tcPr anchor="ctr"/>
                </a:tc>
                <a:tc>
                  <a:txBody>
                    <a:bodyPr/>
                    <a:lstStyle/>
                    <a:p>
                      <a:pPr algn="ctr">
                        <a:defRPr sz="1200" b="1"/>
                      </a:pPr>
                      <a:r>
                        <a:t>Result</a:t>
                      </a:r>
                    </a:p>
                  </a:txBody>
                  <a:tcPr anchor="ctr"/>
                </a:tc>
                <a:extLst>
                  <a:ext uri="{0D108BD9-81ED-4DB2-BD59-A6C34878D82A}">
                    <a16:rowId xmlns:a16="http://schemas.microsoft.com/office/drawing/2014/main" val="10000"/>
                  </a:ext>
                </a:extLst>
              </a:tr>
              <a:tr h="1569720">
                <a:tc>
                  <a:txBody>
                    <a:bodyPr/>
                    <a:lstStyle/>
                    <a:p>
                      <a:pPr>
                        <a:defRPr sz="1200"/>
                      </a:pPr>
                      <a:r>
                        <a:t>Q4. I saw the man with the telescope. Who has the telescope?</a:t>
                      </a:r>
                    </a:p>
                  </a:txBody>
                  <a:tcPr anchor="ctr"/>
                </a:tc>
                <a:tc>
                  <a:txBody>
                    <a:bodyPr/>
                    <a:lstStyle/>
                    <a:p>
                      <a:pPr>
                        <a:defRPr sz="1200"/>
                      </a:pPr>
                      <a:r>
                        <a:t>Google and ChatGPT identified two interpretations. START timed out. BERT-Insight returned “no predictions” with the ambiguous sentence as passage.</a:t>
                      </a:r>
                    </a:p>
                  </a:txBody>
                  <a:tcPr anchor="ctr"/>
                </a:tc>
                <a:tc>
                  <a:txBody>
                    <a:bodyPr/>
                    <a:lstStyle/>
                    <a:p>
                      <a:pPr>
                        <a:defRPr sz="1200"/>
                      </a:pPr>
                      <a:r>
                        <a:t>Structural ambiguity created difficulty.</a:t>
                      </a:r>
                    </a:p>
                  </a:txBody>
                  <a:tcPr anchor="ctr"/>
                </a:tc>
                <a:extLst>
                  <a:ext uri="{0D108BD9-81ED-4DB2-BD59-A6C34878D82A}">
                    <a16:rowId xmlns:a16="http://schemas.microsoft.com/office/drawing/2014/main" val="10001"/>
                  </a:ext>
                </a:extLst>
              </a:tr>
              <a:tr h="1569720">
                <a:tc>
                  <a:txBody>
                    <a:bodyPr/>
                    <a:lstStyle/>
                    <a:p>
                      <a:pPr>
                        <a:defRPr sz="1200"/>
                      </a:pPr>
                      <a:r>
                        <a:t>Q5. What is the best programming language?</a:t>
                      </a:r>
                    </a:p>
                  </a:txBody>
                  <a:tcPr anchor="ctr"/>
                </a:tc>
                <a:tc>
                  <a:txBody>
                    <a:bodyPr/>
                    <a:lstStyle/>
                    <a:p>
                      <a:pPr>
                        <a:defRPr sz="1200"/>
                      </a:pPr>
                      <a:r>
                        <a:t>Google showed general results; ChatGPT said there is no single best language; START returned LISP from its KB; BERT produced no meaningful answer span.</a:t>
                      </a:r>
                    </a:p>
                  </a:txBody>
                  <a:tcPr anchor="ctr"/>
                </a:tc>
                <a:tc>
                  <a:txBody>
                    <a:bodyPr/>
                    <a:lstStyle/>
                    <a:p>
                      <a:pPr>
                        <a:defRPr sz="1200"/>
                      </a:pPr>
                      <a:r>
                        <a:t>Subjective/context-dependent question.</a:t>
                      </a:r>
                    </a:p>
                  </a:txBody>
                  <a:tcPr anchor="ctr"/>
                </a:tc>
                <a:extLst>
                  <a:ext uri="{0D108BD9-81ED-4DB2-BD59-A6C34878D82A}">
                    <a16:rowId xmlns:a16="http://schemas.microsoft.com/office/drawing/2014/main" val="10002"/>
                  </a:ext>
                </a:extLst>
              </a:tr>
            </a:tbl>
          </a:graphicData>
        </a:graphic>
      </p:graphicFrame>
      <p:sp>
        <p:nvSpPr>
          <p:cNvPr id="4" name="TextBox 3"/>
          <p:cNvSpPr txBox="1"/>
          <p:nvPr/>
        </p:nvSpPr>
        <p:spPr>
          <a:xfrm>
            <a:off x="9970888" y="5897880"/>
            <a:ext cx="316112" cy="246221"/>
          </a:xfrm>
          <a:prstGeom prst="rect">
            <a:avLst/>
          </a:prstGeom>
          <a:noFill/>
        </p:spPr>
        <p:txBody>
          <a:bodyPr wrap="none">
            <a:spAutoFit/>
          </a:bodyPr>
          <a:lstStyle/>
          <a:p>
            <a:pPr algn="r">
              <a:defRPr sz="1000"/>
            </a:pPr>
            <a:r>
              <a:rPr lang="en-US"/>
              <a:t>25</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048" y="182880"/>
            <a:ext cx="10058400" cy="502920"/>
          </a:xfrm>
          <a:prstGeom prst="rect">
            <a:avLst/>
          </a:prstGeom>
          <a:noFill/>
        </p:spPr>
        <p:txBody>
          <a:bodyPr wrap="none">
            <a:spAutoFit/>
          </a:bodyPr>
          <a:lstStyle/>
          <a:p>
            <a:pPr>
              <a:defRPr sz="2800" b="1"/>
            </a:pPr>
            <a:r>
              <a:t>QAS Summary — Key Findings</a:t>
            </a:r>
          </a:p>
        </p:txBody>
      </p:sp>
      <p:sp>
        <p:nvSpPr>
          <p:cNvPr id="3" name="TextBox 2"/>
          <p:cNvSpPr txBox="1"/>
          <p:nvPr/>
        </p:nvSpPr>
        <p:spPr>
          <a:xfrm>
            <a:off x="530352" y="960120"/>
            <a:ext cx="10058400" cy="4937760"/>
          </a:xfrm>
          <a:prstGeom prst="rect">
            <a:avLst/>
          </a:prstGeom>
          <a:noFill/>
        </p:spPr>
        <p:txBody>
          <a:bodyPr wrap="square">
            <a:spAutoFit/>
          </a:bodyPr>
          <a:lstStyle/>
          <a:p>
            <a:pPr>
              <a:spcAft>
                <a:spcPts val="700"/>
              </a:spcAft>
              <a:defRPr sz="1800"/>
            </a:pPr>
            <a:r>
              <a:t>The experiment evaluated 4 Question Answering Systems using 5 questions covering factual, knowledge-based, ambiguous and subjective cases.</a:t>
            </a:r>
          </a:p>
          <a:p>
            <a:pPr>
              <a:spcAft>
                <a:spcPts val="700"/>
              </a:spcAft>
              <a:defRPr sz="1800"/>
            </a:pPr>
            <a:endParaRPr/>
          </a:p>
          <a:p>
            <a:pPr>
              <a:spcAft>
                <a:spcPts val="700"/>
              </a:spcAft>
              <a:defRPr sz="1800"/>
            </a:pPr>
            <a:r>
              <a:t>Key Findings</a:t>
            </a:r>
          </a:p>
          <a:p>
            <a:pPr>
              <a:spcAft>
                <a:spcPts val="700"/>
              </a:spcAft>
              <a:defRPr sz="1800"/>
            </a:pPr>
            <a:r>
              <a:t>• Factual questions were generally handled successfully.</a:t>
            </a:r>
          </a:p>
          <a:p>
            <a:pPr>
              <a:spcAft>
                <a:spcPts val="700"/>
              </a:spcAft>
              <a:defRPr sz="1800"/>
            </a:pPr>
            <a:r>
              <a:t>• Ambiguous questions required contextual or structural interpretation.</a:t>
            </a:r>
          </a:p>
          <a:p>
            <a:pPr>
              <a:spcAft>
                <a:spcPts val="700"/>
              </a:spcAft>
              <a:defRPr sz="1800"/>
            </a:pPr>
            <a:r>
              <a:t>• Subjective questions produced context-dependent or knowledge-base-based responses.</a:t>
            </a:r>
          </a:p>
          <a:p>
            <a:pPr>
              <a:spcAft>
                <a:spcPts val="700"/>
              </a:spcAft>
              <a:defRPr sz="1800"/>
            </a:pPr>
            <a:r>
              <a:t>• START showed limitations including inability to answer and timeout.</a:t>
            </a:r>
          </a:p>
          <a:p>
            <a:pPr>
              <a:spcAft>
                <a:spcPts val="700"/>
              </a:spcAft>
              <a:defRPr sz="1800"/>
            </a:pPr>
            <a:r>
              <a:t>• BERT-Insight demonstrated extractive QA behavior and depended strongly on the supplied passage.</a:t>
            </a:r>
          </a:p>
          <a:p>
            <a:pPr>
              <a:spcAft>
                <a:spcPts val="700"/>
              </a:spcAft>
              <a:defRPr sz="1800"/>
            </a:pPr>
            <a:endParaRPr/>
          </a:p>
          <a:p>
            <a:pPr>
              <a:spcAft>
                <a:spcPts val="700"/>
              </a:spcAft>
              <a:defRPr sz="1800"/>
            </a:pPr>
            <a:r>
              <a:t>Overall finding:</a:t>
            </a:r>
          </a:p>
          <a:p>
            <a:pPr>
              <a:spcAft>
                <a:spcPts val="700"/>
              </a:spcAft>
              <a:defRPr sz="1800"/>
            </a:pPr>
            <a:r>
              <a:t>Question Answering performance depends on both the QA system and the nature, ambiguity, and context of the question.</a:t>
            </a:r>
          </a:p>
        </p:txBody>
      </p:sp>
      <p:sp>
        <p:nvSpPr>
          <p:cNvPr id="4" name="TextBox 3"/>
          <p:cNvSpPr txBox="1"/>
          <p:nvPr/>
        </p:nvSpPr>
        <p:spPr>
          <a:xfrm>
            <a:off x="9970888" y="5897880"/>
            <a:ext cx="316112" cy="246221"/>
          </a:xfrm>
          <a:prstGeom prst="rect">
            <a:avLst/>
          </a:prstGeom>
          <a:noFill/>
        </p:spPr>
        <p:txBody>
          <a:bodyPr wrap="none">
            <a:spAutoFit/>
          </a:bodyPr>
          <a:lstStyle/>
          <a:p>
            <a:pPr algn="r">
              <a:defRPr sz="1000"/>
            </a:pPr>
            <a:r>
              <a:rPr lang="en-US"/>
              <a:t>26</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sz="2800" b="1"/>
              <a:t>6. Overall Comparison</a:t>
            </a:r>
          </a:p>
        </p:txBody>
      </p:sp>
      <p:sp>
        <p:nvSpPr>
          <p:cNvPr id="3" name="Rectangle 2"/>
          <p:cNvSpPr/>
          <p:nvPr/>
        </p:nvSpPr>
        <p:spPr>
          <a:xfrm>
            <a:off x="0" y="6629400"/>
            <a:ext cx="12191695" cy="2286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GB" sz="1000">
                <a:solidFill>
                  <a:srgbClr val="646464"/>
                </a:solidFill>
              </a:rPr>
              <a:t>27</a:t>
            </a:r>
            <a:endParaRPr sz="1000">
              <a:solidFill>
                <a:srgbClr val="646464"/>
              </a:solidFill>
            </a:endParaRPr>
          </a:p>
        </p:txBody>
      </p:sp>
      <p:graphicFrame>
        <p:nvGraphicFramePr>
          <p:cNvPr id="5" name="Table 4"/>
          <p:cNvGraphicFramePr>
            <a:graphicFrameLocks noGrp="1"/>
          </p:cNvGraphicFramePr>
          <p:nvPr/>
        </p:nvGraphicFramePr>
        <p:xfrm>
          <a:off x="731520" y="1000000"/>
          <a:ext cx="10789920" cy="2449995"/>
        </p:xfrm>
        <a:graphic>
          <a:graphicData uri="http://schemas.openxmlformats.org/drawingml/2006/table">
            <a:tbl>
              <a:tblPr firstRow="1" bandRow="1">
                <a:tableStyleId>{5C22544A-7EE6-4342-B048-85BDC9FD1C3A}</a:tableStyleId>
              </a:tblPr>
              <a:tblGrid>
                <a:gridCol w="270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2600000">
                  <a:extLst>
                    <a:ext uri="{9D8B030D-6E8A-4147-A177-3AD203B41FA5}">
                      <a16:colId xmlns:a16="http://schemas.microsoft.com/office/drawing/2014/main" val="20002"/>
                    </a:ext>
                  </a:extLst>
                </a:gridCol>
                <a:gridCol w="2889920">
                  <a:extLst>
                    <a:ext uri="{9D8B030D-6E8A-4147-A177-3AD203B41FA5}">
                      <a16:colId xmlns:a16="http://schemas.microsoft.com/office/drawing/2014/main" val="20003"/>
                    </a:ext>
                  </a:extLst>
                </a:gridCol>
              </a:tblGrid>
              <a:tr h="489999">
                <a:tc>
                  <a:txBody>
                    <a:bodyPr/>
                    <a:lstStyle/>
                    <a:p>
                      <a:r>
                        <a:rPr sz="1400" b="1">
                          <a:solidFill>
                            <a:srgbClr val="FFFFFF"/>
                          </a:solidFill>
                        </a:rPr>
                        <a:t>Technology</a:t>
                      </a:r>
                    </a:p>
                  </a:txBody>
                  <a:tcPr>
                    <a:solidFill>
                      <a:srgbClr val="1F497D"/>
                    </a:solidFill>
                  </a:tcPr>
                </a:tc>
                <a:tc>
                  <a:txBody>
                    <a:bodyPr/>
                    <a:lstStyle/>
                    <a:p>
                      <a:r>
                        <a:rPr sz="1400" b="1">
                          <a:solidFill>
                            <a:srgbClr val="FFFFFF"/>
                          </a:solidFill>
                        </a:rPr>
                        <a:t>Best Tool</a:t>
                      </a:r>
                    </a:p>
                  </a:txBody>
                  <a:tcPr>
                    <a:solidFill>
                      <a:srgbClr val="1F497D"/>
                    </a:solidFill>
                  </a:tcPr>
                </a:tc>
                <a:tc>
                  <a:txBody>
                    <a:bodyPr/>
                    <a:lstStyle/>
                    <a:p>
                      <a:r>
                        <a:rPr sz="1400" b="1">
                          <a:solidFill>
                            <a:srgbClr val="FFFFFF"/>
                          </a:solidFill>
                        </a:rPr>
                        <a:t>Best Avg. Accuracy</a:t>
                      </a:r>
                    </a:p>
                  </a:txBody>
                  <a:tcPr>
                    <a:solidFill>
                      <a:srgbClr val="1F497D"/>
                    </a:solidFill>
                  </a:tcPr>
                </a:tc>
                <a:tc>
                  <a:txBody>
                    <a:bodyPr/>
                    <a:lstStyle/>
                    <a:p>
                      <a:r>
                        <a:rPr sz="1400" b="1">
                          <a:solidFill>
                            <a:srgbClr val="FFFFFF"/>
                          </a:solidFill>
                        </a:rPr>
                        <a:t>Key Limitation</a:t>
                      </a:r>
                    </a:p>
                  </a:txBody>
                  <a:tcPr>
                    <a:solidFill>
                      <a:srgbClr val="1F497D"/>
                    </a:solidFill>
                  </a:tcPr>
                </a:tc>
                <a:extLst>
                  <a:ext uri="{0D108BD9-81ED-4DB2-BD59-A6C34878D82A}">
                    <a16:rowId xmlns:a16="http://schemas.microsoft.com/office/drawing/2014/main" val="10000"/>
                  </a:ext>
                </a:extLst>
              </a:tr>
              <a:tr h="489999">
                <a:tc>
                  <a:txBody>
                    <a:bodyPr/>
                    <a:lstStyle/>
                    <a:p>
                      <a:r>
                        <a:rPr sz="1400" b="0"/>
                        <a:t>Speech Recognition (STT)</a:t>
                      </a:r>
                    </a:p>
                  </a:txBody>
                  <a:tcPr>
                    <a:solidFill>
                      <a:srgbClr val="FFFFFF"/>
                    </a:solidFill>
                  </a:tcPr>
                </a:tc>
                <a:tc>
                  <a:txBody>
                    <a:bodyPr/>
                    <a:lstStyle/>
                    <a:p>
                      <a:r>
                        <a:rPr sz="1400" b="0"/>
                        <a:t>faster-whisper</a:t>
                      </a:r>
                    </a:p>
                  </a:txBody>
                  <a:tcPr>
                    <a:solidFill>
                      <a:srgbClr val="FFFFFF"/>
                    </a:solidFill>
                  </a:tcPr>
                </a:tc>
                <a:tc>
                  <a:txBody>
                    <a:bodyPr/>
                    <a:lstStyle/>
                    <a:p>
                      <a:r>
                        <a:rPr sz="1400" b="0"/>
                        <a:t>~90%+ (English)</a:t>
                      </a:r>
                    </a:p>
                  </a:txBody>
                  <a:tcPr>
                    <a:solidFill>
                      <a:srgbClr val="FFFFFF"/>
                    </a:solidFill>
                  </a:tcPr>
                </a:tc>
                <a:tc>
                  <a:txBody>
                    <a:bodyPr/>
                    <a:lstStyle/>
                    <a:p>
                      <a:r>
                        <a:rPr sz="1400" b="0"/>
                        <a:t>Bangla needs dedicated model</a:t>
                      </a:r>
                    </a:p>
                  </a:txBody>
                  <a:tcPr>
                    <a:solidFill>
                      <a:srgbClr val="FFFFFF"/>
                    </a:solidFill>
                  </a:tcPr>
                </a:tc>
                <a:extLst>
                  <a:ext uri="{0D108BD9-81ED-4DB2-BD59-A6C34878D82A}">
                    <a16:rowId xmlns:a16="http://schemas.microsoft.com/office/drawing/2014/main" val="10001"/>
                  </a:ext>
                </a:extLst>
              </a:tr>
              <a:tr h="489999">
                <a:tc>
                  <a:txBody>
                    <a:bodyPr/>
                    <a:lstStyle/>
                    <a:p>
                      <a:r>
                        <a:rPr sz="1400" b="0"/>
                        <a:t>Speech Synthesis (TTS)</a:t>
                      </a:r>
                    </a:p>
                  </a:txBody>
                  <a:tcPr>
                    <a:solidFill>
                      <a:srgbClr val="E8F0FE"/>
                    </a:solidFill>
                  </a:tcPr>
                </a:tc>
                <a:tc>
                  <a:txBody>
                    <a:bodyPr/>
                    <a:lstStyle/>
                    <a:p>
                      <a:r>
                        <a:rPr sz="1400" b="0"/>
                        <a:t>gTTS (edge-tts ties on Hindi)</a:t>
                      </a:r>
                    </a:p>
                  </a:txBody>
                  <a:tcPr>
                    <a:solidFill>
                      <a:srgbClr val="E8F0FE"/>
                    </a:solidFill>
                  </a:tcPr>
                </a:tc>
                <a:tc>
                  <a:txBody>
                    <a:bodyPr/>
                    <a:lstStyle/>
                    <a:p>
                      <a:r>
                        <a:rPr sz="1400" b="0"/>
                        <a:t>97.1% English, 57.6% Hindi</a:t>
                      </a:r>
                    </a:p>
                  </a:txBody>
                  <a:tcPr>
                    <a:solidFill>
                      <a:srgbClr val="E8F0FE"/>
                    </a:solidFill>
                  </a:tcPr>
                </a:tc>
                <a:tc>
                  <a:txBody>
                    <a:bodyPr/>
                    <a:lstStyle/>
                    <a:p>
                      <a:r>
                        <a:rPr sz="1400" b="0"/>
                        <a:t>MMS-TTS weak on English, Hindi</a:t>
                      </a:r>
                    </a:p>
                  </a:txBody>
                  <a:tcPr>
                    <a:solidFill>
                      <a:srgbClr val="E8F0FE"/>
                    </a:solidFill>
                  </a:tcPr>
                </a:tc>
                <a:extLst>
                  <a:ext uri="{0D108BD9-81ED-4DB2-BD59-A6C34878D82A}">
                    <a16:rowId xmlns:a16="http://schemas.microsoft.com/office/drawing/2014/main" val="10002"/>
                  </a:ext>
                </a:extLst>
              </a:tr>
              <a:tr h="489999">
                <a:tc>
                  <a:txBody>
                    <a:bodyPr/>
                    <a:lstStyle/>
                    <a:p>
                      <a:r>
                        <a:rPr sz="1400" b="0"/>
                        <a:t>Machine Translation (MT)</a:t>
                      </a:r>
                    </a:p>
                  </a:txBody>
                  <a:tcPr>
                    <a:solidFill>
                      <a:srgbClr val="FFFFFF"/>
                    </a:solidFill>
                  </a:tcPr>
                </a:tc>
                <a:tc>
                  <a:txBody>
                    <a:bodyPr/>
                    <a:lstStyle/>
                    <a:p>
                      <a:r>
                        <a:rPr sz="1400" b="0"/>
                        <a:t>Helsinki-NLP OPUS-MT</a:t>
                      </a:r>
                    </a:p>
                  </a:txBody>
                  <a:tcPr>
                    <a:solidFill>
                      <a:srgbClr val="FFFFFF"/>
                    </a:solidFill>
                  </a:tcPr>
                </a:tc>
                <a:tc>
                  <a:txBody>
                    <a:bodyPr/>
                    <a:lstStyle/>
                    <a:p>
                      <a:r>
                        <a:rPr sz="1400" b="0"/>
                        <a:t>High for en→bn</a:t>
                      </a:r>
                    </a:p>
                  </a:txBody>
                  <a:tcPr>
                    <a:solidFill>
                      <a:srgbClr val="FFFFFF"/>
                    </a:solidFill>
                  </a:tcPr>
                </a:tc>
                <a:tc>
                  <a:txBody>
                    <a:bodyPr/>
                    <a:lstStyle/>
                    <a:p>
                      <a:r>
                        <a:rPr sz="1400" b="0"/>
                        <a:t>Idioms and ambiguity</a:t>
                      </a:r>
                    </a:p>
                  </a:txBody>
                  <a:tcPr>
                    <a:solidFill>
                      <a:srgbClr val="FFFFFF"/>
                    </a:solidFill>
                  </a:tcPr>
                </a:tc>
                <a:extLst>
                  <a:ext uri="{0D108BD9-81ED-4DB2-BD59-A6C34878D82A}">
                    <a16:rowId xmlns:a16="http://schemas.microsoft.com/office/drawing/2014/main" val="10003"/>
                  </a:ext>
                </a:extLst>
              </a:tr>
              <a:tr h="489999">
                <a:tc>
                  <a:txBody>
                    <a:bodyPr/>
                    <a:lstStyle/>
                    <a:p>
                      <a:r>
                        <a:rPr sz="1400" b="0"/>
                        <a:t>Question Answering (QAS)</a:t>
                      </a:r>
                    </a:p>
                  </a:txBody>
                  <a:tcPr>
                    <a:solidFill>
                      <a:srgbClr val="E8F0FE"/>
                    </a:solidFill>
                  </a:tcPr>
                </a:tc>
                <a:tc>
                  <a:txBody>
                    <a:bodyPr/>
                    <a:lstStyle/>
                    <a:p>
                      <a:r>
                        <a:rPr lang="en-US" sz="1400" dirty="0"/>
                        <a:t>No overall ranking</a:t>
                      </a:r>
                      <a:endParaRPr sz="1400" b="0" dirty="0"/>
                    </a:p>
                  </a:txBody>
                  <a:tcPr>
                    <a:solidFill>
                      <a:srgbClr val="E8F0FE"/>
                    </a:solidFill>
                  </a:tcPr>
                </a:tc>
                <a:tc>
                  <a:txBody>
                    <a:bodyPr/>
                    <a:lstStyle/>
                    <a:p>
                      <a:r>
                        <a:rPr lang="en-US" sz="1400" dirty="0"/>
                        <a:t>Not directly comparable</a:t>
                      </a:r>
                      <a:endParaRPr sz="1400" b="0" dirty="0"/>
                    </a:p>
                  </a:txBody>
                  <a:tcPr>
                    <a:solidFill>
                      <a:srgbClr val="E8F0FE"/>
                    </a:solidFill>
                  </a:tcPr>
                </a:tc>
                <a:tc>
                  <a:txBody>
                    <a:bodyPr/>
                    <a:lstStyle/>
                    <a:p>
                      <a:r>
                        <a:rPr sz="1400" b="0" dirty="0"/>
                        <a:t>Ambiguous / real-time Qs fail</a:t>
                      </a:r>
                    </a:p>
                  </a:txBody>
                  <a:tcPr>
                    <a:solidFill>
                      <a:srgbClr val="E8F0FE"/>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731520" y="4200000"/>
            <a:ext cx="10789920" cy="2300000"/>
          </a:xfrm>
          <a:prstGeom prst="rect">
            <a:avLst/>
          </a:prstGeom>
          <a:noFill/>
        </p:spPr>
        <p:txBody>
          <a:bodyPr wrap="square">
            <a:spAutoFit/>
          </a:bodyPr>
          <a:lstStyle/>
          <a:p>
            <a:r>
              <a:rPr sz="1600" b="0"/>
              <a:t>• All four NLP tasks are achievable with free tools, but each has a language-dependent ceiling.</a:t>
            </a:r>
          </a:p>
          <a:p>
            <a:pPr>
              <a:spcBef>
                <a:spcPts val="500"/>
              </a:spcBef>
            </a:pPr>
            <a:r>
              <a:rPr sz="1600" b="0"/>
              <a:t>• English consistently outperforms Bangla and Hindi across all four tasks — reflecting the training-data skew in available free models.</a:t>
            </a:r>
          </a:p>
          <a:p>
            <a:pPr>
              <a:spcBef>
                <a:spcPts val="500"/>
              </a:spcBef>
            </a:pPr>
            <a:r>
              <a:rPr sz="1600" b="0"/>
              <a:t>• Hard/ambiguous test cases (tongue-twisters, idioms, ambiguous questions) expose real performance gaps not visible on simple inputs.</a:t>
            </a:r>
          </a:p>
          <a:p>
            <a:pPr>
              <a:spcBef>
                <a:spcPts val="500"/>
              </a:spcBef>
            </a:pPr>
            <a:r>
              <a:rPr sz="1600" b="0"/>
              <a:t>• Offline tools (MMS-TTS, faster-whisper, Vosk) provide privacy and reproducibility at some cost to accuracy vs. cloud services.</a:t>
            </a:r>
          </a:p>
        </p:txBody>
      </p:sp>
    </p:spTree>
    <p:extLst>
      <p:ext uri="{BB962C8B-B14F-4D97-AF65-F5344CB8AC3E}">
        <p14:creationId xmlns:p14="http://schemas.microsoft.com/office/powerpoint/2010/main" val="1206843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94360"/>
          </a:xfrm>
          <a:prstGeom prst="rect">
            <a:avLst/>
          </a:prstGeom>
          <a:noFill/>
        </p:spPr>
        <p:txBody>
          <a:bodyPr wrap="none">
            <a:spAutoFit/>
          </a:bodyPr>
          <a:lstStyle/>
          <a:p>
            <a:r>
              <a:rPr sz="2800" b="1"/>
              <a:t>7. Conclusion</a:t>
            </a:r>
          </a:p>
        </p:txBody>
      </p:sp>
      <p:sp>
        <p:nvSpPr>
          <p:cNvPr id="3" name="Rectangle 2"/>
          <p:cNvSpPr/>
          <p:nvPr/>
        </p:nvSpPr>
        <p:spPr>
          <a:xfrm>
            <a:off x="0" y="6629400"/>
            <a:ext cx="12191695" cy="2286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546100" cy="228600"/>
          </a:xfrm>
          <a:prstGeom prst="rect">
            <a:avLst/>
          </a:prstGeom>
          <a:noFill/>
        </p:spPr>
        <p:txBody>
          <a:bodyPr wrap="none">
            <a:spAutoFit/>
          </a:bodyPr>
          <a:lstStyle/>
          <a:p>
            <a:pPr algn="r"/>
            <a:r>
              <a:rPr lang="en-GB" sz="1000">
                <a:solidFill>
                  <a:srgbClr val="646464"/>
                </a:solidFill>
              </a:rPr>
              <a:t>28</a:t>
            </a:r>
            <a:endParaRPr sz="1000">
              <a:solidFill>
                <a:srgbClr val="646464"/>
              </a:solidFill>
            </a:endParaRPr>
          </a:p>
        </p:txBody>
      </p:sp>
      <p:sp>
        <p:nvSpPr>
          <p:cNvPr id="5" name="TextBox 4"/>
          <p:cNvSpPr txBox="1"/>
          <p:nvPr/>
        </p:nvSpPr>
        <p:spPr>
          <a:xfrm>
            <a:off x="731520" y="1000000"/>
            <a:ext cx="10789920" cy="3598421"/>
          </a:xfrm>
          <a:prstGeom prst="rect">
            <a:avLst/>
          </a:prstGeom>
          <a:noFill/>
        </p:spPr>
        <p:txBody>
          <a:bodyPr wrap="square">
            <a:spAutoFit/>
          </a:bodyPr>
          <a:lstStyle/>
          <a:p>
            <a:r>
              <a:rPr sz="1700" b="0" dirty="0"/>
              <a:t>• All four NLP technologies performed effectively under suitable conditions.</a:t>
            </a:r>
          </a:p>
          <a:p>
            <a:pPr>
              <a:spcBef>
                <a:spcPts val="500"/>
              </a:spcBef>
            </a:pPr>
            <a:r>
              <a:rPr sz="1700" b="0" dirty="0"/>
              <a:t>• STT: faster-whisper achieved excellent results for English and Hindi; Bengali required a dedicated fine-tuned model to avoid script-confusion artifacts.</a:t>
            </a:r>
          </a:p>
          <a:p>
            <a:pPr>
              <a:spcBef>
                <a:spcPts val="500"/>
              </a:spcBef>
            </a:pPr>
            <a:r>
              <a:rPr sz="1700" b="0" dirty="0"/>
              <a:t>• TTS: gTTS led on English (97.1% vs 76.1% for edge-tts and 57.4% for MMS-TTS); gTTS and edge-tts tied on Hindi (57.6%) and beat MMS-TTS (37.0%). All three scored ~73% on Bangla with a dedicated Bengali ASR verifier.</a:t>
            </a:r>
          </a:p>
          <a:p>
            <a:pPr>
              <a:spcBef>
                <a:spcPts val="500"/>
              </a:spcBef>
            </a:pPr>
            <a:r>
              <a:rPr sz="1700" b="0" dirty="0"/>
              <a:t>• MT: Helsinki-NLP OPUS-MT delivered the most fluent translations; all three free tools handled common idioms but struggled with highly ambiguous expressions.</a:t>
            </a:r>
          </a:p>
          <a:p>
            <a:pPr>
              <a:spcBef>
                <a:spcPts val="500"/>
              </a:spcBef>
            </a:pPr>
            <a:r>
              <a:rPr sz="1700" b="0" dirty="0"/>
              <a:t>• </a:t>
            </a:r>
            <a:r>
              <a:rPr lang="en-US" sz="1600" dirty="0"/>
              <a:t>QAS</a:t>
            </a:r>
            <a:r>
              <a:rPr lang="en-US" sz="1600"/>
              <a:t>: Factual questions were handled successfully in the observed cases, while underspecified, ambiguous, and subjective questions produced more varied responses depending on context and the underlying QA approach.</a:t>
            </a:r>
          </a:p>
          <a:p>
            <a:pPr>
              <a:spcBef>
                <a:spcPts val="500"/>
              </a:spcBef>
            </a:pPr>
            <a:r>
              <a:rPr sz="1700" b="0"/>
              <a:t>• </a:t>
            </a:r>
            <a:r>
              <a:rPr sz="1700" b="0" dirty="0"/>
              <a:t>Future work: larger multilingual models (LLMs), real-time speech recognition, and Bangla-specific pre-trained models would significantly improve accuracy across all four tasks.</a:t>
            </a:r>
          </a:p>
          <a:p>
            <a:pPr>
              <a:spcBef>
                <a:spcPts val="500"/>
              </a:spcBef>
            </a:pPr>
            <a:endParaRPr sz="1700" b="0" dirty="0"/>
          </a:p>
        </p:txBody>
      </p:sp>
      <p:sp>
        <p:nvSpPr>
          <p:cNvPr id="6" name="TextBox 5"/>
          <p:cNvSpPr txBox="1"/>
          <p:nvPr/>
        </p:nvSpPr>
        <p:spPr>
          <a:xfrm>
            <a:off x="731520" y="5600000"/>
            <a:ext cx="10789920" cy="800000"/>
          </a:xfrm>
          <a:prstGeom prst="rect">
            <a:avLst/>
          </a:prstGeom>
          <a:noFill/>
        </p:spPr>
        <p:txBody>
          <a:bodyPr wrap="none">
            <a:spAutoFit/>
          </a:bodyPr>
          <a:lstStyle/>
          <a:p>
            <a:pPr algn="ctr"/>
            <a:r>
              <a:rPr sz="3600" b="1">
                <a:solidFill>
                  <a:srgbClr val="1F497D"/>
                </a:solidFill>
              </a:rPr>
              <a:t>Thank You</a:t>
            </a:r>
          </a:p>
        </p:txBody>
      </p:sp>
    </p:spTree>
    <p:extLst>
      <p:ext uri="{BB962C8B-B14F-4D97-AF65-F5344CB8AC3E}">
        <p14:creationId xmlns:p14="http://schemas.microsoft.com/office/powerpoint/2010/main" val="1079889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9BFF653-D0AD-4800-BFE8-E75B200AB704}">
  <we:reference id="11d7cf85-ae5a-43b8-bc58-1e1a151cce24" version="1.0.0.1" store="EXCatalog" storeType="EXCatalog"/>
  <we:alternateReferences>
    <we:reference id="WA200010725" version="1.0.0.1" store="en-US" storeType="OMEX"/>
  </we:alternateReferences>
  <we:properties>
    <we:property name="claude.fileId" value="&quot;15bcc098-b83c-4910-9fc3-0613ba160e4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421</TotalTime>
  <Words>4897</Words>
  <Application>Microsoft Office PowerPoint</Application>
  <PresentationFormat>Widescreen</PresentationFormat>
  <Paragraphs>615</Paragraphs>
  <Slides>28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dc:description>generated using python-pptx</dc:description>
  <cp:lastModifiedBy>10635-Ahsan-Kabir</cp:lastModifiedBy>
  <cp:revision>51</cp:revision>
  <dcterms:created xsi:type="dcterms:W3CDTF">2013-01-27T09:14:16Z</dcterms:created>
  <dcterms:modified xsi:type="dcterms:W3CDTF">2026-10-02T11:21:24Z</dcterms:modified>
</cp:coreProperties>
</file>