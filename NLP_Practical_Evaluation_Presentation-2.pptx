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5" r:id="rId6"/>
    <p:sldId id="276" r:id="rId7"/>
    <p:sldId id="262" r:id="rId8"/>
    <p:sldId id="263" r:id="rId9"/>
    <p:sldId id="264" r:id="rId10"/>
    <p:sldId id="265" r:id="rId11"/>
    <p:sldId id="271" r:id="rId12"/>
    <p:sldId id="266" r:id="rId13"/>
    <p:sldId id="272" r:id="rId14"/>
    <p:sldId id="273" r:id="rId15"/>
    <p:sldId id="267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-691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28/09/2026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28/09/2026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28/09/2026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28/09/2026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28/09/2026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28/09/2026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28/09/2026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28/09/2026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10372391" cy="29238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rPr sz="4400" dirty="0"/>
              <a:t>Analysis Report on</a:t>
            </a:r>
            <a:br>
              <a:rPr sz="4400" dirty="0"/>
            </a:br>
            <a:r>
              <a:rPr sz="4400" dirty="0"/>
              <a:t>Natural Language Processing Tools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sz="3200" dirty="0"/>
              <a:t>Practical Evaluation of Speech Recognition, Speech Synthesis,</a:t>
            </a:r>
            <a:br>
              <a:rPr sz="3200" dirty="0"/>
            </a:br>
            <a:r>
              <a:rPr sz="3200" dirty="0"/>
              <a:t>Machine Translation, and Question Answering Systems</a:t>
            </a:r>
          </a:p>
          <a:p>
            <a:pPr>
              <a:defRPr sz="1600">
                <a:solidFill>
                  <a:srgbClr val="DCE6F5"/>
                </a:solidFill>
              </a:defRPr>
            </a:pPr>
            <a:r>
              <a:rPr dirty="0"/>
              <a:t>CSE 6213 • MSc CSE • United International University</a:t>
            </a:r>
          </a:p>
          <a:p>
            <a:pPr>
              <a:defRPr sz="1600">
                <a:solidFill>
                  <a:srgbClr val="DCE6F5"/>
                </a:solidFill>
              </a:defRPr>
            </a:pPr>
            <a:r>
              <a:rPr dirty="0"/>
              <a:t>Parvez Sazzad | Student ID: 0122510008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64008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Natural Language Processing (NLP) enables computers to understand, process, and generate human language.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Used in virtual assistants, translation services, chatbots, search engines, and voice-controlled applications.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This study evaluates four major NLP technologies through practical experiments.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Languages tested: English, Bangla, and Hindi.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Noise and ambiguous language contexts were also examined.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2. Speech Recognition (Speech-to-Text)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698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Speech Recognition converts spoken language into written text.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Workflow: </a:t>
            </a:r>
            <a:endParaRPr lang="en-US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800" b="1" dirty="0"/>
              <a:t>Voice Input → Microphone Capture → Noise Reduction → Feature Extraction → Acoustic Model → Language Model → Text.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Benefits: hands-free interaction, accessibility, faster information entry, and smart assistants.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Limitations: environmental noise, accent dependency, multilingual performance, and audio quality.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STT Practical Experiment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63411576"/>
              </p:ext>
            </p:extLst>
          </p:nvPr>
        </p:nvGraphicFramePr>
        <p:xfrm>
          <a:off x="411480" y="1234440"/>
          <a:ext cx="11338560" cy="52382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645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71921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718457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Parameter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Details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Google Voice Typing; Microsoft Voice Typing; Apple Dictation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Voice Samples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5 total: 3 short and 2 long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Languages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English, Bangla, Hindi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Noise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Quiet room, machine noise, conversation noise, vehicle movement, heavy traffic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Microphone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Laptop built-in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718458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Internet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Wi-Fi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04827" y="599569"/>
          <a:ext cx="11763396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9824"/>
                <a:gridCol w="1259800"/>
                <a:gridCol w="3145725"/>
                <a:gridCol w="2113437"/>
                <a:gridCol w="2649578"/>
                <a:gridCol w="1495032"/>
              </a:tblGrid>
              <a:tr h="63423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Sample no.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Noise condition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Input Sentence</a:t>
                      </a:r>
                      <a:r>
                        <a:rPr lang="en-US" baseline="0" dirty="0" smtClean="0"/>
                        <a:t> and Language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Tools 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Output Sentence and Accuracy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Result</a:t>
                      </a:r>
                      <a:endParaRPr lang="en-US" dirty="0"/>
                    </a:p>
                  </a:txBody>
                  <a:tcPr/>
                </a:tc>
              </a:tr>
              <a:tr h="513430">
                <a:tc rowSpan="3">
                  <a:txBody>
                    <a:bodyPr/>
                    <a:lstStyle/>
                    <a:p>
                      <a:r>
                        <a:rPr lang="en-US" sz="1400" b="1" dirty="0" smtClean="0"/>
                        <a:t>1.</a:t>
                      </a:r>
                      <a:endParaRPr lang="en-US" sz="1400" b="1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400" b="1" dirty="0" smtClean="0"/>
                        <a:t>Quiet Room</a:t>
                      </a:r>
                      <a:endParaRPr lang="en-US" sz="1400" b="1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4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Good morning everyone.(English)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Google</a:t>
                      </a:r>
                      <a:r>
                        <a:rPr lang="en-US" sz="1400" b="1" baseline="0" dirty="0" smtClean="0"/>
                        <a:t> Voice</a:t>
                      </a:r>
                      <a:endParaRPr lang="en-US" sz="1400" b="1" dirty="0" smtClean="0"/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Good morning everyone.(100%)</a:t>
                      </a:r>
                      <a:endParaRPr lang="en-US" sz="1200" b="1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200" b="1" dirty="0" smtClean="0"/>
                        <a:t>All three tools achieved 100% accuracy on simple</a:t>
                      </a:r>
                      <a:r>
                        <a:rPr lang="en-US" sz="1200" b="1" baseline="0" dirty="0" smtClean="0"/>
                        <a:t> syntax without any errors.</a:t>
                      </a:r>
                      <a:endParaRPr lang="en-US" sz="1200" b="1" dirty="0"/>
                    </a:p>
                  </a:txBody>
                  <a:tcPr/>
                </a:tc>
              </a:tr>
              <a:tr h="5134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Microsoft Voice Typing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Good morning everyone.(100%)</a:t>
                      </a:r>
                      <a:endParaRPr lang="en-US" sz="12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134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Apple Direction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Good morning everyone.(100%)</a:t>
                      </a:r>
                      <a:endParaRPr lang="en-US" sz="12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53026">
                <a:tc rowSpan="3">
                  <a:txBody>
                    <a:bodyPr/>
                    <a:lstStyle/>
                    <a:p>
                      <a:r>
                        <a:rPr lang="en-US" sz="1400" b="1" dirty="0" smtClean="0"/>
                        <a:t>2.</a:t>
                      </a:r>
                      <a:endParaRPr lang="en-US" sz="1400" b="1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400" b="1" dirty="0" smtClean="0"/>
                        <a:t>Conversion Noise</a:t>
                      </a:r>
                      <a:endParaRPr lang="en-US" sz="1400" b="1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as-IN" sz="1400" b="1" dirty="0" smtClean="0"/>
                        <a:t>তোমাকে তোমার কর্তব্য অবশ্যই পালন করতে হবে।</a:t>
                      </a:r>
                      <a:endParaRPr lang="en-US" sz="1400" b="1" dirty="0" smtClean="0"/>
                    </a:p>
                    <a:p>
                      <a:r>
                        <a:rPr lang="en-US" sz="1400" b="1" dirty="0" smtClean="0"/>
                        <a:t>(Bangla)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Google</a:t>
                      </a:r>
                      <a:r>
                        <a:rPr lang="en-US" sz="1400" b="1" baseline="0" dirty="0" smtClean="0"/>
                        <a:t> Voice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s-IN" sz="1200" b="1" dirty="0" smtClean="0"/>
                        <a:t>তোমাকে তোমার কর্তব্য পালন করতে হবে।</a:t>
                      </a:r>
                      <a:r>
                        <a:rPr lang="en-US" sz="1200" b="1" dirty="0" smtClean="0"/>
                        <a:t>(85%)</a:t>
                      </a:r>
                      <a:endParaRPr lang="en-US" sz="1200" b="1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200" b="1" dirty="0" smtClean="0"/>
                        <a:t>Microsoft</a:t>
                      </a:r>
                      <a:r>
                        <a:rPr lang="en-US" sz="1200" b="1" baseline="0" dirty="0" smtClean="0"/>
                        <a:t> Voice</a:t>
                      </a:r>
                      <a:r>
                        <a:rPr lang="en-US" sz="1200" b="1" dirty="0" smtClean="0"/>
                        <a:t> Voice and Google Docs performed well on  Bangla script input with minor omission ("</a:t>
                      </a:r>
                      <a:r>
                        <a:rPr lang="as-IN" sz="1200" b="1" dirty="0" smtClean="0"/>
                        <a:t>অবশ্যই" </a:t>
                      </a:r>
                      <a:r>
                        <a:rPr lang="en-US" sz="1200" b="1" dirty="0" smtClean="0"/>
                        <a:t>missing). </a:t>
                      </a:r>
                      <a:r>
                        <a:rPr lang="en-US" sz="1200" b="1" baseline="0" dirty="0" smtClean="0"/>
                        <a:t> Apple direction </a:t>
                      </a:r>
                      <a:r>
                        <a:rPr lang="en-US" sz="1200" b="1" dirty="0" smtClean="0"/>
                        <a:t>substituted key vocabulary ("</a:t>
                      </a:r>
                      <a:r>
                        <a:rPr lang="as-IN" sz="1200" b="1" dirty="0" smtClean="0"/>
                        <a:t>কর্তব্য" </a:t>
                      </a:r>
                      <a:r>
                        <a:rPr lang="en-US" sz="1200" b="1" dirty="0" smtClean="0"/>
                        <a:t> "</a:t>
                      </a:r>
                      <a:r>
                        <a:rPr lang="as-IN" sz="1200" b="1" dirty="0" smtClean="0"/>
                        <a:t>গন্তব্য").</a:t>
                      </a:r>
                      <a:endParaRPr lang="en-US" sz="1200" b="1" dirty="0"/>
                    </a:p>
                  </a:txBody>
                  <a:tcPr/>
                </a:tc>
              </a:tr>
              <a:tr h="45302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Microsoft Voice Typing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s-IN" sz="1200" b="1" dirty="0" smtClean="0"/>
                        <a:t>তোমাকে তোমার কর্তব্</a:t>
                      </a:r>
                      <a:r>
                        <a:rPr lang="en-US" sz="1200" b="1" baseline="0" dirty="0" smtClean="0"/>
                        <a:t> </a:t>
                      </a:r>
                      <a:r>
                        <a:rPr lang="as-IN" sz="1200" b="1" dirty="0" smtClean="0"/>
                        <a:t>পালন করতে হবে।</a:t>
                      </a:r>
                      <a:r>
                        <a:rPr lang="en-US" sz="1200" b="1" dirty="0" smtClean="0"/>
                        <a:t>(80%)</a:t>
                      </a:r>
                      <a:endParaRPr lang="en-US" sz="12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54029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Apple Direction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as-IN" sz="1200" b="1" dirty="0" smtClean="0"/>
                        <a:t>তোমাকে তোমার গন্তব্য অবশ্য</a:t>
                      </a:r>
                      <a:r>
                        <a:rPr lang="en-US" sz="1200" b="1" dirty="0" smtClean="0"/>
                        <a:t> </a:t>
                      </a:r>
                      <a:r>
                        <a:rPr lang="as-IN" sz="1200" b="1" dirty="0" smtClean="0"/>
                        <a:t>ভালো</a:t>
                      </a:r>
                      <a:r>
                        <a:rPr lang="en-US" sz="1200" b="1" dirty="0" smtClean="0"/>
                        <a:t> </a:t>
                      </a:r>
                      <a:r>
                        <a:rPr lang="as-IN" sz="1200" b="1" dirty="0" smtClean="0"/>
                        <a:t>করতে হবে।</a:t>
                      </a:r>
                      <a:r>
                        <a:rPr lang="en-US" sz="1200" b="1" dirty="0" smtClean="0"/>
                        <a:t>(60%)</a:t>
                      </a:r>
                      <a:endParaRPr lang="en-US" sz="12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13430">
                <a:tc rowSpan="3">
                  <a:txBody>
                    <a:bodyPr/>
                    <a:lstStyle/>
                    <a:p>
                      <a:r>
                        <a:rPr lang="en-US" sz="1400" b="1" dirty="0" smtClean="0"/>
                        <a:t>3.</a:t>
                      </a:r>
                      <a:endParaRPr lang="en-US" sz="1400" b="1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400" b="1" dirty="0" smtClean="0"/>
                        <a:t>Vehicle Movement Noise</a:t>
                      </a:r>
                      <a:endParaRPr lang="en-US" sz="1400" b="1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hi-IN" sz="1400" b="1" dirty="0" smtClean="0"/>
                        <a:t>मेरा देश महान है</a:t>
                      </a:r>
                      <a:r>
                        <a:rPr lang="en-US" sz="1400" b="1" dirty="0" smtClean="0"/>
                        <a:t> |(Hindi)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Google</a:t>
                      </a:r>
                      <a:r>
                        <a:rPr lang="en-US" sz="1400" b="1" baseline="0" dirty="0" smtClean="0"/>
                        <a:t> Voice</a:t>
                      </a:r>
                      <a:endParaRPr lang="en-US" sz="1400" b="1" dirty="0" smtClean="0"/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i-IN" sz="1200" b="1" dirty="0" smtClean="0"/>
                        <a:t>मेरा देश महान ह</a:t>
                      </a:r>
                      <a:r>
                        <a:rPr lang="en-US" sz="1200" b="1" dirty="0" smtClean="0"/>
                        <a:t> |(85%)</a:t>
                      </a:r>
                      <a:endParaRPr lang="en-US" sz="1200" b="1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200" b="1" dirty="0" smtClean="0"/>
                        <a:t>Google Docs and Microsoft Voice achieved 100% accuracy, whereas Apple</a:t>
                      </a:r>
                      <a:r>
                        <a:rPr lang="en-US" sz="1200" b="1" baseline="0" dirty="0" smtClean="0"/>
                        <a:t> Direction</a:t>
                      </a:r>
                      <a:r>
                        <a:rPr lang="en-US" sz="1200" b="1" dirty="0" smtClean="0"/>
                        <a:t> substituted the key word   ‘ महान‘  with  ‘बहुत‘ ह'.</a:t>
                      </a:r>
                      <a:endParaRPr lang="en-US" sz="1200" b="1" dirty="0"/>
                    </a:p>
                  </a:txBody>
                  <a:tcPr/>
                </a:tc>
              </a:tr>
              <a:tr h="5134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Microsoft Voice Typing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i-IN" sz="1200" b="1" dirty="0" smtClean="0"/>
                        <a:t>मेरा देश मान है</a:t>
                      </a:r>
                      <a:r>
                        <a:rPr lang="en-US" sz="1200" b="1" dirty="0" smtClean="0"/>
                        <a:t> }(80%)</a:t>
                      </a:r>
                      <a:endParaRPr lang="en-US" sz="12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47764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Apple Direction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i-IN" sz="1200" b="1" dirty="0" smtClean="0"/>
                        <a:t>मेरा देश बहुत ह है</a:t>
                      </a:r>
                      <a:r>
                        <a:rPr lang="en-US" sz="1200" b="1" dirty="0" smtClean="0"/>
                        <a:t> |(60%)</a:t>
                      </a:r>
                      <a:endParaRPr lang="en-US" sz="1200" b="1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00559" y="173620"/>
            <a:ext cx="39136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lang="en-US" dirty="0" smtClean="0"/>
              <a:t>STT Results: Samples 1–3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12543" y="949124"/>
          <a:ext cx="11736388" cy="5760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0788"/>
                <a:gridCol w="672634"/>
                <a:gridCol w="2201396"/>
                <a:gridCol w="2599175"/>
                <a:gridCol w="3883856"/>
                <a:gridCol w="1798539"/>
              </a:tblGrid>
              <a:tr h="0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Sample No.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/>
                        <a:t>Noise Condition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Input</a:t>
                      </a:r>
                      <a:r>
                        <a:rPr lang="en-US" sz="1400" baseline="0" dirty="0" smtClean="0"/>
                        <a:t> sentence  and Language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Tools Name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Output Sentence and Accuracy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Result</a:t>
                      </a:r>
                      <a:endParaRPr lang="en-US" sz="1400" dirty="0"/>
                    </a:p>
                  </a:txBody>
                  <a:tcPr/>
                </a:tc>
              </a:tr>
              <a:tr h="718686">
                <a:tc rowSpan="3">
                  <a:txBody>
                    <a:bodyPr/>
                    <a:lstStyle/>
                    <a:p>
                      <a:r>
                        <a:rPr lang="en-US" sz="1400" b="1" dirty="0" smtClean="0"/>
                        <a:t>4.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Machine noise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Artificial Intelligence uses NLP to communicate with users.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(English)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1.Google Doc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Artificial Intelligence Images NLP To communicate with.</a:t>
                      </a:r>
                    </a:p>
                    <a:p>
                      <a:r>
                        <a:rPr lang="en-US" sz="1400" b="1" dirty="0" smtClean="0"/>
                        <a:t>(70%)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400" b="1" dirty="0" smtClean="0"/>
                        <a:t> None of the tools accurately recognized the technical acronym 'NLP', missing it into 'Images NLP', 'an LP', and 'LLB'.</a:t>
                      </a:r>
                      <a:endParaRPr lang="en-US" sz="1400" b="1" dirty="0"/>
                    </a:p>
                  </a:txBody>
                  <a:tcPr/>
                </a:tc>
              </a:tr>
              <a:tr h="7186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2. Microsoft Voice Typing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Artificial intelligence uses an LP to communicate with us.</a:t>
                      </a:r>
                    </a:p>
                    <a:p>
                      <a:r>
                        <a:rPr lang="en-US" sz="1400" b="1" dirty="0" smtClean="0"/>
                        <a:t>(78%)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1868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3.Apple Dictation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Artificial intelligence uses LLB to communicate with us.</a:t>
                      </a:r>
                    </a:p>
                    <a:p>
                      <a:r>
                        <a:rPr lang="en-US" sz="1400" b="1" dirty="0" smtClean="0"/>
                        <a:t>(75%)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18686">
                <a:tc rowSpan="3">
                  <a:txBody>
                    <a:bodyPr/>
                    <a:lstStyle/>
                    <a:p>
                      <a:r>
                        <a:rPr lang="en-US" sz="1400" b="1" dirty="0" smtClean="0"/>
                        <a:t>5.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Heavy traffic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Speech Recognition converts spoken words in to text.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(English)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1.Google Doc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This page recognition converts spoken words into case.</a:t>
                      </a:r>
                    </a:p>
                    <a:p>
                      <a:r>
                        <a:rPr lang="en-US" sz="1400" b="1" dirty="0" smtClean="0"/>
                        <a:t>(60%)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sz="1400" b="1" dirty="0" smtClean="0"/>
                        <a:t> All tools experienced significant truncation and word substitution at the beginning and end of the phrase. Windows Voice performed slightly better overall.</a:t>
                      </a:r>
                      <a:endParaRPr lang="en-US" sz="1400" b="1" dirty="0"/>
                    </a:p>
                  </a:txBody>
                  <a:tcPr/>
                </a:tc>
              </a:tr>
              <a:tr h="68275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2. Microsoft Voice Typing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Is recognitions Converse spoken words into text.</a:t>
                      </a:r>
                    </a:p>
                    <a:p>
                      <a:r>
                        <a:rPr lang="en-US" sz="1400" b="1" dirty="0" smtClean="0"/>
                        <a:t/>
                      </a:r>
                      <a:br>
                        <a:rPr lang="en-US" sz="1400" b="1" dirty="0" smtClean="0"/>
                      </a:br>
                      <a:r>
                        <a:rPr lang="en-US" sz="1400" b="1" dirty="0" smtClean="0"/>
                        <a:t>(65%)</a:t>
                      </a:r>
                    </a:p>
                    <a:p>
                      <a:endParaRPr lang="en-US" sz="1400" b="1" dirty="0" smtClean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78028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dirty="0" smtClean="0"/>
                        <a:t>3.Apple Dictation</a:t>
                      </a:r>
                    </a:p>
                    <a:p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/>
                        <a:t>recognition conference spoken words into k.</a:t>
                      </a:r>
                    </a:p>
                    <a:p>
                      <a:r>
                        <a:rPr lang="en-US" sz="1400" b="1" dirty="0" smtClean="0"/>
                        <a:t/>
                      </a:r>
                      <a:br>
                        <a:rPr lang="en-US" sz="1400" b="1" dirty="0" smtClean="0"/>
                      </a:br>
                      <a:r>
                        <a:rPr lang="en-US" sz="1400" b="1" dirty="0" smtClean="0"/>
                        <a:t>(45%)</a:t>
                      </a:r>
                    </a:p>
                    <a:p>
                      <a:endParaRPr lang="en-US" sz="1400" b="1" dirty="0" smtClean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377410" y="254643"/>
            <a:ext cx="391363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lang="en-US" dirty="0" smtClean="0"/>
              <a:t>STT Results: Samples 4–5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STT Analysis &amp;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Higher background noise generally reduced recognition accuracy.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Long sentences produced more errors than short sentences.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Traffic and machine noise caused some words to be missed.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Fast speech can make word recognition more difficult.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Punctuation may not always appear in generated text.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Language, pronunciation, microphone quality, and speaking style can affect output.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Quiet-room sample achieved 100% accuracy.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3. Speech Synthesis (Text-to-Speech)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2821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TTS converts written text into spoken audio.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Process: </a:t>
            </a:r>
            <a:endParaRPr lang="en-US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3200" b="1" dirty="0"/>
              <a:t>Text Analysis → Linguistic Processing → Phoneme Generation → Prosody Modeling → Speech Waveform Synthesis.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Uses: accessibility, audiobooks, voice navigation, and human-computer interaction.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dirty="0"/>
              <a:t>• Limitations: robotic tone in some languages, uncommon names, and limited emotional expression.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TTS Practical Experiment &amp;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3129075023"/>
              </p:ext>
            </p:extLst>
          </p:nvPr>
        </p:nvGraphicFramePr>
        <p:xfrm>
          <a:off x="411480" y="123444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16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656406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50398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12573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/>
                        <a:t>Test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Input / Language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Main Observation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English: Welcome to the NLP laboratory.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Clear pronunciation, natural voice, correct pauses.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2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English: Artificial Intelligence helps computers understand human language.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Natural intonation, correct stress, smooth speech.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573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Bangla: বাংলাদেশ একটি সুন্দর দেশ।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Understandable, but slightly robotic tone.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F3864"/>
                </a:solidFill>
              </a:defRPr>
            </a:pPr>
            <a:r>
              <a:t>Tools: NaturalReader • Microsoft Edge Read Aloud • Google Text-to-Speech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4. Machine Translation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789920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Machine Translation automatically translates text from one language into another.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Modern MT uses statistical, neural and increasingly large-language-model-based techniques.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Good MT should preserve both meaning and grammatical form.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Major challenges include ambiguity, idioms, context, gender, word order and figurative language.</a:t>
            </a: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Benefits: global communication, cross-language information access, business and education support.</a:t>
            </a:r>
            <a:endParaRPr lang="en-US"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endParaRPr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DC629758-AAE5-82E0-6EA2-3AB113065A7E}"/>
              </a:ext>
            </a:extLst>
          </p:cNvPr>
          <p:cNvSpPr txBox="1"/>
          <p:nvPr/>
        </p:nvSpPr>
        <p:spPr>
          <a:xfrm>
            <a:off x="502920" y="274320"/>
            <a:ext cx="579767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MT</a:t>
            </a:r>
            <a:r>
              <a:rPr lang="en-US" dirty="0"/>
              <a:t> Experimental Design &amp; Evaluation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213A357A-7F37-F816-606A-5A388002E16B}"/>
              </a:ext>
            </a:extLst>
          </p:cNvPr>
          <p:cNvSpPr txBox="1"/>
          <p:nvPr/>
        </p:nvSpPr>
        <p:spPr>
          <a:xfrm>
            <a:off x="731520" y="1234440"/>
            <a:ext cx="10789920" cy="40575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Languages: Bangla, English and Hindi.</a:t>
            </a: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Directions: English → Hindi, Hindi → English, English → Bangla and Bangla → English.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Systems: Google Translate, SYSTRAN, Yandex Translate and Bing Translator.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Dataset: 20 collected examples; each direction includes easy and difficult sentences.</a:t>
            </a: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Easy examples test basic vocabulary/grammar; difficult examples test ambiguity, idioms and contextual meaning.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Criteria: meaning preservation, grammatical correctness, lexical accuracy and contextual/idiomatic interpretation.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31405505-3C02-CF7C-EC57-5F627C5F2DE6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D1317C7C-3AF4-EC5D-2D18-C53B7AE8EA9A}"/>
              </a:ext>
            </a:extLst>
          </p:cNvPr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="" xmlns:p14="http://schemas.microsoft.com/office/powerpoint/2010/main" val="878906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8120" y="2692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MT Practic</a:t>
            </a:r>
            <a:r>
              <a:rPr lang="en-US" dirty="0"/>
              <a:t>al Experiment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11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BCD8CC96-7ED5-5967-9156-727D8B2A7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678354550"/>
              </p:ext>
            </p:extLst>
          </p:nvPr>
        </p:nvGraphicFramePr>
        <p:xfrm>
          <a:off x="297180" y="782659"/>
          <a:ext cx="11567160" cy="5211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8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00667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8006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68486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88533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2954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540934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203873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863369"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SYSTRAN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Yandex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Bing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Short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6336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English→Bangla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 dirty="0"/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The boy is reading a book.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ছেলেটি একটি বই পড়ছে।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ছেলেটি বই পড়ছে।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ছেলেটি একটা বই পড়ছে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ছেলেটা একটা বই পড়ছে।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All preserve meaning; wording differs slightly.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86336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English→Bangla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He kicked the bucket.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তিনি মারা গেলেন।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সে বালতি লাথি মেরেছে।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তিনি বালতি লাথি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সে মারা গেল।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Google and Bing interpret the idiom correctly; others are literal.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86336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Bangla→English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আমি প্রতিদিন স্কুলে যাই।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All four produce the same correct translation.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436531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 dirty="0" err="1"/>
                        <a:t>Bangla→English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রহিমকে দেখে মনে হলো তার মাথায় আকাশ ভেঙে পড়েছে।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Seeing Rahim, it seemed as though the sky had come crashing down on his head.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Rahim looked as if the sky had fallen on his head.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Rahim looks like the sky is falling on his head.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Seeing Rahim, it felt like the sky had fallen on his head.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All are largely literal; extreme-distress meaning is not fully captured.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A9DE1549-905E-C5A7-D0DF-D0B63F07CC00}"/>
              </a:ext>
            </a:extLst>
          </p:cNvPr>
          <p:cNvSpPr txBox="1"/>
          <p:nvPr/>
        </p:nvSpPr>
        <p:spPr>
          <a:xfrm>
            <a:off x="198120" y="2692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MT Practic</a:t>
            </a:r>
            <a:r>
              <a:rPr lang="en-US" dirty="0"/>
              <a:t>al Experiment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080E0A5C-E3B9-3DEE-DAEA-63CB75F923A3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A4755E67-65D4-1B2E-1190-09E38AD709CF}"/>
              </a:ext>
            </a:extLst>
          </p:cNvPr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11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="" xmlns:a16="http://schemas.microsoft.com/office/drawing/2014/main" id="{A471965E-BF7B-AA4D-9043-78A90D013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21049785"/>
              </p:ext>
            </p:extLst>
          </p:nvPr>
        </p:nvGraphicFramePr>
        <p:xfrm>
          <a:off x="296180" y="748792"/>
          <a:ext cx="11599334" cy="52573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5353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0753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27846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07526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278467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4986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1964266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531381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</a:tblGrid>
              <a:tr h="1001970"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Direction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Google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SYSTRAN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 dirty="0"/>
                        <a:t>Yandex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Bing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/>
                      </a:pPr>
                      <a:r>
                        <a:rPr sz="1600"/>
                        <a:t>Short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6090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 dirty="0" err="1"/>
                        <a:t>English→Hindi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The boy is reading a book.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यह किताब एक किताब पढ़ रही है।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 err="1"/>
                        <a:t>लड़का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एक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किताब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पढ़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रहा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है</a:t>
                      </a:r>
                      <a:r>
                        <a:rPr sz="1600" dirty="0"/>
                        <a:t>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लड़का एक किताब पढ़ रहा है।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लड़का किताब पढ़ रहा है।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Google has a grammatical error; the other three preserve the basic meaning.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6090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 dirty="0" err="1"/>
                        <a:t>English→Hindi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He kicked the bucket.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अरे, चाय की बाल्टी को लात मारी।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उसने बाल्टी लात मारी।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उसने बाल्टी को लात मारी।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 err="1"/>
                        <a:t>उसने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बाल्टी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को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लात</a:t>
                      </a:r>
                      <a:r>
                        <a:rPr sz="1600" dirty="0"/>
                        <a:t> </a:t>
                      </a:r>
                      <a:r>
                        <a:rPr sz="1600" dirty="0" err="1"/>
                        <a:t>मारी</a:t>
                      </a:r>
                      <a:r>
                        <a:rPr sz="1600" dirty="0"/>
                        <a:t>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All translate the idiom literally instead of meaning “He died.”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6090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Hindi→English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मैं रोज़ स्कूल जाता हूँ।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 go to school every day.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All preserve meaning; Google has a minor “everyday/every day” error.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60909"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 dirty="0" err="1"/>
                        <a:t>Hindi→English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20"/>
                      </a:pPr>
                      <a:r>
                        <a:rPr sz="1600"/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नौ दो ग्यारह होना आसान नहीं है।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Being nine two eleven is not easy.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It's not easy to be nine two eleven.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Being nine two eleven is not easy.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/>
                        <a:t>Going missing is not easy.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720"/>
                      </a:pPr>
                      <a:r>
                        <a:rPr sz="1600" dirty="0"/>
                        <a:t>Most are literal; Bing captures part of the idiomatic sense.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="" xmlns:p14="http://schemas.microsoft.com/office/powerpoint/2010/main" val="1642187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D9364F3-65B0-7A83-1D6A-9A4ADEEC0C8E}"/>
              </a:ext>
            </a:extLst>
          </p:cNvPr>
          <p:cNvSpPr txBox="1"/>
          <p:nvPr/>
        </p:nvSpPr>
        <p:spPr>
          <a:xfrm>
            <a:off x="502920" y="274320"/>
            <a:ext cx="269157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rPr dirty="0"/>
              <a:t>MT</a:t>
            </a:r>
            <a:r>
              <a:rPr lang="en-US" dirty="0"/>
              <a:t> Key Findings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3363B220-C785-A740-F30E-235EB35B61EC}"/>
              </a:ext>
            </a:extLst>
          </p:cNvPr>
          <p:cNvSpPr txBox="1"/>
          <p:nvPr/>
        </p:nvSpPr>
        <p:spPr>
          <a:xfrm>
            <a:off x="731520" y="1234440"/>
            <a:ext cx="1078992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Simple sentences were generally translated accurately across the four systems.</a:t>
            </a: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lang="en-US" sz="2400" dirty="0"/>
              <a:t>Idiomatic expressions produced some of the clearest differences between systems.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“He kicked the bucket” showed a contrast between literal translation and idiomatic interpretation.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lang="en-US" sz="2400" dirty="0"/>
              <a:t>• MT quality depends not only on vocabulary and grammar, but also on syntax, semantics and context.</a:t>
            </a:r>
            <a:endParaRPr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endParaRPr lang="en-US" sz="2400" dirty="0"/>
          </a:p>
          <a:p>
            <a:pPr>
              <a:spcAft>
                <a:spcPts val="1000"/>
              </a:spcAft>
              <a:defRPr sz="1800"/>
            </a:pPr>
            <a:endParaRPr lang="en-US" sz="2400" dirty="0"/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82DA1CB9-9985-A0B8-BA60-2392E7AED114}"/>
              </a:ext>
            </a:extLst>
          </p:cNvPr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3AB48C0A-8DE3-F3E0-C66A-CFFB3C619012}"/>
              </a:ext>
            </a:extLst>
          </p:cNvPr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10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="" xmlns:a16="http://schemas.microsoft.com/office/drawing/2014/main" id="{5B555A12-9156-8BD7-18C9-B6134873D464}"/>
              </a:ext>
            </a:extLst>
          </p:cNvPr>
          <p:cNvSpPr/>
          <p:nvPr/>
        </p:nvSpPr>
        <p:spPr>
          <a:xfrm>
            <a:off x="929487" y="4345093"/>
            <a:ext cx="1033272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Main takeaway: Easy sentences are relatively reliable; difficult linguistic phenomena reveal important MT challenges.</a:t>
            </a:r>
          </a:p>
        </p:txBody>
      </p:sp>
    </p:spTree>
    <p:extLst>
      <p:ext uri="{BB962C8B-B14F-4D97-AF65-F5344CB8AC3E}">
        <p14:creationId xmlns="" xmlns:p14="http://schemas.microsoft.com/office/powerpoint/2010/main" val="34257449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5. Question Answering System (QAS)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19" y="1234440"/>
            <a:ext cx="11155679" cy="3252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QAS automatically answers user questions using stored knowledge, search engines, or language models.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</a:t>
            </a:r>
            <a:r>
              <a:rPr sz="2800" b="1" dirty="0"/>
              <a:t>Tools: Google Gemini, ChatGPT, Microsoft Copilot, Perplexity AI.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Simple factual questions were answered correctly.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Ambiguous questions sometimes required clarification or produced different answers.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</a:defRPr>
            </a:pPr>
            <a:r>
              <a:rPr sz="2400" dirty="0"/>
              <a:t>• Subjective questions can produce different answers because there is no single universally accepted answer.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QAS Practical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86544815"/>
              </p:ext>
            </p:extLst>
          </p:nvPr>
        </p:nvGraphicFramePr>
        <p:xfrm>
          <a:off x="411480" y="123444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928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 dirty="0"/>
                        <a:t>Question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rPr sz="2000"/>
                        <a:t>Main Observation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Which bank has the highest interest?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Clarification needed because country/institution was not specified.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Can penguins fly?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Answered: No.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Who is the father of AI?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Answered: John McCarthy.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I saw the man with the telescope. Who has it?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Ambiguous sentence; context is needed.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/>
                        <a:t>What is the best programming language?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</a:defRPr>
                      </a:pPr>
                      <a:r>
                        <a:rPr sz="2000" dirty="0"/>
                        <a:t>Different answers because it is subjective/contextual.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6. Overall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2256698393"/>
              </p:ext>
            </p:extLst>
          </p:nvPr>
        </p:nvGraphicFramePr>
        <p:xfrm>
          <a:off x="411480" y="123444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77952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77952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1005840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Technology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 dirty="0"/>
                        <a:t>Strength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</a:defRPr>
                      </a:pPr>
                      <a:r>
                        <a:rPr sz="2400"/>
                        <a:t>Weakness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Speech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Fast voice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Noise sensitive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Speech Synthesis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Natural voice output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Limited emotional expression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Machine Translation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Multilingual communication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Context ambiguity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Question Answering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/>
                        <a:t>Intelligent responses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>
                          <a:solidFill>
                            <a:srgbClr val="232323"/>
                          </a:solidFill>
                        </a:defRPr>
                      </a:pPr>
                      <a:r>
                        <a:rPr sz="2400" dirty="0"/>
                        <a:t>Ambiguous questions remain challenging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7432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864"/>
                </a:solidFill>
              </a:defRPr>
            </a:pPr>
            <a: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81670"/>
            <a:ext cx="10789920" cy="4796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All four NLP technologies performed effectively under suitable conditions.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Speech Recognition was strongest in quiet conditions but was affected by noise and sentence length.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Speech Synthesis produced understandable speech; Bangla sounded slightly more robotic.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Machine Translation handled common idioms and contextual expressions, but ambiguity remained important.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QAS handled factual questions well, while ambiguous or subjective questions required more context.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</a:defRPr>
            </a:pPr>
            <a:r>
              <a:rPr sz="2400" dirty="0"/>
              <a:t>• Future improvements in Large Language Models, multilingual systems, and speech technologies can improve accuracy and usability.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F3864"/>
                </a:solidFill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1797</Words>
  <Application>Microsoft Office PowerPoint</Application>
  <PresentationFormat>Custom</PresentationFormat>
  <Paragraphs>292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dc:description>generated using python-pptx</dc:description>
  <cp:lastModifiedBy>Admin</cp:lastModifiedBy>
  <cp:revision>18</cp:revision>
  <dcterms:created xsi:type="dcterms:W3CDTF">2013-01-27T09:14:16Z</dcterms:created>
  <dcterms:modified xsi:type="dcterms:W3CDTF">2026-09-28T09:36:17Z</dcterms:modified>
</cp:coreProperties>
</file>