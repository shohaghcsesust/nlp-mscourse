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76" r:id="rId7"/>
    <p:sldId id="262" r:id="rId8"/>
    <p:sldId id="287" r:id="rId9"/>
    <p:sldId id="288" r:id="rId10"/>
    <p:sldId id="289" r:id="rId11"/>
    <p:sldId id="290" r:id="rId12"/>
    <p:sldId id="285" r:id="rId13"/>
    <p:sldId id="286" r:id="rId14"/>
    <p:sldId id="265" r:id="rId15"/>
    <p:sldId id="271" r:id="rId16"/>
    <p:sldId id="266" r:id="rId17"/>
    <p:sldId id="272" r:id="rId18"/>
    <p:sldId id="273" r:id="rId19"/>
    <p:sldId id="267" r:id="rId20"/>
    <p:sldId id="268" r:id="rId21"/>
    <p:sldId id="277" r:id="rId22"/>
    <p:sldId id="278" r:id="rId23"/>
    <p:sldId id="279" r:id="rId24"/>
    <p:sldId id="280" r:id="rId25"/>
    <p:sldId id="269" r:id="rId26"/>
    <p:sldId id="27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372391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4400" dirty="0"/>
              <a:t>Analysis Report on</a:t>
            </a:r>
            <a:br>
              <a:rPr sz="4400" dirty="0"/>
            </a:br>
            <a:r>
              <a:rPr sz="4400" dirty="0"/>
              <a:t>Natural Language Processing Tools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/>
              <a:t>Practical Evaluation of Speech Recognition, Speech Synthesis,</a:t>
            </a:r>
            <a:br>
              <a:rPr sz="3200" dirty="0"/>
            </a:br>
            <a:r>
              <a:rPr sz="3200" dirty="0"/>
              <a:t>Machine Translation, and Question Answering Systems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CSE 6213 • MSc CSE • United International University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Parvez Sazzad | ID: 0122510008</a:t>
            </a:r>
            <a:endParaRPr lang="en-US" dirty="0"/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lang="en-US" dirty="0"/>
              <a:t>Abu Nayem Mohammad Ali Khan | ID: 0122330033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lang="en-US" dirty="0"/>
              <a:t>Md. Ahsan Kabir | ID: 0122520016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Natural Language Processing (NLP) enables computers to understand, process, and generate human language.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Used in virtual assistants, translation services, chatbots, search engines, and voice-controlled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This study evaluates four major NLP technologies through practical experiments.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Languages tested: English, Bangla, and Hindi.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Noise and ambiguous language contexts were also examined.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2. Speech Recognition (Speech-to-Text)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Speech Recognition converts spoken language into written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Workflow: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800" b="1" dirty="0"/>
              <a:t>Voice Input → Microphone Capture → Noise Reduction → Feature Extraction → Acoustic Model → Language Model →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Benefits: hands-free interaction, accessibility, faster information entry, and smart assistants.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Limitations: environmental noise, accent dependency, multilingual performance, and audio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Practical Experiment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11576"/>
              </p:ext>
            </p:extLst>
          </p:nvPr>
        </p:nvGraphicFramePr>
        <p:xfrm>
          <a:off x="411480" y="1234440"/>
          <a:ext cx="11338560" cy="5238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Details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Google Voice Typing; Microsoft Voice Typing; Apple Dictation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Voice Samples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5 total: 3 short and 2 long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English, Bangla, Hindi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Noise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Quiet room, machine noise, conversation noise, vehicle movement, heavy traffic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Microphone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Laptop built-in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Internet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Wi-Fi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4827" y="599569"/>
          <a:ext cx="11763396" cy="620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3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95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5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4237">
                <a:tc>
                  <a:txBody>
                    <a:bodyPr/>
                    <a:lstStyle/>
                    <a:p>
                      <a:r>
                        <a:rPr lang="en-US" sz="1600" dirty="0"/>
                        <a:t>Sample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 Sentence</a:t>
                      </a:r>
                      <a:r>
                        <a:rPr lang="en-US" baseline="0" dirty="0"/>
                        <a:t> and Language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Sentence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30"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1.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Quiet Room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everyone.(English)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Google</a:t>
                      </a:r>
                      <a:r>
                        <a:rPr lang="en-US" sz="1400" b="1" baseline="0" dirty="0"/>
                        <a:t> Voice</a:t>
                      </a:r>
                      <a:endParaRPr lang="en-US" sz="1400" b="1" dirty="0"/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/>
                        <a:t>All three tools achieved 100% accuracy on simple</a:t>
                      </a:r>
                      <a:r>
                        <a:rPr lang="en-US" sz="1200" b="1" baseline="0" dirty="0"/>
                        <a:t> syntax without any errors.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Apple Direction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26"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2.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Conversion Noise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as-IN" sz="1400" b="1" dirty="0"/>
                        <a:t>তোমাকে তোমার কর্তব্য অবশ্যই পালন করতে হবে।</a:t>
                      </a:r>
                      <a:endParaRPr lang="en-US" sz="1400" b="1" dirty="0"/>
                    </a:p>
                    <a:p>
                      <a:r>
                        <a:rPr lang="en-US" sz="1400" b="1" dirty="0"/>
                        <a:t>(Bangla)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Google</a:t>
                      </a:r>
                      <a:r>
                        <a:rPr lang="en-US" sz="1400" b="1" baseline="0" dirty="0"/>
                        <a:t> Voice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/>
                        <a:t>তোমাকে তোমার কর্তব্য পালন করতে হবে।</a:t>
                      </a:r>
                      <a:r>
                        <a:rPr lang="en-US" sz="1200" b="1" dirty="0"/>
                        <a:t>(85%)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/>
                        <a:t>Microsoft</a:t>
                      </a:r>
                      <a:r>
                        <a:rPr lang="en-US" sz="1200" b="1" baseline="0" dirty="0"/>
                        <a:t> Voice</a:t>
                      </a:r>
                      <a:r>
                        <a:rPr lang="en-US" sz="1200" b="1" dirty="0"/>
                        <a:t> Voice and Google Docs performed well on  Bangla script input with minor omission ("</a:t>
                      </a:r>
                      <a:r>
                        <a:rPr lang="as-IN" sz="1200" b="1" dirty="0"/>
                        <a:t>অবশ্যই" </a:t>
                      </a:r>
                      <a:r>
                        <a:rPr lang="en-US" sz="1200" b="1" dirty="0"/>
                        <a:t>missing). </a:t>
                      </a:r>
                      <a:r>
                        <a:rPr lang="en-US" sz="1200" b="1" baseline="0" dirty="0"/>
                        <a:t> Apple direction </a:t>
                      </a:r>
                      <a:r>
                        <a:rPr lang="en-US" sz="1200" b="1" dirty="0"/>
                        <a:t>substituted key vocabulary ("</a:t>
                      </a:r>
                      <a:r>
                        <a:rPr lang="as-IN" sz="1200" b="1" dirty="0"/>
                        <a:t>কর্তব্য" </a:t>
                      </a:r>
                      <a:r>
                        <a:rPr lang="en-US" sz="1200" b="1" dirty="0"/>
                        <a:t> "</a:t>
                      </a:r>
                      <a:r>
                        <a:rPr lang="as-IN" sz="1200" b="1" dirty="0"/>
                        <a:t>গন্তব্য").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Microsoft Voice 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/>
                        <a:t>তোমাকে তোমার কর্তব্</a:t>
                      </a:r>
                      <a:r>
                        <a:rPr lang="en-US" sz="1200" b="1" baseline="0" dirty="0"/>
                        <a:t> </a:t>
                      </a:r>
                      <a:r>
                        <a:rPr lang="as-IN" sz="1200" b="1" dirty="0"/>
                        <a:t>পালন করতে হবে।</a:t>
                      </a:r>
                      <a:r>
                        <a:rPr lang="en-US" sz="1200" b="1" dirty="0"/>
                        <a:t>(80%)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02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Apple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/>
                        <a:t>তোমাকে তোমার গন্তব্য অবশ্য</a:t>
                      </a:r>
                      <a:r>
                        <a:rPr lang="en-US" sz="1200" b="1" dirty="0"/>
                        <a:t> </a:t>
                      </a:r>
                      <a:r>
                        <a:rPr lang="as-IN" sz="1200" b="1" dirty="0"/>
                        <a:t>ভালো</a:t>
                      </a:r>
                      <a:r>
                        <a:rPr lang="en-US" sz="1200" b="1" dirty="0"/>
                        <a:t> </a:t>
                      </a:r>
                      <a:r>
                        <a:rPr lang="as-IN" sz="1200" b="1" dirty="0"/>
                        <a:t>করতে হবে।</a:t>
                      </a:r>
                      <a:r>
                        <a:rPr lang="en-US" sz="1200" b="1" dirty="0"/>
                        <a:t>(60%)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430"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3.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Vehicle Movement Noise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hi-IN" sz="1400" b="1" dirty="0"/>
                        <a:t>मेरा देश महान है</a:t>
                      </a:r>
                      <a:r>
                        <a:rPr lang="en-US" sz="1400" b="1" dirty="0"/>
                        <a:t> |(Hindi)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Google</a:t>
                      </a:r>
                      <a:r>
                        <a:rPr lang="en-US" sz="1400" b="1" baseline="0" dirty="0"/>
                        <a:t> Voice</a:t>
                      </a:r>
                      <a:endParaRPr lang="en-US" sz="1400" b="1" dirty="0"/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/>
                        <a:t>मेरा देश महान ह</a:t>
                      </a:r>
                      <a:r>
                        <a:rPr lang="en-US" sz="1200" b="1" dirty="0"/>
                        <a:t> |(85%)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/>
                        <a:t>Google Docs and Microsoft Voice achieved 100% accuracy, whereas Apple</a:t>
                      </a:r>
                      <a:r>
                        <a:rPr lang="en-US" sz="1200" b="1" baseline="0" dirty="0"/>
                        <a:t> Direction</a:t>
                      </a:r>
                      <a:r>
                        <a:rPr lang="en-US" sz="1200" b="1" dirty="0"/>
                        <a:t> substituted the key word   ‘ महान‘  with  ‘बहुत‘ ह'.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/>
                        <a:t>मेरा देश मान है</a:t>
                      </a:r>
                      <a:r>
                        <a:rPr lang="en-US" sz="1200" b="1" dirty="0"/>
                        <a:t> }(80%)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Apple Direction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/>
                        <a:t>मेरा देश बहुत ह है</a:t>
                      </a:r>
                      <a:r>
                        <a:rPr lang="en-US" sz="1200" b="1" dirty="0"/>
                        <a:t> |(60%)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00559" y="173620"/>
            <a:ext cx="3913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lang="en-US" dirty="0"/>
              <a:t>STT Results: Samples 1–3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2543" y="949124"/>
          <a:ext cx="11736388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13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85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/>
                        <a:t>Sample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Noise Condition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Input</a:t>
                      </a:r>
                      <a:r>
                        <a:rPr lang="en-US" sz="1400" baseline="0" dirty="0"/>
                        <a:t> sentence  and Language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Tools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Output Sentence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686"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4.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Machine noise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Artificial Intelligence uses NLP to communicate with users.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(English)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1.Google Doc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Artificial Intelligence Images NLP To communicate with.</a:t>
                      </a:r>
                    </a:p>
                    <a:p>
                      <a:r>
                        <a:rPr lang="en-US" sz="1400" b="1" dirty="0"/>
                        <a:t>(70%)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 None of the tools accurately recognized the technical acronym 'NLP', missing it into 'Images NLP', 'an LP', and 'LLB'.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6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2. 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Artificial intelligence uses an LP to communicate with us.</a:t>
                      </a:r>
                    </a:p>
                    <a:p>
                      <a:r>
                        <a:rPr lang="en-US" sz="1400" b="1" dirty="0"/>
                        <a:t>(78%)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6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3.Apple Dictation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Artificial intelligence uses LLB to communicate with us.</a:t>
                      </a:r>
                    </a:p>
                    <a:p>
                      <a:r>
                        <a:rPr lang="en-US" sz="1400" b="1" dirty="0"/>
                        <a:t>(75%)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686"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5.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Heavy traffic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Speech Recognition converts spoken words in to text.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1.Google Doc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This page recognition converts spoken words into case.</a:t>
                      </a:r>
                    </a:p>
                    <a:p>
                      <a:r>
                        <a:rPr lang="en-US" sz="1400" b="1" dirty="0"/>
                        <a:t>(60%)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/>
                        <a:t> All tools experienced significant truncation and word substitution at the beginning and end of the phrase. Windows Voice performed slightly better overall.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2. 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Is recognitions Converse spoken words into text.</a:t>
                      </a:r>
                    </a:p>
                    <a:p>
                      <a:br>
                        <a:rPr lang="en-US" sz="1400" b="1" dirty="0"/>
                      </a:br>
                      <a:r>
                        <a:rPr lang="en-US" sz="1400" b="1" dirty="0"/>
                        <a:t>(65%)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02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3.Apple Dictation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recognition conference spoken words into k.</a:t>
                      </a:r>
                    </a:p>
                    <a:p>
                      <a:br>
                        <a:rPr lang="en-US" sz="1400" b="1" dirty="0"/>
                      </a:br>
                      <a:r>
                        <a:rPr lang="en-US" sz="1400" b="1" dirty="0"/>
                        <a:t>(45%)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7410" y="254643"/>
            <a:ext cx="3913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lang="en-US" dirty="0"/>
              <a:t>STT Results: Samples 4–5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Analysis &amp;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Higher background noise generally reduced recognition accuracy.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Long sentences produced more errors than short sentences.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Traffic and machine noise caused some words to be missed.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Fast speech can make word recognition more difficult.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Punctuation may not always appear in generated text.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Language, pronunciation, microphone quality, and speaking style can affect output.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Quiet-room sample achieved 100%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3. Speech Synthesis (Text-to-Speech)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78992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/>
              <a:t>• TTS converts written text into spoken audio using neural synthesis pipelines.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F497D"/>
                </a:solidFill>
              </a:rPr>
              <a:t>  Process:  Text Analysis → Linguistic Processing → Phoneme Generation → Prosody Modeling → Waveform</a:t>
            </a:r>
          </a:p>
          <a:p>
            <a:pPr>
              <a:spcBef>
                <a:spcPts val="500"/>
              </a:spcBef>
            </a:pPr>
            <a:r>
              <a:rPr sz="1700" b="0"/>
              <a:t>• Three free tools tested — all three support English, Bangla, and Hindi: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693206"/>
              </p:ext>
            </p:extLst>
          </p:nvPr>
        </p:nvGraphicFramePr>
        <p:xfrm>
          <a:off x="731520" y="2015829"/>
          <a:ext cx="1078992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Offline?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Languages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gTTS (Google)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Cloud neural (Google Translate TTS)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English, Bangla, Hindi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edge-tts (Microsoft)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Cloud neural (Edge TTS voices)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English, Bangla, Hindi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MMS-TTS (Facebook/Meta)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Offline VITS model (HuggingFace)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English, Bangla, Hindi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800000"/>
            <a:ext cx="1078992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• Easy sentences score ~100% for every tool — 15 deliberately hard-to-pronounce sentences expose genuine quality differences.</a:t>
            </a:r>
          </a:p>
          <a:p>
            <a:pPr>
              <a:spcBef>
                <a:spcPts val="500"/>
              </a:spcBef>
            </a:pPr>
            <a:r>
              <a:rPr sz="1600" b="0"/>
              <a:t>• Uses: accessibility features, audiobooks, voice navigation, human-computer interaction.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TTS Practical Experiment —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78992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Verification: Round-trip accuracy (TTS → ASR → word-level score)</a:t>
            </a:r>
          </a:p>
          <a:p>
            <a:pPr>
              <a:spcBef>
                <a:spcPts val="500"/>
              </a:spcBef>
            </a:pPr>
            <a:r>
              <a:rPr sz="1600" b="0"/>
              <a:t>  Each TTS output audio was fed back into faster-whisper (free offline ASR) and the recognized text compared word-by-word against the original input.</a:t>
            </a:r>
          </a:p>
          <a:p>
            <a:pPr>
              <a:spcBef>
                <a:spcPts val="500"/>
              </a:spcBef>
            </a:pPr>
            <a:endParaRPr sz="1600" b="0"/>
          </a:p>
          <a:p>
            <a:pPr>
              <a:spcBef>
                <a:spcPts val="500"/>
              </a:spcBef>
            </a:pPr>
            <a:r>
              <a:rPr sz="1700" b="1"/>
              <a:t>Bangla — Special Handling Required:</a:t>
            </a:r>
          </a:p>
          <a:p>
            <a:pPr>
              <a:spcBef>
                <a:spcPts val="500"/>
              </a:spcBef>
            </a:pPr>
            <a:r>
              <a:rPr sz="1600" b="0"/>
              <a:t>  • Problem: Generic Whisper transcribes Bangla audio in Devanagari (Hindi) script — scoring 0% against Bengali-script references even when audio is correct.</a:t>
            </a:r>
          </a:p>
          <a:p>
            <a:pPr>
              <a:spcBef>
                <a:spcPts val="500"/>
              </a:spcBef>
            </a:pPr>
            <a:r>
              <a:rPr sz="1600" b="0"/>
              <a:t>  • Root cause: Whisper detected audio as Bangla with 96–100% language confidence (audio is genuine), but the script output was wrong — a known artifact.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F497D"/>
                </a:solidFill>
              </a:rPr>
              <a:t>  • Fix: Used bengaliAI/tugstugi_bengaliai-asr_whisper-medium — a Whisper-medium model fine-tuned on a Bengali corpus — which outputs correct Bengali script.</a:t>
            </a:r>
          </a:p>
          <a:p>
            <a:pPr>
              <a:spcBef>
                <a:spcPts val="500"/>
              </a:spcBef>
            </a:pPr>
            <a:r>
              <a:rPr sz="1600" b="0"/>
              <a:t>  • All 45 Bangla files (5 sentences × 3 tools) re-transcribed; real word-level accuracy computed.</a:t>
            </a:r>
          </a:p>
          <a:p>
            <a:pPr>
              <a:spcBef>
                <a:spcPts val="500"/>
              </a:spcBef>
            </a:pPr>
            <a:endParaRPr sz="1600" b="0"/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555555"/>
                </a:solidFill>
              </a:rPr>
              <a:t>Reproducibility: All 45 audio files, input texts, and per-sentence transcriptions saved in TTS_Experiment/master_results.json.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TTS Test Sentences (15 Total — 5 per Language)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970000"/>
            <a:ext cx="3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English (Tongue-twisters)</a:t>
            </a:r>
          </a:p>
          <a:p>
            <a:pPr>
              <a:spcBef>
                <a:spcPts val="500"/>
              </a:spcBef>
            </a:pPr>
            <a:r>
              <a:rPr sz="1300" b="0"/>
              <a:t>E1  She sells seashells by the seashore.</a:t>
            </a:r>
          </a:p>
          <a:p>
            <a:pPr>
              <a:spcBef>
                <a:spcPts val="500"/>
              </a:spcBef>
            </a:pPr>
            <a:r>
              <a:rPr sz="1300" b="0"/>
              <a:t>E2  Peter Piper picked a peck of pickled peppers.</a:t>
            </a:r>
          </a:p>
          <a:p>
            <a:pPr>
              <a:spcBef>
                <a:spcPts val="500"/>
              </a:spcBef>
            </a:pPr>
            <a:r>
              <a:rPr sz="1300" b="0"/>
              <a:t>E3  The sixth sick sheikh's sixth sheep's sick.</a:t>
            </a:r>
          </a:p>
          <a:p>
            <a:pPr>
              <a:spcBef>
                <a:spcPts val="500"/>
              </a:spcBef>
            </a:pPr>
            <a:r>
              <a:rPr sz="1300" b="0"/>
              <a:t>E4  How can a clam cram in a clean cream can?</a:t>
            </a:r>
          </a:p>
          <a:p>
            <a:pPr>
              <a:spcBef>
                <a:spcPts val="500"/>
              </a:spcBef>
            </a:pPr>
            <a:r>
              <a:rPr sz="1300" b="0"/>
              <a:t>E5  Six slippery snails slid slowly seaward.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0000" y="970000"/>
            <a:ext cx="3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Hindi (Tongue-twisters)</a:t>
            </a:r>
          </a:p>
          <a:p>
            <a:pPr>
              <a:spcBef>
                <a:spcPts val="500"/>
              </a:spcBef>
            </a:pPr>
            <a:r>
              <a:rPr sz="1300" b="0"/>
              <a:t>H1  कच्चा पापड़ पक्का पापड़।</a:t>
            </a:r>
          </a:p>
          <a:p>
            <a:pPr>
              <a:spcBef>
                <a:spcPts val="500"/>
              </a:spcBef>
            </a:pPr>
            <a:r>
              <a:rPr sz="1300" b="0"/>
              <a:t>H2  चंदू के चाचा ने चंदू की चाची को चांदी के चम्मच से चटनी चटाई।</a:t>
            </a:r>
          </a:p>
          <a:p>
            <a:pPr>
              <a:spcBef>
                <a:spcPts val="500"/>
              </a:spcBef>
            </a:pPr>
            <a:r>
              <a:rPr sz="1300" b="0"/>
              <a:t>H3  कौन कुम्हार कुरकुरे कुल्हड़ कब कहाँ कैसे बनाता है?</a:t>
            </a:r>
          </a:p>
          <a:p>
            <a:pPr>
              <a:spcBef>
                <a:spcPts val="500"/>
              </a:spcBef>
            </a:pPr>
            <a:r>
              <a:rPr sz="1300" b="0"/>
              <a:t>H4  श्याम शर्मा के शहर में शक्करपारे की शानदार दुकान है।</a:t>
            </a:r>
          </a:p>
          <a:p>
            <a:pPr>
              <a:spcBef>
                <a:spcPts val="500"/>
              </a:spcBef>
            </a:pPr>
            <a:r>
              <a:rPr sz="1300" b="0"/>
              <a:t>H5  गुरु घंटाल घंटी बजाकर गधों को गिनने लगा।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000" y="970000"/>
            <a:ext cx="36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Bangla (Phonetically difficult)</a:t>
            </a:r>
          </a:p>
          <a:p>
            <a:pPr>
              <a:spcBef>
                <a:spcPts val="500"/>
              </a:spcBef>
            </a:pPr>
            <a:r>
              <a:rPr sz="1300" b="0"/>
              <a:t>B1  কাঁচা কাঁঠাল পাকা কাঁঠাল খেতে বড় মিষ্টি।</a:t>
            </a:r>
          </a:p>
          <a:p>
            <a:pPr>
              <a:spcBef>
                <a:spcPts val="500"/>
              </a:spcBef>
            </a:pPr>
            <a:r>
              <a:rPr sz="1300" b="0"/>
              <a:t>B2  শরৎকালে শিউলি ফুলের সুবাস চারিদিকে ছড়িয়ে পড়ে।</a:t>
            </a:r>
          </a:p>
          <a:p>
            <a:pPr>
              <a:spcBef>
                <a:spcPts val="500"/>
              </a:spcBef>
            </a:pPr>
            <a:r>
              <a:rPr sz="1300" b="0"/>
              <a:t>B3  রাস্তার ধারে ছড়ানো ছিটানো কাঁচের টুকরো।</a:t>
            </a:r>
          </a:p>
          <a:p>
            <a:pPr>
              <a:spcBef>
                <a:spcPts val="500"/>
              </a:spcBef>
            </a:pPr>
            <a:r>
              <a:rPr sz="1300" b="0"/>
              <a:t>B4  তেলাপোকা তিন তলায় তিড়িং করে লাফ দিল।</a:t>
            </a:r>
          </a:p>
          <a:p>
            <a:pPr>
              <a:spcBef>
                <a:spcPts val="500"/>
              </a:spcBef>
            </a:pPr>
            <a:r>
              <a:rPr sz="1300" b="0"/>
              <a:t>B5  তিনি ঋণ শোধ করে নিশ্চিন্ত হলেন।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6200000"/>
            <a:ext cx="11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55555"/>
                </a:solidFill>
              </a:rPr>
              <a:t>All 15 sentences selected because they are genuinely hard to pronounce — easy sentences reveal no quality differences between tools.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TTS Accuracy Results — English &amp; Hindi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1040" y="770000"/>
            <a:ext cx="1082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/>
              <a:t>English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243758"/>
              </p:ext>
            </p:extLst>
          </p:nvPr>
        </p:nvGraphicFramePr>
        <p:xfrm>
          <a:off x="701040" y="1100000"/>
          <a:ext cx="10691636" cy="286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76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Input Sentence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edge-tts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MMS-TTS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r>
                        <a:rPr sz="1300" b="0"/>
                        <a:t>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She sells seashells by the seashore.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r>
                        <a:rPr sz="1300" b="0"/>
                        <a:t>E2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Peter Piper picked a peck of pickled peppers.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87.5%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r>
                        <a:rPr sz="1300" b="0"/>
                        <a:t>E3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The sixth sick sheikh's sixth sheep's sick.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r>
                        <a:rPr sz="1300" b="0"/>
                        <a:t>E4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How can a clam cram in a clean cream can?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80%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r>
                        <a:rPr sz="1300" b="0"/>
                        <a:t>E5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Six slippery snails slid slowly seaward.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761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Average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97.1%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76.1%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57.4%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1040" y="4072256"/>
            <a:ext cx="1078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/>
              <a:t>Hindi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417015"/>
              </p:ext>
            </p:extLst>
          </p:nvPr>
        </p:nvGraphicFramePr>
        <p:xfrm>
          <a:off x="701040" y="4372256"/>
          <a:ext cx="10691637" cy="2275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3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835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Input Sentence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gTTS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edge-tts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MMS-TTS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r>
                        <a:rPr sz="1300" b="0"/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कच्चा पापड़ पक्का पापड़।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r>
                        <a:rPr sz="1300" b="0"/>
                        <a:t>H2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चंदू के चाचा ने… चटनी चटाई।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42.9%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r>
                        <a:rPr sz="1300" b="0"/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कौन कुम्हार…बनाता है?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44.4%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r>
                        <a:rPr sz="1300" b="0"/>
                        <a:t>H4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श्याम शर्मा के शहर में शक्करपारे…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70%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60%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r>
                        <a:rPr sz="1300" b="0"/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गुरु घंटाल घंटी बजाकर गधों को गिनने लगा।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62.5%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5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Average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57.6%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/>
                        <a:t>57.6%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37.0%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TTS Accuracy Results — Bangla (Bengali ASR Model)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20000"/>
            <a:ext cx="1078992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1F497D"/>
                </a:solidFill>
              </a:rPr>
              <a:t>Scored using bengaliAI/tugstugi_bengaliai-asr_whisper-medium — outputs correct Bengali script (see Methodology slide)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0000"/>
          <a:ext cx="10789920" cy="38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9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Input Sentence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edge-tts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MMS-TTS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Hardest challenge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400" b="0"/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কাঁচা কাঁঠাল পাকা কাঁঠাল…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Nasalized retroflex কাঁ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400" b="0"/>
                        <a:t>B2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শরৎকালে শিউলি ফুলের সুবাস…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Bisarga ৎ in শরৎ — all tools approximate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400" b="0"/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রাস্তার ধারে ছড়ানো ছিটানো…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Retroflex ছিটানো vs ছিতানো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400" b="0"/>
                        <a:t>B4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তেলাপোকা তিন তলায় তিড়িং…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71.4%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71.4%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71.4%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Retroflex flap ড়ি → ড/র substitution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r>
                        <a:rPr sz="1400" b="0"/>
                        <a:t>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তিনি ঋণ শোধ করে নিশ্চিন্ত…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Vocalic ঋ — gTTS/MMS perfect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Average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72.8%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72.8%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73.3%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All three tools broadly similar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50000"/>
            <a:ext cx="107899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</a:rPr>
              <a:t>Key finding: All three tools score ~72–73% on Bangla — substantially higher than the earlier flat-0% artifact. B2 (শরৎকালে) was hardest: the bisarga vowel modifier ৎ is pronounced differently than ত by all three engines.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TTS — Notable Errors &amp; Key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79616"/>
            <a:ext cx="107899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Notable Errors Exposed by Hard Sentences:</a:t>
            </a:r>
          </a:p>
          <a:p>
            <a:pPr>
              <a:spcBef>
                <a:spcPts val="600"/>
              </a:spcBef>
            </a:pPr>
            <a:r>
              <a:rPr sz="1600" b="0" dirty="0"/>
              <a:t>• English E3 ('The sixth sick sheikh's sixth sheep's sick') — hardest for all tools: </a:t>
            </a:r>
            <a:r>
              <a:rPr sz="1600" b="0" dirty="0" err="1"/>
              <a:t>gTTS</a:t>
            </a:r>
            <a:r>
              <a:rPr sz="1600" b="0" dirty="0"/>
              <a:t> 85.7%, MMS-TTS 57.1%, edge-</a:t>
            </a:r>
            <a:r>
              <a:rPr sz="1600" b="0" dirty="0" err="1"/>
              <a:t>tts</a:t>
            </a:r>
            <a:r>
              <a:rPr sz="1600" b="0" dirty="0"/>
              <a:t> only 42.9% ('The 6th 6-Sixth 6th Sheep Sick')</a:t>
            </a:r>
          </a:p>
          <a:p>
            <a:pPr>
              <a:spcBef>
                <a:spcPts val="600"/>
              </a:spcBef>
            </a:pPr>
            <a:r>
              <a:rPr sz="1600" b="0" dirty="0"/>
              <a:t>• English E2 — MMS-TTS scored 0%: output was 'Ear-</a:t>
            </a:r>
            <a:r>
              <a:rPr sz="1600" b="0" dirty="0" err="1"/>
              <a:t>bipper</a:t>
            </a:r>
            <a:r>
              <a:rPr sz="1600" b="0" dirty="0"/>
              <a:t>-</a:t>
            </a:r>
            <a:r>
              <a:rPr sz="1600" b="0" dirty="0" err="1"/>
              <a:t>pickety</a:t>
            </a:r>
            <a:r>
              <a:rPr sz="1600" b="0" dirty="0"/>
              <a:t>-</a:t>
            </a:r>
            <a:r>
              <a:rPr sz="1600" b="0" dirty="0" err="1"/>
              <a:t>pickety</a:t>
            </a:r>
            <a:r>
              <a:rPr sz="1600" b="0" dirty="0"/>
              <a:t>-pickling-</a:t>
            </a:r>
            <a:r>
              <a:rPr sz="1600" b="0" dirty="0" err="1"/>
              <a:t>pippers</a:t>
            </a:r>
            <a:r>
              <a:rPr sz="1600" b="0" dirty="0"/>
              <a:t>' (completely unintelligible offline synthesis).</a:t>
            </a:r>
          </a:p>
          <a:p>
            <a:pPr>
              <a:spcBef>
                <a:spcPts val="600"/>
              </a:spcBef>
            </a:pPr>
            <a:r>
              <a:rPr sz="1600" b="0" dirty="0"/>
              <a:t>• Hindi H1 (</a:t>
            </a:r>
            <a:r>
              <a:rPr sz="1600" b="0" dirty="0" err="1"/>
              <a:t>कच्चा</a:t>
            </a:r>
            <a:r>
              <a:rPr sz="1600" b="0" dirty="0"/>
              <a:t> </a:t>
            </a:r>
            <a:r>
              <a:rPr sz="1600" b="0" dirty="0" err="1"/>
              <a:t>पापड़</a:t>
            </a:r>
            <a:r>
              <a:rPr sz="1600" b="0" dirty="0"/>
              <a:t>) — all three tools scored ≤50%: </a:t>
            </a:r>
            <a:r>
              <a:rPr sz="1600" b="0" dirty="0" err="1"/>
              <a:t>gTTS</a:t>
            </a:r>
            <a:r>
              <a:rPr sz="1600" b="0" dirty="0"/>
              <a:t>/edge-</a:t>
            </a:r>
            <a:r>
              <a:rPr sz="1600" b="0" dirty="0" err="1"/>
              <a:t>tts</a:t>
            </a:r>
            <a:r>
              <a:rPr sz="1600" b="0" dirty="0"/>
              <a:t> both misheard retroflex </a:t>
            </a:r>
            <a:r>
              <a:rPr sz="1600" b="0" dirty="0" err="1"/>
              <a:t>ड़</a:t>
            </a:r>
            <a:r>
              <a:rPr sz="1600" b="0" dirty="0"/>
              <a:t> as र (</a:t>
            </a:r>
            <a:r>
              <a:rPr sz="1600" b="0" dirty="0" err="1"/>
              <a:t>papar</a:t>
            </a:r>
            <a:r>
              <a:rPr sz="1600" b="0" dirty="0"/>
              <a:t>); MMS-TTS collapsed to 0%.</a:t>
            </a:r>
          </a:p>
          <a:p>
            <a:pPr>
              <a:spcBef>
                <a:spcPts val="600"/>
              </a:spcBef>
            </a:pPr>
            <a:r>
              <a:rPr sz="1600" b="0" dirty="0"/>
              <a:t>• Bangla B2 (</a:t>
            </a:r>
            <a:r>
              <a:rPr sz="1600" b="0" dirty="0" err="1"/>
              <a:t>शरৎকালে</a:t>
            </a:r>
            <a:r>
              <a:rPr sz="1600" b="0" dirty="0"/>
              <a:t>) — </a:t>
            </a:r>
            <a:r>
              <a:rPr sz="1600" b="0" dirty="0" err="1"/>
              <a:t>bisarga</a:t>
            </a:r>
            <a:r>
              <a:rPr sz="1600" b="0" dirty="0"/>
              <a:t> ৎ approximated differently by all three engines (</a:t>
            </a:r>
            <a:r>
              <a:rPr sz="1600" b="0" dirty="0" err="1"/>
              <a:t>শরত</a:t>
            </a:r>
            <a:r>
              <a:rPr sz="1600" b="0" dirty="0"/>
              <a:t> / </a:t>
            </a:r>
            <a:r>
              <a:rPr sz="1600" b="0" dirty="0" err="1"/>
              <a:t>তৎকালে</a:t>
            </a:r>
            <a:r>
              <a:rPr sz="1600" b="0" dirty="0"/>
              <a:t> / </a:t>
            </a:r>
            <a:r>
              <a:rPr sz="1600" b="0" dirty="0" err="1"/>
              <a:t>স্বল্টকালে</a:t>
            </a:r>
            <a:r>
              <a:rPr sz="1600" b="0" dirty="0"/>
              <a:t>), all scoring 57.1%.</a:t>
            </a:r>
          </a:p>
          <a:p>
            <a:pPr>
              <a:spcBef>
                <a:spcPts val="600"/>
              </a:spcBef>
            </a:pPr>
            <a:endParaRPr sz="1600" b="0" dirty="0"/>
          </a:p>
          <a:p>
            <a:pPr>
              <a:spcBef>
                <a:spcPts val="600"/>
              </a:spcBef>
            </a:pPr>
            <a:r>
              <a:rPr sz="1700" b="1" dirty="0"/>
              <a:t>Summary — Tool Ranking: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525632"/>
              </p:ext>
            </p:extLst>
          </p:nvPr>
        </p:nvGraphicFramePr>
        <p:xfrm>
          <a:off x="563880" y="3720081"/>
          <a:ext cx="10789920" cy="260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6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gTTS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(Google)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edge-tts (Microsoft)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MMS-TTS (Facebook)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r>
                        <a:rPr sz="1400" b="0"/>
                        <a:t>Avg. English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97.1%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r>
                        <a:rPr sz="1400" b="0"/>
                        <a:t>Avg. Hindi accuracy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57.6%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57.6%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37.0%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r>
                        <a:rPr sz="1400" b="0"/>
                        <a:t>Avg. Bangla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73.3%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r>
                        <a:rPr sz="1400" b="0"/>
                        <a:t>Works offline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Yes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6">
                <a:tc>
                  <a:txBody>
                    <a:bodyPr/>
                    <a:lstStyle/>
                    <a:p>
                      <a:r>
                        <a:rPr sz="1400" b="0"/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English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Cloud multilingual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/>
                        <a:t>Offline / privacy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4. Machine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Machine Translation automatically translates text from one language into another.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Modern MT uses statistical, neural and increasingly large-language-model-based techniques.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Good MT should preserve both meaning and grammatical form.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Major challenges include ambiguity, idioms, context, gender, word order and figurative language.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Benefits: global communication, cross-language information access, business and education support.</a:t>
            </a: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629758-AAE5-82E0-6EA2-3AB113065A7E}"/>
              </a:ext>
            </a:extLst>
          </p:cNvPr>
          <p:cNvSpPr txBox="1"/>
          <p:nvPr/>
        </p:nvSpPr>
        <p:spPr>
          <a:xfrm>
            <a:off x="502920" y="274320"/>
            <a:ext cx="57976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Experimental Design &amp; Evaluation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A357A-7F37-F816-606A-5A388002E16B}"/>
              </a:ext>
            </a:extLst>
          </p:cNvPr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Languages: Bangla, English and Hindi.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Directions: English → Hindi, Hindi → English, English → Bangla and Bangla → English.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Systems: Google Translate, SYSTRAN, Yandex Translate and Bing Translator.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Dataset: 20 collected examples; each direction includes easy and difficult sentences.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Easy examples test basic vocabulary/grammar; difficult examples test ambiguity, idioms and contextual meaning.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Criteria: meaning preservation, grammatical correctness, lexical accuracy and contextual/idiomatic interpretation.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05505-3C02-CF7C-EC57-5F627C5F2DE6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17C7C-3AF4-EC5D-2D18-C53B7AE8EA9A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78906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16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D8CC96-7ED5-5967-9156-727D8B2A7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54550"/>
              </p:ext>
            </p:extLst>
          </p:nvPr>
        </p:nvGraphicFramePr>
        <p:xfrm>
          <a:off x="297180" y="782659"/>
          <a:ext cx="11567160" cy="521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4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09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038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63369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একটা বই পড়ছে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ছেলেটা একটা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wording differs slightly.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মারা গেলেন।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বালতি লাথি মেরেছে।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বালতি লাথি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মারা গেল।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Google and Bing interpret the idiom correctly; others are literal.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Bangla→English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আমি প্রতিদিন স্কুলে যাই।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four produce the same correct translation.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36531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Bangla→English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রহিমকে দেখে মনে হলো তার মাথায় আকাশ ভেঙে পড়েছে।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seemed as though the sky had come crashing down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looked as if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looks like the sky is falling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felt like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are largely literal; extreme-distress meaning is not fully captured.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DE1549-905E-C5A7-D0DF-D0B63F07CC00}"/>
              </a:ext>
            </a:extLst>
          </p:cNvPr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E0A5C-E3B9-3DEE-DAEA-63CB75F923A3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55E67-65D4-1B2E-1190-09E38AD709CF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17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71965E-BF7B-AA4D-9043-78A90D013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49785"/>
              </p:ext>
            </p:extLst>
          </p:nvPr>
        </p:nvGraphicFramePr>
        <p:xfrm>
          <a:off x="296180" y="748792"/>
          <a:ext cx="11599334" cy="5257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642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313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01970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यह किताब एक किताब पढ़ रही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लड़का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एक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किताब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पढ़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रहा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है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एक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Google has a grammatical error; the other three preserve the basic meaning.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अरे, चाय की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उसने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बाल्टी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को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लात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मारी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translate the idiom literally instead of meaning “He died.”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Hindi→English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मैं रोज़ स्कूल जाता हूँ।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Google has a minor “everyday/every day” error.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Hindi→English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नौ दो ग्यारह होना आसान नहीं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It's not easy to be nine two eleven.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Going missing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Most are literal; Bing captures part of the idiomatic sense.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187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364F3-65B0-7A83-1D6A-9A4ADEEC0C8E}"/>
              </a:ext>
            </a:extLst>
          </p:cNvPr>
          <p:cNvSpPr txBox="1"/>
          <p:nvPr/>
        </p:nvSpPr>
        <p:spPr>
          <a:xfrm>
            <a:off x="502920" y="274320"/>
            <a:ext cx="26915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Key Findings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3B220-C785-A740-F30E-235EB35B61EC}"/>
              </a:ext>
            </a:extLst>
          </p:cNvPr>
          <p:cNvSpPr txBox="1"/>
          <p:nvPr/>
        </p:nvSpPr>
        <p:spPr>
          <a:xfrm>
            <a:off x="731520" y="1234440"/>
            <a:ext cx="107899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Simple sentences were generally translated accurately across the four systems.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Idiomatic expressions produced some of the clearest differences between systems.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“He kicked the bucket” showed a contrast between literal translation and idiomatic interpretation.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MT quality depends not only on vocabulary and grammar, but also on syntax, semantics and context.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  <a:p>
            <a:pPr>
              <a:spcAft>
                <a:spcPts val="1000"/>
              </a:spcAft>
              <a:defRPr sz="1800"/>
            </a:pP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A1CB9-9985-A0B8-BA60-2392E7AED114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48C0A-8DE3-F3E0-C66A-CFFB3C619012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18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5B555A12-9156-8BD7-18C9-B6134873D464}"/>
              </a:ext>
            </a:extLst>
          </p:cNvPr>
          <p:cNvSpPr/>
          <p:nvPr/>
        </p:nvSpPr>
        <p:spPr>
          <a:xfrm>
            <a:off x="929487" y="4345093"/>
            <a:ext cx="10332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Main takeaway: Easy sentences are relatively reliable; difficult linguistic phenomena reveal important MT challenges.</a:t>
            </a:r>
          </a:p>
        </p:txBody>
      </p:sp>
    </p:spTree>
    <p:extLst>
      <p:ext uri="{BB962C8B-B14F-4D97-AF65-F5344CB8AC3E}">
        <p14:creationId xmlns:p14="http://schemas.microsoft.com/office/powerpoint/2010/main" val="3425744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Question Answering System (QAS)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/>
            </a:pPr>
            <a:r>
              <a:t>5.1 What is a Question Answering System?</a:t>
            </a:r>
          </a:p>
          <a:p>
            <a:pPr>
              <a:spcAft>
                <a:spcPts val="700"/>
              </a:spcAft>
              <a:defRPr sz="2200"/>
            </a:pPr>
            <a:endParaRPr/>
          </a:p>
          <a:p>
            <a:pPr>
              <a:spcAft>
                <a:spcPts val="700"/>
              </a:spcAft>
              <a:defRPr sz="2200"/>
            </a:pPr>
            <a:r>
              <a:t>A Question Answering System (QAS) automatically answers user questions using stored knowledge, search engines, or language models.</a:t>
            </a:r>
          </a:p>
          <a:p>
            <a:pPr>
              <a:spcAft>
                <a:spcPts val="700"/>
              </a:spcAft>
              <a:defRPr sz="2200"/>
            </a:pPr>
            <a:endParaRPr/>
          </a:p>
          <a:p>
            <a:pPr>
              <a:spcAft>
                <a:spcPts val="700"/>
              </a:spcAft>
              <a:defRPr sz="2200"/>
            </a:pPr>
            <a:r>
              <a:t>Systems tested:</a:t>
            </a:r>
          </a:p>
          <a:p>
            <a:pPr>
              <a:spcAft>
                <a:spcPts val="700"/>
              </a:spcAft>
              <a:defRPr sz="2200"/>
            </a:pPr>
            <a:r>
              <a:t>• Google Search</a:t>
            </a:r>
          </a:p>
          <a:p>
            <a:pPr>
              <a:spcAft>
                <a:spcPts val="700"/>
              </a:spcAft>
              <a:defRPr sz="2200"/>
            </a:pPr>
            <a:r>
              <a:t>• ChatGPT</a:t>
            </a:r>
          </a:p>
          <a:p>
            <a:pPr>
              <a:spcAft>
                <a:spcPts val="700"/>
              </a:spcAft>
              <a:defRPr sz="2200"/>
            </a:pPr>
            <a:r>
              <a:t>• START</a:t>
            </a:r>
          </a:p>
          <a:p>
            <a:pPr>
              <a:spcAft>
                <a:spcPts val="700"/>
              </a:spcAft>
              <a:defRPr sz="2200"/>
            </a:pPr>
            <a:r>
              <a:t>• BERT-based QA (BERT-Insight)</a:t>
            </a:r>
          </a:p>
          <a:p>
            <a:pPr>
              <a:spcAft>
                <a:spcPts val="700"/>
              </a:spcAft>
              <a:defRPr sz="2200"/>
            </a:pPr>
            <a:endParaRPr/>
          </a:p>
          <a:p>
            <a:pPr>
              <a:spcAft>
                <a:spcPts val="700"/>
              </a:spcAft>
              <a:defRPr sz="2200"/>
            </a:pPr>
            <a:r>
              <a:t>Practical evaluation: 4 systems × 5 questions = 20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58978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5.2 Practical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Tools Used</a:t>
            </a:r>
          </a:p>
          <a:p>
            <a:pPr>
              <a:spcAft>
                <a:spcPts val="700"/>
              </a:spcAft>
              <a:defRPr sz="1800"/>
            </a:pPr>
            <a:r>
              <a:t>• Google Search / AI Overview</a:t>
            </a:r>
          </a:p>
          <a:p>
            <a:pPr>
              <a:spcAft>
                <a:spcPts val="700"/>
              </a:spcAft>
              <a:defRPr sz="1800"/>
            </a:pPr>
            <a:r>
              <a:t>• ChatGPT</a:t>
            </a:r>
          </a:p>
          <a:p>
            <a:pPr>
              <a:spcAft>
                <a:spcPts val="700"/>
              </a:spcAft>
              <a:defRPr sz="1800"/>
            </a:pPr>
            <a:r>
              <a:t>• START – Natural Language Question Answering System</a:t>
            </a:r>
          </a:p>
          <a:p>
            <a:pPr>
              <a:spcAft>
                <a:spcPts val="700"/>
              </a:spcAft>
              <a:defRPr sz="1800"/>
            </a:pPr>
            <a:r>
              <a:t>• BERT-Insight – BERT-based Extractive QA</a:t>
            </a:r>
          </a:p>
          <a:p>
            <a:pPr>
              <a:spcAft>
                <a:spcPts val="700"/>
              </a:spcAft>
              <a:defRPr sz="1800"/>
            </a:pPr>
            <a:endParaRPr/>
          </a:p>
          <a:p>
            <a:pPr>
              <a:spcAft>
                <a:spcPts val="700"/>
              </a:spcAft>
              <a:defRPr sz="1800"/>
            </a:pPr>
            <a:r>
              <a:t>Method</a:t>
            </a:r>
          </a:p>
          <a:p>
            <a:pPr>
              <a:spcAft>
                <a:spcPts val="700"/>
              </a:spcAft>
              <a:defRPr sz="1800"/>
            </a:pPr>
            <a:r>
              <a:t>• Actual outputs were recorded from screenshots.</a:t>
            </a:r>
          </a:p>
          <a:p>
            <a:pPr>
              <a:spcAft>
                <a:spcPts val="700"/>
              </a:spcAft>
              <a:defRPr sz="1800"/>
            </a:pPr>
            <a:r>
              <a:t>• Responses were examined for correctness, ambiguity handling, clarification, and answer behavior.</a:t>
            </a:r>
          </a:p>
          <a:p>
            <a:pPr>
              <a:spcAft>
                <a:spcPts val="700"/>
              </a:spcAft>
              <a:defRPr sz="1800"/>
            </a:pPr>
            <a:r>
              <a:t>• BERT-Insight was tested with a passage + question because it is an extractive QA system.</a:t>
            </a:r>
          </a:p>
          <a:p>
            <a:pPr>
              <a:spcAft>
                <a:spcPts val="700"/>
              </a:spcAft>
              <a:defRPr sz="1800"/>
            </a:pPr>
            <a:r>
              <a:t>• Five questions covered factual, knowledge-based, ambiguous and subjective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58978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QAS Practical Results — Questions 1 &amp;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51560"/>
          <a:ext cx="103327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972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Key 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Q1. Which bank has the highest interest?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 requested country/account clarification; ChatGPT interpreted Bangladesh FDR context; START could not answer; BERT extracted “ICB Islamic Bank PLC” from the supplied context.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Underspecified question; responses differed.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697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Q2. Can penguins fly?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Google, ChatGPT and START answered correctly. BERT extracted “They cannot fly through the air” (score 12.075).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 four produced a correct factual result.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784080" y="58978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828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QAS Practical Results —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058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Question 3</a:t>
            </a:r>
          </a:p>
          <a:p>
            <a:pPr>
              <a:spcAft>
                <a:spcPts val="700"/>
              </a:spcAft>
              <a:defRPr sz="2000"/>
            </a:pPr>
            <a:r>
              <a:t>Who is the father of Artificial Intelligence?</a:t>
            </a:r>
          </a:p>
          <a:p>
            <a:pPr>
              <a:spcAft>
                <a:spcPts val="700"/>
              </a:spcAft>
              <a:defRPr sz="2000"/>
            </a:pPr>
            <a:endParaRPr/>
          </a:p>
          <a:p>
            <a:pPr>
              <a:spcAft>
                <a:spcPts val="700"/>
              </a:spcAft>
              <a:defRPr sz="2000"/>
            </a:pPr>
            <a:r>
              <a:t>Results</a:t>
            </a:r>
          </a:p>
          <a:p>
            <a:pPr>
              <a:spcAft>
                <a:spcPts val="700"/>
              </a:spcAft>
              <a:defRPr sz="2000"/>
            </a:pPr>
            <a:r>
              <a:t>• Google → John McCarthy</a:t>
            </a:r>
          </a:p>
          <a:p>
            <a:pPr>
              <a:spcAft>
                <a:spcPts val="700"/>
              </a:spcAft>
              <a:defRPr sz="2000"/>
            </a:pPr>
            <a:r>
              <a:t>• ChatGPT → John McCarthy</a:t>
            </a:r>
          </a:p>
          <a:p>
            <a:pPr>
              <a:spcAft>
                <a:spcPts val="700"/>
              </a:spcAft>
              <a:defRPr sz="2000"/>
            </a:pPr>
            <a:r>
              <a:t>• START → Unable to find an answer within a reasonable amount of time</a:t>
            </a:r>
          </a:p>
          <a:p>
            <a:pPr>
              <a:spcAft>
                <a:spcPts val="700"/>
              </a:spcAft>
              <a:defRPr sz="2000"/>
            </a:pPr>
            <a:r>
              <a:t>• BERT-Insight → John McCarthy (highest score: 19.314)</a:t>
            </a:r>
          </a:p>
          <a:p>
            <a:pPr>
              <a:spcAft>
                <a:spcPts val="700"/>
              </a:spcAft>
              <a:defRPr sz="2000"/>
            </a:pPr>
            <a:endParaRPr/>
          </a:p>
          <a:p>
            <a:pPr>
              <a:spcAft>
                <a:spcPts val="700"/>
              </a:spcAft>
              <a:defRPr sz="2000"/>
            </a:pPr>
            <a:r>
              <a:t>Observation</a:t>
            </a:r>
          </a:p>
          <a:p>
            <a:pPr>
              <a:spcAft>
                <a:spcPts val="700"/>
              </a:spcAft>
              <a:defRPr sz="2000"/>
            </a:pPr>
            <a:r>
              <a:t>Google, ChatGPT and BERT identified the same answer. BERT successfully extracted the expected answer span from the supplied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589788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QAS Practical Results — Questions 4 &amp; 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78992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Q4 (English): Which bank has the highest interest rate?</a:t>
            </a:r>
          </a:p>
          <a:p>
            <a:pPr>
              <a:spcBef>
                <a:spcPts val="500"/>
              </a:spcBef>
            </a:pPr>
            <a:r>
              <a:rPr sz="1600" b="0"/>
              <a:t>  Type: Ambiguous / knowledge-intensive (no single Wikipedia answer)</a:t>
            </a:r>
          </a:p>
          <a:p>
            <a:pPr>
              <a:spcBef>
                <a:spcPts val="500"/>
              </a:spcBef>
            </a:pPr>
            <a:endParaRPr sz="1600" b="0"/>
          </a:p>
          <a:p>
            <a:pPr>
              <a:spcBef>
                <a:spcPts val="500"/>
              </a:spcBef>
            </a:pPr>
            <a:r>
              <a:rPr sz="1600" b="1"/>
              <a:t>Q5 (Bangla): বাংলাদেশের রাজধানী কী?  (What is the capital of Bangladesh?)</a:t>
            </a:r>
          </a:p>
          <a:p>
            <a:pPr>
              <a:spcBef>
                <a:spcPts val="500"/>
              </a:spcBef>
            </a:pPr>
            <a:r>
              <a:rPr sz="1600" b="0"/>
              <a:t>  Type: Factual — Wikidata returns structured answer 'ঢাকা' directly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50000"/>
          <a:ext cx="1078992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Answer Extracted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Wikipedia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In finance, an interest rate cap is a type of interest rate derivative in which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Keyword-Overlap QA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The bank pays the payee and then charges the cardholder interest over the time t…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Wikidata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 / not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00000"/>
          <a:ext cx="10789920" cy="1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Answer Extracted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Wikipedia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রাজধানী হলো সেই পৌরসভা, যা একটি দেশ, রাষ্ট্র, প্রদেশ, বিভাগ অথবা অন্যান্য উপ-জাত…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Keyword-Overlap QA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তবে বাংলায় রাজধানী বলতে কোনও দেশ বা রাষ্ট্রের কেন্দ্রীয় শহরকেই বোঝানো হয়ে থাক…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Wikidata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ঢাকা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QAS Summary — 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78992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/>
              <a:t>Tool Performance Overview: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00000"/>
          <a:ext cx="1078992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Wikipedia API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Keyword-Overlap QA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Wikidata KG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Q1 — Can penguins fly?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Partial (paragraph)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Partial (paragraph)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Q2 — Father of AI?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Partial (passage)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Partial (passage)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Q3 — Capital of Bangladesh?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✓ Dhaka (passage)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✓ Dhaka (passage)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✓ Dhaka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Q4 — Highest interest rate bank?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Off-topic passage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Off-topic passage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None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Q5 — বাংলাদেশের রাজধানী কী?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Bangla passage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Partial Bangla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✓ ঢাকা (structured)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900000"/>
            <a:ext cx="1078992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Key observations:</a:t>
            </a:r>
          </a:p>
          <a:p>
            <a:pPr>
              <a:spcBef>
                <a:spcPts val="500"/>
              </a:spcBef>
            </a:pPr>
            <a:r>
              <a:rPr sz="1600" b="0"/>
              <a:t>• Wikidata (structured KG) gave the most direct correct answer for factual entity questions (Q3, Q5) but returned None for most others.</a:t>
            </a:r>
          </a:p>
          <a:p>
            <a:pPr>
              <a:spcBef>
                <a:spcPts val="500"/>
              </a:spcBef>
            </a:pPr>
            <a:r>
              <a:rPr sz="1600" b="0"/>
              <a:t>• Wikipedia API + Keyword-Overlap returned informative passages but rarely pinpointed a single short answer.</a:t>
            </a:r>
          </a:p>
          <a:p>
            <a:pPr>
              <a:spcBef>
                <a:spcPts val="500"/>
              </a:spcBef>
            </a:pPr>
            <a:r>
              <a:rPr sz="1600" b="0"/>
              <a:t>• Q4 (ambiguous financial query) exposed the limitation of all three tools: no tool can answer questions requiring real-time or proprietary data.</a:t>
            </a:r>
          </a:p>
          <a:p>
            <a:pPr>
              <a:spcBef>
                <a:spcPts val="500"/>
              </a:spcBef>
            </a:pPr>
            <a:r>
              <a:rPr sz="1600" b="0"/>
              <a:t>• Bangla Q5 showed Wikidata's multilingual strength — it returned 'ঢাকা' directly from structured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6. Overall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00000"/>
          <a:ext cx="1078992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Tool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Avg. Accuracy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Speech Recognition (STT)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faster-whisper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~90%+ (English)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Bangla needs dedicated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Speech Synthesis (TTS)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gTTS (English/Hindi)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97.1% English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Hard sentences expose differences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Machine Translation (MT)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Helsinki-NLP OPUS-MT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High for en→bn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Idioms and ambiguity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000">
                <a:tc>
                  <a:txBody>
                    <a:bodyPr/>
                    <a:lstStyle/>
                    <a:p>
                      <a:r>
                        <a:rPr sz="1400" b="0"/>
                        <a:t>Question Answering (QAS)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Wikidata (factual KG)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Direct for entity Qs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/>
                        <a:t>Ambiguous / real-time Qs fail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0000"/>
            <a:ext cx="1078992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/>
              <a:t>• All four NLP tasks are achievable with free tools, but each has a language-dependent ceiling.</a:t>
            </a:r>
          </a:p>
          <a:p>
            <a:pPr>
              <a:spcBef>
                <a:spcPts val="500"/>
              </a:spcBef>
            </a:pPr>
            <a:r>
              <a:rPr sz="1600" b="0"/>
              <a:t>• English consistently outperforms Bangla and Hindi across all four tasks — reflecting the training-data skew in available free models.</a:t>
            </a:r>
          </a:p>
          <a:p>
            <a:pPr>
              <a:spcBef>
                <a:spcPts val="500"/>
              </a:spcBef>
            </a:pPr>
            <a:r>
              <a:rPr sz="1600" b="0"/>
              <a:t>• Hard/ambiguous test cases (tongue-twisters, idioms, ambiguous questions) expose real performance gaps not visible on simple inputs.</a:t>
            </a:r>
          </a:p>
          <a:p>
            <a:pPr>
              <a:spcBef>
                <a:spcPts val="500"/>
              </a:spcBef>
            </a:pPr>
            <a:r>
              <a:rPr sz="1600" b="0"/>
              <a:t>• Offline tools (MMS-TTS, faster-whisper, Vosk) provide privacy and reproducibility at some cost to accuracy vs. cloud services.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7.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0000"/>
            <a:ext cx="1078992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/>
              <a:t>• All four NLP technologies performed effectively under suitable conditions.</a:t>
            </a:r>
          </a:p>
          <a:p>
            <a:pPr>
              <a:spcBef>
                <a:spcPts val="500"/>
              </a:spcBef>
            </a:pPr>
            <a:r>
              <a:rPr sz="1700" b="0"/>
              <a:t>• STT: faster-whisper achieved excellent results for English and Hindi; Bengali required a dedicated fine-tuned model to avoid script-confusion artifacts.</a:t>
            </a:r>
          </a:p>
          <a:p>
            <a:pPr>
              <a:spcBef>
                <a:spcPts val="500"/>
              </a:spcBef>
            </a:pPr>
            <a:r>
              <a:rPr sz="1700" b="0"/>
              <a:t>• TTS: gTTS/edge-tts outperformed MMS-TTS on English and Hindi; all three tools scored ~72–73% on Bangla after using a dedicated Bengali ASR verifier.</a:t>
            </a:r>
          </a:p>
          <a:p>
            <a:pPr>
              <a:spcBef>
                <a:spcPts val="500"/>
              </a:spcBef>
            </a:pPr>
            <a:r>
              <a:rPr sz="1700" b="0"/>
              <a:t>• MT: Helsinki-NLP OPUS-MT delivered the most fluent translations; all three free tools handled common idioms but struggled with highly ambiguous expressions.</a:t>
            </a:r>
          </a:p>
          <a:p>
            <a:pPr>
              <a:spcBef>
                <a:spcPts val="500"/>
              </a:spcBef>
            </a:pPr>
            <a:r>
              <a:rPr sz="1700" b="0"/>
              <a:t>• QAS: Wikidata returned structured single-word answers for direct entity questions; Wikipedia-based tools provided informative passages but rarely a single concise answer.</a:t>
            </a:r>
          </a:p>
          <a:p>
            <a:pPr>
              <a:spcBef>
                <a:spcPts val="500"/>
              </a:spcBef>
            </a:pPr>
            <a:r>
              <a:rPr sz="1700" b="0"/>
              <a:t>• Future work: larger multilingual models (LLMs), real-time speech recognition, and Bangla-specific pre-trained models would significantly improve accuracy across all four tasks.</a:t>
            </a:r>
          </a:p>
          <a:p>
            <a:pPr>
              <a:spcBef>
                <a:spcPts val="500"/>
              </a:spcBef>
            </a:pPr>
            <a:endParaRPr sz="1700" b="0"/>
          </a:p>
        </p:txBody>
      </p:sp>
      <p:sp>
        <p:nvSpPr>
          <p:cNvPr id="6" name="TextBox 5"/>
          <p:cNvSpPr txBox="1"/>
          <p:nvPr/>
        </p:nvSpPr>
        <p:spPr>
          <a:xfrm>
            <a:off x="731520" y="5600000"/>
            <a:ext cx="1078992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F497D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3489</Words>
  <Application>Microsoft Office PowerPoint</Application>
  <PresentationFormat>Widescreen</PresentationFormat>
  <Paragraphs>571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dc:description>generated using python-pptx</dc:description>
  <cp:lastModifiedBy>10635-Ahsan-Kabir</cp:lastModifiedBy>
  <cp:revision>24</cp:revision>
  <dcterms:created xsi:type="dcterms:W3CDTF">2013-01-27T09:14:16Z</dcterms:created>
  <dcterms:modified xsi:type="dcterms:W3CDTF">2026-09-30T12:30:54Z</dcterms:modified>
</cp:coreProperties>
</file>